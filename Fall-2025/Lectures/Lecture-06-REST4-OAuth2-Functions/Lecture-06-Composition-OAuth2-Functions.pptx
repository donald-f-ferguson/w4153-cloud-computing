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53"/>
  </p:notesMasterIdLst>
  <p:handoutMasterIdLst>
    <p:handoutMasterId r:id="rId54"/>
  </p:handoutMasterIdLst>
  <p:sldIdLst>
    <p:sldId id="972" r:id="rId5"/>
    <p:sldId id="2144867370" r:id="rId6"/>
    <p:sldId id="1066" r:id="rId7"/>
    <p:sldId id="2147477628" r:id="rId8"/>
    <p:sldId id="2147477629" r:id="rId9"/>
    <p:sldId id="2147477642" r:id="rId10"/>
    <p:sldId id="2147477643" r:id="rId11"/>
    <p:sldId id="2144867401" r:id="rId12"/>
    <p:sldId id="2147477646" r:id="rId13"/>
    <p:sldId id="2147477648" r:id="rId14"/>
    <p:sldId id="2147477649" r:id="rId15"/>
    <p:sldId id="2147477650" r:id="rId16"/>
    <p:sldId id="2147477651" r:id="rId17"/>
    <p:sldId id="2147477652" r:id="rId18"/>
    <p:sldId id="2147477653" r:id="rId19"/>
    <p:sldId id="2147477654" r:id="rId20"/>
    <p:sldId id="2147477655" r:id="rId21"/>
    <p:sldId id="2144867373" r:id="rId22"/>
    <p:sldId id="2147477635" r:id="rId23"/>
    <p:sldId id="2144867409" r:id="rId24"/>
    <p:sldId id="2147477637" r:id="rId25"/>
    <p:sldId id="2147477636" r:id="rId26"/>
    <p:sldId id="2144867379" r:id="rId27"/>
    <p:sldId id="2144867380" r:id="rId28"/>
    <p:sldId id="2144867381" r:id="rId29"/>
    <p:sldId id="2147477638" r:id="rId30"/>
    <p:sldId id="2147477639" r:id="rId31"/>
    <p:sldId id="2147477640" r:id="rId32"/>
    <p:sldId id="2144867382" r:id="rId33"/>
    <p:sldId id="2144867383" r:id="rId34"/>
    <p:sldId id="2144867404" r:id="rId35"/>
    <p:sldId id="2147477656" r:id="rId36"/>
    <p:sldId id="2147477657" r:id="rId37"/>
    <p:sldId id="2147477645" r:id="rId38"/>
    <p:sldId id="2147477626" r:id="rId39"/>
    <p:sldId id="1160" r:id="rId40"/>
    <p:sldId id="2147477627" r:id="rId41"/>
    <p:sldId id="2147477630" r:id="rId42"/>
    <p:sldId id="2147477631" r:id="rId43"/>
    <p:sldId id="2147477634" r:id="rId44"/>
    <p:sldId id="2147477658" r:id="rId45"/>
    <p:sldId id="2144867399" r:id="rId46"/>
    <p:sldId id="1124" r:id="rId47"/>
    <p:sldId id="2144867341" r:id="rId48"/>
    <p:sldId id="2144867342" r:id="rId49"/>
    <p:sldId id="2144867344" r:id="rId50"/>
    <p:sldId id="2147477621" r:id="rId51"/>
    <p:sldId id="2147477622" r:id="rId52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C64"/>
    <a:srgbClr val="05B0A0"/>
    <a:srgbClr val="32A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62"/>
    <p:restoredTop sz="96654"/>
  </p:normalViewPr>
  <p:slideViewPr>
    <p:cSldViewPr snapToObjects="1">
      <p:cViewPr varScale="1">
        <p:scale>
          <a:sx n="179" d="100"/>
          <a:sy n="179" d="100"/>
        </p:scale>
        <p:origin x="1392" y="4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6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1764"/>
    </p:cViewPr>
  </p:sorterViewPr>
  <p:notesViewPr>
    <p:cSldViewPr snapToObjects="1">
      <p:cViewPr varScale="1">
        <p:scale>
          <a:sx n="107" d="100"/>
          <a:sy n="107" d="100"/>
        </p:scale>
        <p:origin x="364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FB2AC-7E4F-8047-9193-854483C1A223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CE209-2B77-6A4B-8F32-9DF4E1CE9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57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567C9F-4D7F-5847-BD8F-556675060DA1}" type="datetimeFigureOut">
              <a:rPr lang="en-US" altLang="en-US"/>
              <a:pPr/>
              <a:t>11/2/25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5D6415B-586E-2B45-B637-70E4CB56C1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1504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150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fld id="{CFD365BF-ADBE-9B41-ABF1-832DDE2B814C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33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90550"/>
            <a:ext cx="8839200" cy="4038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F4A72-606B-984B-907B-5BEA9B53E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570" y="1121"/>
            <a:ext cx="8666629" cy="443198"/>
          </a:xfrm>
          <a:prstGeom prst="rect">
            <a:avLst/>
          </a:prstGeom>
        </p:spPr>
        <p:txBody>
          <a:bodyPr wrap="square" anchor="t"/>
          <a:lstStyle>
            <a:lvl1pPr algn="l">
              <a:lnSpc>
                <a:spcPct val="90000"/>
              </a:lnSpc>
              <a:defRPr sz="3200" b="0">
                <a:solidFill>
                  <a:schemeClr val="bg1"/>
                </a:solidFill>
                <a:latin typeface="Museo For Dell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687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70D68-DE34-0536-BF47-3ED5F130E731}"/>
              </a:ext>
            </a:extLst>
          </p:cNvPr>
          <p:cNvSpPr/>
          <p:nvPr userDrawn="1"/>
        </p:nvSpPr>
        <p:spPr>
          <a:xfrm>
            <a:off x="0" y="438150"/>
            <a:ext cx="9144000" cy="426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36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70D68-DE34-0536-BF47-3ED5F130E731}"/>
              </a:ext>
            </a:extLst>
          </p:cNvPr>
          <p:cNvSpPr/>
          <p:nvPr userDrawn="1"/>
        </p:nvSpPr>
        <p:spPr>
          <a:xfrm>
            <a:off x="0" y="438150"/>
            <a:ext cx="9144000" cy="426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6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>
          <a:xfrm>
            <a:off x="152400" y="895350"/>
            <a:ext cx="6934200" cy="457200"/>
          </a:xfrm>
          <a:prstGeom prst="rect">
            <a:avLst/>
          </a:prstGeom>
        </p:spPr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-128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Click to edit Master 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B43658-48CD-764C-86BF-302575415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570" y="1121"/>
            <a:ext cx="8666629" cy="443198"/>
          </a:xfrm>
          <a:prstGeom prst="rect">
            <a:avLst/>
          </a:prstGeom>
        </p:spPr>
        <p:txBody>
          <a:bodyPr wrap="square" anchor="t"/>
          <a:lstStyle>
            <a:lvl1pPr algn="l">
              <a:lnSpc>
                <a:spcPct val="90000"/>
              </a:lnSpc>
              <a:defRPr sz="3200" b="0">
                <a:solidFill>
                  <a:schemeClr val="bg1"/>
                </a:solidFill>
                <a:latin typeface="Museo For Dell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6F2A81-D24A-A44F-8915-B9DC7FC2A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52450"/>
            <a:ext cx="4191000" cy="4038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255CA6-4B6D-7842-85B8-A423C0C60A3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06103" y="552450"/>
            <a:ext cx="4191000" cy="40386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26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74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CC6A0C-5777-6141-8161-40A51E54DA25}" type="datetimeFigureOut">
              <a:rPr lang="en-US" altLang="en-US"/>
              <a:pPr/>
              <a:t>11/2/25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B1B0572-E7E6-434E-BFB5-5CD3555E83A4}" type="slidenum">
              <a:rPr lang="en-US" altLang="en-US"/>
              <a:pPr/>
              <a:t>‹#›</a:t>
            </a:fld>
            <a:endParaRPr lang="en-US" altLang="en-US">
              <a:solidFill>
                <a:srgbClr val="88A4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25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1FA5FD1-732F-9047-B0F4-603D0EAC5CB0}" type="datetimeFigureOut">
              <a:rPr lang="en-US" altLang="en-US"/>
              <a:pPr/>
              <a:t>11/2/25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DBB9D51-EA15-824B-AFBA-C5CFF76353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6D54B9-89B7-A248-9210-3C9346164D0F}" type="datetimeFigureOut">
              <a:rPr lang="en-US" altLang="en-US"/>
              <a:pPr/>
              <a:t>11/2/25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5559CE1-75A0-2043-A1BB-26E32B46DE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22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BE5339B-726A-CF41-B4A0-6109F9D8F0EB}" type="datetimeFigureOut">
              <a:rPr lang="en-US" altLang="en-US"/>
              <a:pPr/>
              <a:t>11/2/25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5ED28FB-5F5E-B441-A1E3-774C424C6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9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-19050"/>
            <a:ext cx="8279946" cy="387798"/>
          </a:xfrm>
          <a:prstGeom prst="rect">
            <a:avLst/>
          </a:prstGeom>
        </p:spPr>
        <p:txBody>
          <a:bodyPr wrap="square" anchor="t"/>
          <a:lstStyle>
            <a:lvl1pPr algn="l">
              <a:lnSpc>
                <a:spcPct val="90000"/>
              </a:lnSpc>
              <a:defRPr sz="2800" b="0">
                <a:solidFill>
                  <a:schemeClr val="bg1"/>
                </a:solidFill>
                <a:latin typeface="Century Schoolbook" charset="0"/>
                <a:ea typeface="Century Schoolbook" charset="0"/>
                <a:cs typeface="Century Schoolbook" charset="0"/>
              </a:defRPr>
            </a:lvl1pPr>
          </a:lstStyle>
          <a:p>
            <a:r>
              <a:rPr lang="en-US" dirty="0"/>
              <a:t>Click to edit master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28600" y="819150"/>
            <a:ext cx="8495740" cy="36960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spcBef>
                <a:spcPts val="120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Century Schoolbook" charset="0"/>
                <a:ea typeface="Century Schoolbook" charset="0"/>
                <a:cs typeface="Century Schoolbook" charset="0"/>
              </a:defRPr>
            </a:lvl1pPr>
            <a:lvl2pPr>
              <a:spcBef>
                <a:spcPts val="300"/>
              </a:spcBef>
              <a:spcAft>
                <a:spcPts val="0"/>
              </a:spcAft>
              <a:buFont typeface="Museo Sans For Dell" pitchFamily="2" charset="0"/>
              <a:buChar char="–"/>
              <a:defRPr sz="1600">
                <a:solidFill>
                  <a:schemeClr val="tx1"/>
                </a:solidFill>
                <a:latin typeface="Century Schoolbook" charset="0"/>
                <a:ea typeface="Century Schoolbook" charset="0"/>
                <a:cs typeface="Century Schoolbook" charset="0"/>
              </a:defRPr>
            </a:lvl2pPr>
            <a:lvl3pPr>
              <a:spcBef>
                <a:spcPts val="30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Century Schoolbook" charset="0"/>
                <a:ea typeface="Century Schoolbook" charset="0"/>
                <a:cs typeface="Century Schoolbook" charset="0"/>
              </a:defRPr>
            </a:lvl3pPr>
            <a:lvl4pPr>
              <a:spcBef>
                <a:spcPts val="300"/>
              </a:spcBef>
              <a:spcAft>
                <a:spcPts val="0"/>
              </a:spcAft>
              <a:defRPr sz="1200" baseline="0">
                <a:solidFill>
                  <a:schemeClr val="tx1"/>
                </a:solidFill>
                <a:latin typeface="Century Schoolbook" charset="0"/>
                <a:ea typeface="Century Schoolbook" charset="0"/>
                <a:cs typeface="Century Schoolbook" charset="0"/>
              </a:defRPr>
            </a:lvl4pPr>
            <a:lvl5pPr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None/>
              <a:defRPr sz="11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20" name="Straight Connector 19"/>
          <p:cNvCxnSpPr>
            <a:cxnSpLocks noChangeShapeType="1"/>
          </p:cNvCxnSpPr>
          <p:nvPr/>
        </p:nvCxnSpPr>
        <p:spPr bwMode="auto">
          <a:xfrm>
            <a:off x="436564" y="4629150"/>
            <a:ext cx="8262035" cy="0"/>
          </a:xfrm>
          <a:prstGeom prst="line">
            <a:avLst/>
          </a:prstGeom>
          <a:noFill/>
          <a:ln w="9525">
            <a:solidFill>
              <a:srgbClr val="AAAAAA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34545938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endParaRPr lang="en-US" altLang="en-US">
              <a:solidFill>
                <a:srgbClr val="E6B9B8"/>
              </a:solidFill>
            </a:endParaRPr>
          </a:p>
        </p:txBody>
      </p:sp>
      <p:sp>
        <p:nvSpPr>
          <p:cNvPr id="9" name="TextBox 11"/>
          <p:cNvSpPr txBox="1">
            <a:spLocks noChangeArrowheads="1"/>
          </p:cNvSpPr>
          <p:nvPr userDrawn="1"/>
        </p:nvSpPr>
        <p:spPr bwMode="auto">
          <a:xfrm>
            <a:off x="153987" y="4793503"/>
            <a:ext cx="678180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fld id="{0EE15EB3-3077-C740-8089-CCA1B2033312}" type="slidenum">
              <a:rPr lang="en-US" altLang="en-US" sz="900" b="0">
                <a:solidFill>
                  <a:schemeClr val="bg1"/>
                </a:solidFill>
              </a:rPr>
              <a:pPr/>
              <a:t>‹#›</a:t>
            </a:fld>
            <a:r>
              <a:rPr lang="en-US" altLang="en-US" sz="900" b="0" dirty="0">
                <a:solidFill>
                  <a:schemeClr val="bg1"/>
                </a:solidFill>
              </a:rPr>
              <a:t> </a:t>
            </a:r>
            <a:r>
              <a:rPr lang="en-US" altLang="en-US" sz="900" b="1" dirty="0">
                <a:solidFill>
                  <a:schemeClr val="bg1"/>
                </a:solidFill>
              </a:rPr>
              <a:t>W4153-Lecture-06-REST4-Composition-OAuth2-Functions</a:t>
            </a:r>
            <a:r>
              <a:rPr lang="en-US" altLang="en-US" sz="1050" b="0" i="1" baseline="0" dirty="0">
                <a:solidFill>
                  <a:schemeClr val="bg1"/>
                </a:solidFill>
              </a:rPr>
              <a:t>		</a:t>
            </a:r>
            <a:r>
              <a:rPr lang="de-DE" altLang="en-US" sz="900" b="0" i="1" dirty="0">
                <a:solidFill>
                  <a:schemeClr val="bg1"/>
                </a:solidFill>
              </a:rPr>
              <a:t>© Donald F. Ferguson, 2025</a:t>
            </a:r>
            <a:endParaRPr lang="en-US" altLang="en-US" sz="900" b="0" i="1" dirty="0">
              <a:solidFill>
                <a:schemeClr val="bg1"/>
              </a:solidFill>
            </a:endParaRPr>
          </a:p>
        </p:txBody>
      </p:sp>
      <p:pic>
        <p:nvPicPr>
          <p:cNvPr id="12" name="Picture 10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803775"/>
            <a:ext cx="18272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endParaRPr lang="en-US" altLang="en-US">
              <a:solidFill>
                <a:srgbClr val="E6B9B8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69" r:id="rId1"/>
    <p:sldLayoutId id="2147493591" r:id="rId2"/>
    <p:sldLayoutId id="2147493592" r:id="rId3"/>
    <p:sldLayoutId id="2147493474" r:id="rId4"/>
    <p:sldLayoutId id="2147493586" r:id="rId5"/>
    <p:sldLayoutId id="2147493478" r:id="rId6"/>
    <p:sldLayoutId id="2147493475" r:id="rId7"/>
    <p:sldLayoutId id="2147493476" r:id="rId8"/>
    <p:sldLayoutId id="2147493477" r:id="rId9"/>
    <p:sldLayoutId id="2147493594" r:id="rId10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Reference/Status/202" TargetMode="External"/><Relationship Id="rId2" Type="http://schemas.openxmlformats.org/officeDocument/2006/relationships/hyperlink" Target="https://developer.mozilla.org/en-US/docs/Web/HTTP/Reference/Status/201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tapitutorial.com/httpstatuscodes" TargetMode="External"/><Relationship Id="rId3" Type="http://schemas.openxmlformats.org/officeDocument/2006/relationships/hyperlink" Target="https://developer.mozilla.org/en-US/docs/Web/HTTP/Reference/Status#successful_responses" TargetMode="External"/><Relationship Id="rId7" Type="http://schemas.openxmlformats.org/officeDocument/2006/relationships/hyperlink" Target="https://developer.mozilla.org/en-US/docs/Web/HTTP/Reference/Status" TargetMode="External"/><Relationship Id="rId2" Type="http://schemas.openxmlformats.org/officeDocument/2006/relationships/hyperlink" Target="https://developer.mozilla.org/en-US/docs/Web/HTTP/Reference/Status#informational_response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HTTP/Reference/Status#server_error_responses" TargetMode="External"/><Relationship Id="rId5" Type="http://schemas.openxmlformats.org/officeDocument/2006/relationships/hyperlink" Target="https://developer.mozilla.org/en-US/docs/Web/HTTP/Reference/Status#client_error_responses" TargetMode="External"/><Relationship Id="rId4" Type="http://schemas.openxmlformats.org/officeDocument/2006/relationships/hyperlink" Target="https://developer.mozilla.org/en-US/docs/Web/HTTP/Reference/Status#redirection_messages" TargetMode="External"/><Relationship Id="rId9" Type="http://schemas.openxmlformats.org/officeDocument/2006/relationships/hyperlink" Target="https://www.w3schools.com/tags/ref_httpmessages.asp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E15D65-8053-1B4E-B089-18B4089AA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-1"/>
            <a:ext cx="9144001" cy="5143501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686300"/>
            <a:ext cx="9144000" cy="457200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endParaRPr lang="en-US" altLang="en-US">
              <a:solidFill>
                <a:srgbClr val="E6B9B8"/>
              </a:solidFill>
            </a:endParaRPr>
          </a:p>
        </p:txBody>
      </p:sp>
      <p:pic>
        <p:nvPicPr>
          <p:cNvPr id="3075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803775"/>
            <a:ext cx="18272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Box 9"/>
          <p:cNvSpPr txBox="1">
            <a:spLocks noChangeArrowheads="1"/>
          </p:cNvSpPr>
          <p:nvPr/>
        </p:nvSpPr>
        <p:spPr bwMode="auto">
          <a:xfrm>
            <a:off x="-2" y="1"/>
            <a:ext cx="91440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b="1" i="1" dirty="0"/>
              <a:t>W4153 – Cloud Computing</a:t>
            </a:r>
            <a:br>
              <a:rPr lang="en-US" altLang="en-US" sz="4400" b="1" i="1" dirty="0"/>
            </a:br>
            <a:r>
              <a:rPr lang="en-US" altLang="en-US" sz="3600" b="1" i="1" dirty="0"/>
              <a:t>Lecture 6:</a:t>
            </a:r>
            <a:br>
              <a:rPr lang="en-US" altLang="en-US" sz="3600" b="1" i="1" dirty="0"/>
            </a:br>
            <a:r>
              <a:rPr lang="en-US" altLang="en-US" sz="3600" b="1" i="1" dirty="0"/>
              <a:t>REST (4), Composition, OAuth2, Functions</a:t>
            </a:r>
            <a:endParaRPr lang="en-US" altLang="en-US" sz="4400" b="1" i="1" dirty="0">
              <a:solidFill>
                <a:srgbClr val="FF0000"/>
              </a:solidFill>
            </a:endParaRPr>
          </a:p>
        </p:txBody>
      </p:sp>
      <p:sp>
        <p:nvSpPr>
          <p:cNvPr id="3077" name="TextBox 10"/>
          <p:cNvSpPr txBox="1">
            <a:spLocks noChangeArrowheads="1"/>
          </p:cNvSpPr>
          <p:nvPr/>
        </p:nvSpPr>
        <p:spPr bwMode="auto">
          <a:xfrm>
            <a:off x="0" y="4732991"/>
            <a:ext cx="9144000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lnSpc>
                <a:spcPts val="2400"/>
              </a:lnSpc>
            </a:pPr>
            <a:r>
              <a:rPr lang="en-US" altLang="en-US" sz="1200" i="1" dirty="0">
                <a:solidFill>
                  <a:schemeClr val="bg1"/>
                </a:solidFill>
              </a:rPr>
              <a:t>© Donald F. Ferguson, 2024</a:t>
            </a:r>
          </a:p>
        </p:txBody>
      </p:sp>
    </p:spTree>
    <p:extLst>
      <p:ext uri="{BB962C8B-B14F-4D97-AF65-F5344CB8AC3E}">
        <p14:creationId xmlns:p14="http://schemas.microsoft.com/office/powerpoint/2010/main" val="348582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F1ADD4A1-15DC-2374-2961-0FC3F42CB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Contents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02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F4599E-CE24-57D7-8BA9-D0F9E6D6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570" y="452308"/>
            <a:ext cx="8839200" cy="4038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Team presentations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Project status/next sprint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REST continued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Response codes/status codes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201 Created (</a:t>
            </a:r>
            <a:r>
              <a:rPr lang="en-US" sz="1100" dirty="0">
                <a:hlinkClick r:id="rId2"/>
              </a:rPr>
              <a:t>https://developer.mozilla.org/en-US/docs/Web/HTTP/Reference/Status/201</a:t>
            </a:r>
            <a:r>
              <a:rPr lang="en-US" sz="1100" dirty="0"/>
              <a:t>)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202 Accepted -- Asynchronous invocation </a:t>
            </a:r>
            <a:br>
              <a:rPr lang="en-US" sz="1100" dirty="0"/>
            </a:br>
            <a:r>
              <a:rPr lang="en-US" sz="1100" dirty="0"/>
              <a:t>(</a:t>
            </a:r>
            <a:r>
              <a:rPr lang="en-US" sz="1100" dirty="0">
                <a:hlinkClick r:id="rId3"/>
              </a:rPr>
              <a:t>https://developer.mozilla.org/en-US/docs/Web/HTTP/Reference/Status/202</a:t>
            </a:r>
            <a:r>
              <a:rPr lang="en-US" sz="1100" dirty="0"/>
              <a:t>)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Service composition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Concepts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Orchestration, Choreography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Synchronous, Asynchronous, event driven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Function-as-a-Service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Concepts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My application scenario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dirty="0"/>
              <a:t>Show code and walkthrough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strike="sngStrike" dirty="0"/>
              <a:t>OAuth2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strike="sngStrike" dirty="0"/>
              <a:t>Concepts and scenarios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strike="sngStrike" dirty="0"/>
              <a:t>JWT Tokens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lang="en-US" sz="1100" strike="sngStrike" dirty="0"/>
              <a:t>Access token and refresh token; auto-refresh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12 Factor Applications -- Overview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en-US" sz="1200" dirty="0"/>
              <a:t>Next sprint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endParaRPr lang="en-US" sz="1000" dirty="0"/>
          </a:p>
          <a:p>
            <a:pPr lvl="1">
              <a:spcBef>
                <a:spcPts val="0"/>
              </a:spcBef>
              <a:spcAft>
                <a:spcPts val="100"/>
              </a:spcAft>
            </a:pPr>
            <a:endParaRPr lang="en-US" sz="1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201593-564E-99D4-699F-1D25A274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99014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54ABCEB4-CF16-AE16-C357-38E514A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Team Presentations</a:t>
            </a:r>
          </a:p>
        </p:txBody>
      </p:sp>
    </p:spTree>
    <p:extLst>
      <p:ext uri="{BB962C8B-B14F-4D97-AF65-F5344CB8AC3E}">
        <p14:creationId xmlns:p14="http://schemas.microsoft.com/office/powerpoint/2010/main" val="79609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4EC5-0C4B-E116-FB32-89D50F94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DE5C6C-755D-52A4-6568-77FB1357B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25FEEA-7606-0C27-2F39-5188CAA1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Presentations and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8DFCD-F3E3-2A10-74F7-E1656BF0C71D}"/>
              </a:ext>
            </a:extLst>
          </p:cNvPr>
          <p:cNvSpPr txBox="1"/>
          <p:nvPr/>
        </p:nvSpPr>
        <p:spPr>
          <a:xfrm>
            <a:off x="2264400" y="2277734"/>
            <a:ext cx="46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Team:			”Unknown”</a:t>
            </a:r>
            <a:b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Focal point: 		He Qian SHEN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4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2B03-BDA7-EF95-2691-293B47D10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E426F9E-00D1-3A92-18B1-E07F8418C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Project Status/Sprints</a:t>
            </a:r>
          </a:p>
        </p:txBody>
      </p:sp>
    </p:spTree>
    <p:extLst>
      <p:ext uri="{BB962C8B-B14F-4D97-AF65-F5344CB8AC3E}">
        <p14:creationId xmlns:p14="http://schemas.microsoft.com/office/powerpoint/2010/main" val="247996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2960-9F1F-D354-379C-4DCAD8BC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6A1B7A-EBD3-DF8D-C265-125F730D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But first, my philosophy … 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60F46-F866-512A-4CAD-48D0C83A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 and Sprints</a:t>
            </a:r>
          </a:p>
        </p:txBody>
      </p:sp>
    </p:spTree>
    <p:extLst>
      <p:ext uri="{BB962C8B-B14F-4D97-AF65-F5344CB8AC3E}">
        <p14:creationId xmlns:p14="http://schemas.microsoft.com/office/powerpoint/2010/main" val="65832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16B2320E-1BF4-3CAF-31F6-E1BA54E35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REST Continued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42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7C9367-9DD0-1750-0436-82E126738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There are many, many HTTP response status codes.</a:t>
            </a:r>
          </a:p>
          <a:p>
            <a:pPr lvl="1"/>
            <a:r>
              <a:rPr lang="en-US" sz="1400" dirty="0"/>
              <a:t>I cannot remember most of them. </a:t>
            </a:r>
          </a:p>
          <a:p>
            <a:pPr lvl="1"/>
            <a:r>
              <a:rPr lang="en-US" sz="1400" dirty="0"/>
              <a:t>Also, I almost never see any of them.</a:t>
            </a:r>
          </a:p>
          <a:p>
            <a:pPr lvl="1"/>
            <a:r>
              <a:rPr lang="en-US" sz="1400" dirty="0"/>
              <a:t>But, that is not surprising. Normally the UI or client application handles an error status gracefully and “translates” into an application specific exception or easily understood error page.</a:t>
            </a:r>
          </a:p>
          <a:p>
            <a:r>
              <a:rPr lang="en-US" sz="1600" dirty="0"/>
              <a:t>There status codes fall into five categories</a:t>
            </a:r>
          </a:p>
          <a:p>
            <a:pPr lvl="1"/>
            <a:r>
              <a:rPr lang="en-US" sz="1400" dirty="0">
                <a:hlinkClick r:id="rId2"/>
              </a:rPr>
              <a:t>Informational responses</a:t>
            </a:r>
            <a:r>
              <a:rPr lang="en-US" sz="1400" dirty="0"/>
              <a:t> (100 – 199)</a:t>
            </a:r>
          </a:p>
          <a:p>
            <a:pPr lvl="1"/>
            <a:r>
              <a:rPr lang="en-US" sz="1400" dirty="0">
                <a:hlinkClick r:id="rId3"/>
              </a:rPr>
              <a:t>Successful responses</a:t>
            </a:r>
            <a:r>
              <a:rPr lang="en-US" sz="1400" dirty="0"/>
              <a:t> (200 – 299)</a:t>
            </a:r>
          </a:p>
          <a:p>
            <a:pPr lvl="1"/>
            <a:r>
              <a:rPr lang="en-US" sz="1400" dirty="0">
                <a:hlinkClick r:id="rId4"/>
              </a:rPr>
              <a:t>Redirection messages</a:t>
            </a:r>
            <a:r>
              <a:rPr lang="en-US" sz="1400" dirty="0"/>
              <a:t> (300 – 399)</a:t>
            </a:r>
          </a:p>
          <a:p>
            <a:pPr lvl="1"/>
            <a:r>
              <a:rPr lang="en-US" sz="1400" dirty="0">
                <a:hlinkClick r:id="rId5"/>
              </a:rPr>
              <a:t>Client error responses</a:t>
            </a:r>
            <a:r>
              <a:rPr lang="en-US" sz="1400" dirty="0"/>
              <a:t> (400 – 499)</a:t>
            </a:r>
          </a:p>
          <a:p>
            <a:pPr lvl="1"/>
            <a:r>
              <a:rPr lang="en-US" sz="1400" dirty="0">
                <a:hlinkClick r:id="rId6"/>
              </a:rPr>
              <a:t>Server error responses</a:t>
            </a:r>
            <a:r>
              <a:rPr lang="en-US" sz="1400" dirty="0"/>
              <a:t> (500 – 599)</a:t>
            </a:r>
          </a:p>
          <a:p>
            <a:r>
              <a:rPr lang="en-US" sz="1600" dirty="0"/>
              <a:t>There are several good sources of information</a:t>
            </a:r>
          </a:p>
          <a:p>
            <a:pPr lvl="1"/>
            <a:r>
              <a:rPr lang="en-US" sz="1400" dirty="0">
                <a:hlinkClick r:id="rId7"/>
              </a:rPr>
              <a:t>https://developer.mozilla.org/en-US/docs/Web/HTTP/Reference/Status</a:t>
            </a:r>
            <a:endParaRPr lang="en-US" sz="1400" dirty="0"/>
          </a:p>
          <a:p>
            <a:pPr lvl="1"/>
            <a:r>
              <a:rPr lang="en-US" sz="1400" dirty="0">
                <a:hlinkClick r:id="rId8"/>
              </a:rPr>
              <a:t>https://www.restapitutorial.com/httpstatuscodes</a:t>
            </a:r>
            <a:r>
              <a:rPr lang="en-US" sz="1400" dirty="0"/>
              <a:t> </a:t>
            </a:r>
          </a:p>
          <a:p>
            <a:pPr lvl="1"/>
            <a:r>
              <a:rPr lang="en-US" sz="1400" dirty="0">
                <a:hlinkClick r:id="rId9"/>
              </a:rPr>
              <a:t>https://www.w3schools.com/tags/ref_httpmessages.asp</a:t>
            </a:r>
            <a:r>
              <a:rPr lang="en-US" sz="1400" dirty="0"/>
              <a:t> 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F3E80B-2E46-B352-6B10-B76C0C10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Status Codes</a:t>
            </a:r>
          </a:p>
        </p:txBody>
      </p:sp>
    </p:spTree>
    <p:extLst>
      <p:ext uri="{BB962C8B-B14F-4D97-AF65-F5344CB8AC3E}">
        <p14:creationId xmlns:p14="http://schemas.microsoft.com/office/powerpoint/2010/main" val="129074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765D4-096D-4FA1-8302-54C03995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90550"/>
            <a:ext cx="8839200" cy="4038600"/>
          </a:xfrm>
        </p:spPr>
        <p:txBody>
          <a:bodyPr/>
          <a:lstStyle/>
          <a:p>
            <a:r>
              <a:rPr lang="en-US" sz="1600" dirty="0"/>
              <a:t>Once you have learned how to catch exceptions and return status codes for a few conditions, you understand the pattern for all the conditions.</a:t>
            </a:r>
          </a:p>
          <a:p>
            <a:r>
              <a:rPr lang="en-US" sz="1600" dirty="0"/>
              <a:t>Many are subject to interpretation. My primary concern is that you</a:t>
            </a:r>
          </a:p>
          <a:p>
            <a:pPr lvl="1"/>
            <a:r>
              <a:rPr lang="en-US" sz="1400" dirty="0"/>
              <a:t>Are </a:t>
            </a:r>
            <a:r>
              <a:rPr lang="en-US" sz="1400" i="1" dirty="0"/>
              <a:t>consistent</a:t>
            </a:r>
            <a:r>
              <a:rPr lang="en-US" sz="1400" dirty="0"/>
              <a:t> over all of your microservices.</a:t>
            </a:r>
          </a:p>
          <a:p>
            <a:pPr lvl="1"/>
            <a:r>
              <a:rPr lang="en-US" sz="1400" dirty="0"/>
              <a:t>You document the status codes in Open API documentation.</a:t>
            </a:r>
          </a:p>
          <a:p>
            <a:r>
              <a:rPr lang="en-US" sz="1600" dirty="0"/>
              <a:t>The ones I recommend/care about are: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We will cover these today.</a:t>
            </a:r>
          </a:p>
          <a:p>
            <a:pPr lvl="1"/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F1A293-3550-6CD9-A502-30DC4C55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Ones do I Care about for your Project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B96FB7-6B41-B4DE-139D-FB0DF7A7C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545224"/>
              </p:ext>
            </p:extLst>
          </p:nvPr>
        </p:nvGraphicFramePr>
        <p:xfrm>
          <a:off x="628650" y="2234580"/>
          <a:ext cx="7886700" cy="1533177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26527783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458069978"/>
                    </a:ext>
                  </a:extLst>
                </a:gridCol>
              </a:tblGrid>
              <a:tr h="5110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200 OK</a:t>
                      </a:r>
                    </a:p>
                  </a:txBody>
                  <a:tcPr marL="11110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The request is OK (this is the standard response for successful HTTP requests)</a:t>
                      </a:r>
                    </a:p>
                  </a:txBody>
                  <a:tcPr marL="5555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41769"/>
                  </a:ext>
                </a:extLst>
              </a:tr>
              <a:tr h="5110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  <a:effectLst/>
                        </a:rPr>
                        <a:t>201 Created</a:t>
                      </a:r>
                    </a:p>
                  </a:txBody>
                  <a:tcPr marL="11110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  <a:effectLst/>
                        </a:rPr>
                        <a:t>The request has been fulfilled, and a new resource is created </a:t>
                      </a:r>
                    </a:p>
                  </a:txBody>
                  <a:tcPr marL="5555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2943"/>
                  </a:ext>
                </a:extLst>
              </a:tr>
              <a:tr h="5110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solidFill>
                            <a:srgbClr val="00B050"/>
                          </a:solidFill>
                          <a:effectLst/>
                        </a:rPr>
                        <a:t>202 Accepted</a:t>
                      </a:r>
                    </a:p>
                  </a:txBody>
                  <a:tcPr marL="11110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solidFill>
                            <a:srgbClr val="00B050"/>
                          </a:solidFill>
                          <a:effectLst/>
                        </a:rPr>
                        <a:t>The request has been accepted for processing, but the processing has not been completed</a:t>
                      </a:r>
                    </a:p>
                  </a:txBody>
                  <a:tcPr marL="55550" marR="55550" marT="55550" marB="555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17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485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10C0CB-E86B-6A55-B0AE-0C80663E2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30801"/>
              </p:ext>
            </p:extLst>
          </p:nvPr>
        </p:nvGraphicFramePr>
        <p:xfrm>
          <a:off x="172570" y="514350"/>
          <a:ext cx="8819030" cy="3740122"/>
        </p:xfrm>
        <a:graphic>
          <a:graphicData uri="http://schemas.openxmlformats.org/drawingml/2006/table">
            <a:tbl>
              <a:tblPr/>
              <a:tblGrid>
                <a:gridCol w="4409515">
                  <a:extLst>
                    <a:ext uri="{9D8B030D-6E8A-4147-A177-3AD203B41FA5}">
                      <a16:colId xmlns:a16="http://schemas.microsoft.com/office/drawing/2014/main" val="1929573145"/>
                    </a:ext>
                  </a:extLst>
                </a:gridCol>
                <a:gridCol w="4409515">
                  <a:extLst>
                    <a:ext uri="{9D8B030D-6E8A-4147-A177-3AD203B41FA5}">
                      <a16:colId xmlns:a16="http://schemas.microsoft.com/office/drawing/2014/main" val="3898776611"/>
                    </a:ext>
                  </a:extLst>
                </a:gridCol>
              </a:tblGrid>
              <a:tr h="29134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400 Bad Request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The request cannot be fulfilled due to bad syntax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11631"/>
                  </a:ext>
                </a:extLst>
              </a:tr>
              <a:tr h="39445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401 Unauthorized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The request was a legal request, but the server is refusing to respond to it. For use when authentication is possible but has failed or not yet been provided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762766"/>
                  </a:ext>
                </a:extLst>
              </a:tr>
              <a:tr h="1679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403 Forbidden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The request was a legal request, but the server is refusing to respond to it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27736"/>
                  </a:ext>
                </a:extLst>
              </a:tr>
              <a:tr h="1813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404 Not Found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The requested page could not be found but may be available again in the future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589887"/>
                  </a:ext>
                </a:extLst>
              </a:tr>
              <a:tr h="2541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405 Method Not Allowed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A request was made of a page using a request method not supported by that page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108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409 Conflict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The request could not be completed because of a conflict in the request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16326"/>
                  </a:ext>
                </a:extLst>
              </a:tr>
              <a:tr h="29134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</a:rPr>
                        <a:t>412 Precondition Failed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</a:rPr>
                        <a:t>The precondition given in the request evaluated to false by the server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58916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418 I am a teapot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Just kidding.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94910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429 Enhance Your Calm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Just kidding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069815"/>
                  </a:ext>
                </a:extLst>
              </a:tr>
              <a:tr h="273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422 </a:t>
                      </a:r>
                      <a:r>
                        <a:rPr lang="en-US" sz="1000" dirty="0" err="1">
                          <a:effectLst/>
                        </a:rPr>
                        <a:t>Unprocessable</a:t>
                      </a:r>
                      <a:r>
                        <a:rPr lang="en-US" sz="1000" dirty="0">
                          <a:effectLst/>
                        </a:rPr>
                        <a:t> Entity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The request was well-formed (i.e., syntactically correct) but could not be processed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685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</a:rPr>
                        <a:t>428 Precondition Required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effectLst/>
                      </a:endParaRP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1856"/>
                  </a:ext>
                </a:extLst>
              </a:tr>
              <a:tr h="4113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500 Internal Sever Error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Error in the server that was not caught and handled properly/gracefully. My go to default.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09082"/>
                  </a:ext>
                </a:extLst>
              </a:tr>
              <a:tr h="3653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501 Not Implemented</a:t>
                      </a:r>
                    </a:p>
                  </a:txBody>
                  <a:tcPr marL="52178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The server either does not recognize the request method, or it lacks the ability to fulfil the request. Usually this implies future availability (e.g., a new feature of a web-service API).</a:t>
                      </a:r>
                    </a:p>
                  </a:txBody>
                  <a:tcPr marL="26089" marR="26089" marT="26089" marB="2608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0124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882D5F3-5D18-7503-D44A-3CBCBBC5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Ones do I Care about for your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F4AA3-017A-9B1B-2101-3B571B7C64AB}"/>
              </a:ext>
            </a:extLst>
          </p:cNvPr>
          <p:cNvSpPr txBox="1"/>
          <p:nvPr/>
        </p:nvSpPr>
        <p:spPr>
          <a:xfrm>
            <a:off x="184860" y="4324503"/>
            <a:ext cx="4794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eTag processing, which we covered last week.</a:t>
            </a:r>
          </a:p>
        </p:txBody>
      </p:sp>
    </p:spTree>
    <p:extLst>
      <p:ext uri="{BB962C8B-B14F-4D97-AF65-F5344CB8AC3E}">
        <p14:creationId xmlns:p14="http://schemas.microsoft.com/office/powerpoint/2010/main" val="344603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A8FD-A70C-CC9C-A7D8-AC777F40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 – Created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18D4-4D02-2ED3-0B9F-94C6C836E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POST on a collection /persons is how you create a new resource (person).</a:t>
            </a:r>
            <a:br>
              <a:rPr lang="en-US" dirty="0"/>
            </a:br>
            <a:r>
              <a:rPr lang="en-US" dirty="0"/>
              <a:t>The URL of the new resource is something lie /persons/dff9.</a:t>
            </a:r>
          </a:p>
          <a:p>
            <a:r>
              <a:rPr lang="en-US" dirty="0"/>
              <a:t>The </a:t>
            </a:r>
            <a:r>
              <a:rPr lang="en-US" i="1" dirty="0"/>
              <a:t>client</a:t>
            </a:r>
            <a:r>
              <a:rPr lang="en-US" dirty="0"/>
              <a:t> has not way of knowing/being certain what the URL is.</a:t>
            </a:r>
          </a:p>
          <a:p>
            <a:r>
              <a:rPr lang="en-US" dirty="0"/>
              <a:t>This is probably some type of primary key. There are two types of primary key</a:t>
            </a:r>
          </a:p>
          <a:p>
            <a:pPr lvl="1"/>
            <a:r>
              <a:rPr lang="en-US" dirty="0"/>
              <a:t>Natural key – the key derives from the data.</a:t>
            </a:r>
          </a:p>
          <a:p>
            <a:pPr lvl="1"/>
            <a:r>
              <a:rPr lang="en-US" dirty="0"/>
              <a:t>Surrogate key – the key is an arbitrary, generated value not easily derived from the data.</a:t>
            </a:r>
          </a:p>
          <a:p>
            <a:r>
              <a:rPr lang="en-US" dirty="0"/>
              <a:t>Even</a:t>
            </a:r>
          </a:p>
          <a:p>
            <a:pPr lvl="1"/>
            <a:r>
              <a:rPr lang="en-US" dirty="0"/>
              <a:t>If the client/user “thinks” that they know the algorithm, they cannot be sure.</a:t>
            </a:r>
          </a:p>
          <a:p>
            <a:pPr lvl="1"/>
            <a:r>
              <a:rPr lang="en-US" dirty="0"/>
              <a:t>Moreover, this is “side information” and the interface is not not HATEOAS/self-describing.</a:t>
            </a:r>
          </a:p>
          <a:p>
            <a:r>
              <a:rPr lang="en-US" dirty="0"/>
              <a:t>So,</a:t>
            </a:r>
          </a:p>
          <a:p>
            <a:pPr lvl="1"/>
            <a:r>
              <a:rPr lang="en-US" dirty="0"/>
              <a:t>A successful POST returns 201</a:t>
            </a:r>
          </a:p>
          <a:p>
            <a:pPr lvl="1"/>
            <a:r>
              <a:rPr lang="en-US" dirty="0"/>
              <a:t>With a </a:t>
            </a:r>
            <a:r>
              <a:rPr lang="en-US" i="1" dirty="0"/>
              <a:t>link header</a:t>
            </a:r>
            <a:r>
              <a:rPr lang="en-US" dirty="0"/>
              <a:t> containing the URL of the resource.</a:t>
            </a:r>
          </a:p>
        </p:txBody>
      </p:sp>
    </p:spTree>
    <p:extLst>
      <p:ext uri="{BB962C8B-B14F-4D97-AF65-F5344CB8AC3E}">
        <p14:creationId xmlns:p14="http://schemas.microsoft.com/office/powerpoint/2010/main" val="3457526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91D634-1AA7-18B7-3803-8EFBA5813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1328832"/>
            <a:ext cx="4648200" cy="1981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Microservice</a:t>
            </a:r>
          </a:p>
          <a:p>
            <a:pPr lvl="1"/>
            <a:r>
              <a:rPr lang="en-US" dirty="0"/>
              <a:t>Validates the request.</a:t>
            </a:r>
          </a:p>
          <a:p>
            <a:pPr lvl="1"/>
            <a:r>
              <a:rPr lang="en-US" dirty="0"/>
              <a:t>Computes a primary key, perhaps relying on</a:t>
            </a:r>
            <a:br>
              <a:rPr lang="en-US" dirty="0"/>
            </a:br>
            <a:r>
              <a:rPr lang="en-US" dirty="0"/>
              <a:t>a key created by the data service.</a:t>
            </a:r>
          </a:p>
          <a:p>
            <a:pPr lvl="1"/>
            <a:r>
              <a:rPr lang="en-US" dirty="0"/>
              <a:t>Persists the data.</a:t>
            </a:r>
          </a:p>
          <a:p>
            <a:pPr lvl="1"/>
            <a:r>
              <a:rPr lang="en-US" dirty="0"/>
              <a:t>Returns 201 created with a location header.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2022F9-FE4E-1257-9ADF-B4D920934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 – Created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BDDC9-848E-95E6-DC2C-F6C9BABB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17423"/>
            <a:ext cx="2462981" cy="172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9D1AC7-B256-D18F-A40F-6EA086D6D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81" y="2319432"/>
            <a:ext cx="2438400" cy="2366857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5E1591DF-60D3-FC28-D4CA-C3D7D67E9ED4}"/>
              </a:ext>
            </a:extLst>
          </p:cNvPr>
          <p:cNvSpPr/>
          <p:nvPr/>
        </p:nvSpPr>
        <p:spPr>
          <a:xfrm>
            <a:off x="2912806" y="1428750"/>
            <a:ext cx="1447800" cy="228600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D34BF90-7E7A-81B6-DEC3-86B91853F2FB}"/>
              </a:ext>
            </a:extLst>
          </p:cNvPr>
          <p:cNvSpPr/>
          <p:nvPr/>
        </p:nvSpPr>
        <p:spPr>
          <a:xfrm rot="10800000">
            <a:off x="2917211" y="2800350"/>
            <a:ext cx="1447800" cy="228600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8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546181-7FDF-6DD8-9F4D-1818C72F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430" y="209550"/>
            <a:ext cx="5715000" cy="260976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865842-ED88-89C7-1ABA-C3CAE6040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90550"/>
            <a:ext cx="8458200" cy="4038600"/>
          </a:xfrm>
        </p:spPr>
        <p:txBody>
          <a:bodyPr/>
          <a:lstStyle/>
          <a:p>
            <a:r>
              <a:rPr lang="en-US" sz="1600" dirty="0"/>
              <a:t>Processing a request may</a:t>
            </a:r>
            <a:br>
              <a:rPr lang="en-US" sz="1600" dirty="0"/>
            </a:br>
            <a:r>
              <a:rPr lang="en-US" sz="1600" dirty="0"/>
              <a:t>“take a lot of time”</a:t>
            </a:r>
          </a:p>
          <a:p>
            <a:pPr lvl="1"/>
            <a:r>
              <a:rPr lang="en-US" sz="1400" dirty="0"/>
              <a:t>Calling other services,</a:t>
            </a:r>
            <a:br>
              <a:rPr lang="en-US" sz="1400" dirty="0"/>
            </a:br>
            <a:r>
              <a:rPr lang="en-US" sz="1400" dirty="0"/>
              <a:t>which call other services.</a:t>
            </a:r>
          </a:p>
          <a:p>
            <a:pPr lvl="1"/>
            <a:r>
              <a:rPr lang="en-US" sz="1400" dirty="0"/>
              <a:t>Complex computations</a:t>
            </a:r>
          </a:p>
          <a:p>
            <a:pPr lvl="1"/>
            <a:r>
              <a:rPr lang="en-US" sz="1400" dirty="0"/>
              <a:t>Complex queries or accessing</a:t>
            </a:r>
            <a:br>
              <a:rPr lang="en-US" sz="1400" dirty="0"/>
            </a:br>
            <a:r>
              <a:rPr lang="en-US" sz="1400" dirty="0"/>
              <a:t>multiple databases.</a:t>
            </a:r>
          </a:p>
          <a:p>
            <a:r>
              <a:rPr lang="en-US" sz="1600" dirty="0"/>
              <a:t>While the operation is in</a:t>
            </a:r>
            <a:br>
              <a:rPr lang="en-US" sz="1600" dirty="0"/>
            </a:br>
            <a:r>
              <a:rPr lang="en-US" sz="1600" dirty="0"/>
              <a:t>progress, and mostly “waiting.”</a:t>
            </a:r>
          </a:p>
          <a:p>
            <a:pPr lvl="1"/>
            <a:r>
              <a:rPr lang="en-US" sz="1400" dirty="0"/>
              <a:t>Connection are held open/in-use.</a:t>
            </a:r>
          </a:p>
          <a:p>
            <a:pPr lvl="1"/>
            <a:r>
              <a:rPr lang="en-US" sz="1400" dirty="0"/>
              <a:t>Base things happen when connections are held open:</a:t>
            </a:r>
          </a:p>
          <a:p>
            <a:pPr lvl="2"/>
            <a:r>
              <a:rPr lang="en-US" sz="1200" dirty="0"/>
              <a:t>Severs usually have a limit on the number of connections allowed </a:t>
            </a:r>
            <a:r>
              <a:rPr lang="en-US" sz="1200" dirty="0">
                <a:sym typeface="Wingdings" pitchFamily="2" charset="2"/>
              </a:rPr>
              <a:t> generates errors.</a:t>
            </a:r>
          </a:p>
          <a:p>
            <a:pPr lvl="2"/>
            <a:r>
              <a:rPr lang="en-US" sz="1200" dirty="0">
                <a:sym typeface="Wingdings" pitchFamily="2" charset="2"/>
              </a:rPr>
              <a:t>Connections, even when idle, consume resources</a:t>
            </a:r>
          </a:p>
          <a:p>
            <a:pPr lvl="2"/>
            <a:r>
              <a:rPr lang="en-US" sz="1200" dirty="0">
                <a:sym typeface="Wingdings" pitchFamily="2" charset="2"/>
              </a:rPr>
              <a:t>… …</a:t>
            </a:r>
          </a:p>
          <a:p>
            <a:r>
              <a:rPr lang="en-US" sz="1600" dirty="0">
                <a:sym typeface="Wingdings" pitchFamily="2" charset="2"/>
              </a:rPr>
              <a:t>The alternate approach is to respond, “Working on it. Check back later.”</a:t>
            </a: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5A4FB5-26A9-FCF0-4ED5-27C5001B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 – Accepted </a:t>
            </a:r>
          </a:p>
        </p:txBody>
      </p:sp>
    </p:spTree>
    <p:extLst>
      <p:ext uri="{BB962C8B-B14F-4D97-AF65-F5344CB8AC3E}">
        <p14:creationId xmlns:p14="http://schemas.microsoft.com/office/powerpoint/2010/main" val="283608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E35A29-CE3F-DC25-5EB7-B84C0A81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 – Accepted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FB756-1ED2-1492-73C9-874DBDB14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0550"/>
            <a:ext cx="843530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20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989C-7D38-D055-3A1E-2150DC2E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2D1E2B-6E4A-2767-CE23-C6E99B5B9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90550"/>
            <a:ext cx="3810000" cy="4038600"/>
          </a:xfrm>
        </p:spPr>
        <p:txBody>
          <a:bodyPr/>
          <a:lstStyle/>
          <a:p>
            <a:r>
              <a:rPr lang="en-US" dirty="0"/>
              <a:t>This is a “pattern.”</a:t>
            </a:r>
          </a:p>
          <a:p>
            <a:r>
              <a:rPr lang="en-US" dirty="0"/>
              <a:t>There are several design patterns</a:t>
            </a:r>
            <a:br>
              <a:rPr lang="en-US" dirty="0"/>
            </a:br>
            <a:r>
              <a:rPr lang="en-US" dirty="0"/>
              <a:t>for the actual message formats.</a:t>
            </a:r>
          </a:p>
          <a:p>
            <a:pPr lvl="1"/>
            <a:r>
              <a:rPr lang="en-US" dirty="0"/>
              <a:t>URL in the response body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… …</a:t>
            </a:r>
          </a:p>
          <a:p>
            <a:r>
              <a:rPr lang="en-US" dirty="0"/>
              <a:t>You will implement the logic</a:t>
            </a:r>
            <a:br>
              <a:rPr lang="en-US" dirty="0"/>
            </a:br>
            <a:r>
              <a:rPr lang="en-US" dirty="0"/>
              <a:t>several ways in your code when</a:t>
            </a:r>
            <a:br>
              <a:rPr lang="en-US" dirty="0"/>
            </a:br>
            <a:r>
              <a:rPr lang="en-US" dirty="0"/>
              <a:t>we implement </a:t>
            </a:r>
            <a:r>
              <a:rPr lang="en-US" i="1" dirty="0"/>
              <a:t>composition.</a:t>
            </a:r>
          </a:p>
          <a:p>
            <a:r>
              <a:rPr lang="en-US" dirty="0"/>
              <a:t>My concern from an API/REST</a:t>
            </a:r>
            <a:br>
              <a:rPr lang="en-US" dirty="0"/>
            </a:br>
            <a:r>
              <a:rPr lang="en-US" dirty="0"/>
              <a:t>perspective is that you choose a</a:t>
            </a:r>
            <a:br>
              <a:rPr lang="en-US" dirty="0"/>
            </a:br>
            <a:r>
              <a:rPr lang="en-US" dirty="0"/>
              <a:t>reasonable pattern and stick</a:t>
            </a:r>
            <a:br>
              <a:rPr lang="en-US" dirty="0"/>
            </a:br>
            <a:r>
              <a:rPr lang="en-US" dirty="0"/>
              <a:t>to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8EFA1-A0F2-1B71-8586-F9EF36CE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 – Accepted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92D65-4BA2-AEE7-0C6D-3C3AD85F7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14350"/>
            <a:ext cx="1925145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AB511-A93F-EEFB-9A1F-83A71ABA5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482850"/>
            <a:ext cx="3190875" cy="17018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FF4B75-EDE3-758C-9881-FDDFD5E5A3F4}"/>
              </a:ext>
            </a:extLst>
          </p:cNvPr>
          <p:cNvSpPr/>
          <p:nvPr/>
        </p:nvSpPr>
        <p:spPr>
          <a:xfrm>
            <a:off x="7391400" y="1581150"/>
            <a:ext cx="1600200" cy="17526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748BF53-6626-D233-0F82-BCF2C880AEE0}"/>
              </a:ext>
            </a:extLst>
          </p:cNvPr>
          <p:cNvSpPr/>
          <p:nvPr/>
        </p:nvSpPr>
        <p:spPr>
          <a:xfrm>
            <a:off x="6179205" y="1812178"/>
            <a:ext cx="1220078" cy="228600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E09E0FF-E2F2-30EF-1AF9-BA1C22C8C0EA}"/>
              </a:ext>
            </a:extLst>
          </p:cNvPr>
          <p:cNvSpPr/>
          <p:nvPr/>
        </p:nvSpPr>
        <p:spPr>
          <a:xfrm rot="10800000">
            <a:off x="6142419" y="2587058"/>
            <a:ext cx="1220078" cy="228600"/>
          </a:xfrm>
          <a:prstGeom prst="rightArrow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9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375A-3FDB-6842-5374-2EB68DB6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 Accepted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E5990-DF42-F82F-2217-2FFE642BB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/Users/</a:t>
            </a:r>
            <a:r>
              <a:rPr lang="en-US" dirty="0" err="1"/>
              <a:t>donald.ferguson</a:t>
            </a:r>
            <a:r>
              <a:rPr lang="en-US" dirty="0"/>
              <a:t>/Dropbox/000/000-A-2025-Repos/</a:t>
            </a:r>
            <a:r>
              <a:rPr lang="en-US" dirty="0" err="1"/>
              <a:t>sync_async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now, you can simply replicate the pattern to get started.</a:t>
            </a:r>
          </a:p>
          <a:p>
            <a:endParaRPr lang="en-US" dirty="0"/>
          </a:p>
          <a:p>
            <a:r>
              <a:rPr lang="en-US" dirty="0"/>
              <a:t>For the next sprint, you should implement this pattern for one of your</a:t>
            </a:r>
            <a:br>
              <a:rPr lang="en-US" dirty="0"/>
            </a:br>
            <a:r>
              <a:rPr lang="en-US" dirty="0"/>
              <a:t>methods on a composite service (see below).</a:t>
            </a:r>
          </a:p>
        </p:txBody>
      </p:sp>
    </p:spTree>
    <p:extLst>
      <p:ext uri="{BB962C8B-B14F-4D97-AF65-F5344CB8AC3E}">
        <p14:creationId xmlns:p14="http://schemas.microsoft.com/office/powerpoint/2010/main" val="378397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F12F-F162-870A-1DDF-23F26F5F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0EFFE8A8-DD09-032E-E898-DD604B084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Composition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04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B79BA3-160F-93AA-F66C-61B399E6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– Somewhat Contrived </a:t>
            </a:r>
            <a:r>
              <a:rPr lang="en-US" dirty="0" err="1"/>
              <a:t>Exampl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3799F-10C3-E7FA-4629-0C9673D48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32" y="561975"/>
            <a:ext cx="5484632" cy="386715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AE6ECF-4FF7-620F-1E7F-45A800CE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962" y="514350"/>
            <a:ext cx="3499638" cy="3962400"/>
          </a:xfrm>
        </p:spPr>
        <p:txBody>
          <a:bodyPr/>
          <a:lstStyle/>
          <a:p>
            <a:r>
              <a:rPr lang="en-US" sz="1600" dirty="0"/>
              <a:t>We have 3 independently developed microservices.</a:t>
            </a:r>
          </a:p>
          <a:p>
            <a:pPr lvl="1"/>
            <a:r>
              <a:rPr lang="en-US" sz="1400" dirty="0"/>
              <a:t>Persons</a:t>
            </a:r>
          </a:p>
          <a:p>
            <a:pPr lvl="1"/>
            <a:r>
              <a:rPr lang="en-US" sz="1400" dirty="0"/>
              <a:t>Projects</a:t>
            </a:r>
          </a:p>
          <a:p>
            <a:pPr lvl="1"/>
            <a:r>
              <a:rPr lang="en-US" sz="1400" dirty="0"/>
              <a:t>Courses</a:t>
            </a:r>
          </a:p>
          <a:p>
            <a:r>
              <a:rPr lang="en-US" sz="1600" dirty="0"/>
              <a:t>Our application scenarios requires </a:t>
            </a:r>
            <a:r>
              <a:rPr lang="en-US" sz="1600" i="1" dirty="0"/>
              <a:t>composing</a:t>
            </a:r>
            <a:r>
              <a:rPr lang="en-US" sz="1600" dirty="0"/>
              <a:t> them into a larger whole with paths for</a:t>
            </a:r>
          </a:p>
          <a:p>
            <a:pPr lvl="1"/>
            <a:r>
              <a:rPr lang="en-US" sz="1400" dirty="0"/>
              <a:t>Person ↔ </a:t>
            </a:r>
            <a:r>
              <a:rPr lang="en-US" sz="1400" dirty="0">
                <a:sym typeface="Wingdings" pitchFamily="2" charset="2"/>
              </a:rPr>
              <a:t>Project</a:t>
            </a:r>
          </a:p>
          <a:p>
            <a:pPr lvl="1"/>
            <a:r>
              <a:rPr lang="en-US" sz="1400" dirty="0">
                <a:sym typeface="Wingdings" pitchFamily="2" charset="2"/>
              </a:rPr>
              <a:t>Course </a:t>
            </a:r>
            <a:r>
              <a:rPr lang="en-US" sz="1400" dirty="0"/>
              <a:t>↔ Project</a:t>
            </a:r>
          </a:p>
          <a:p>
            <a:pPr lvl="1"/>
            <a:r>
              <a:rPr lang="en-US" sz="1400" dirty="0"/>
              <a:t>Person ↔ Section</a:t>
            </a:r>
          </a:p>
          <a:p>
            <a:pPr lvl="1"/>
            <a:r>
              <a:rPr lang="en-US" sz="1400" dirty="0"/>
              <a:t>etc.</a:t>
            </a:r>
          </a:p>
          <a:p>
            <a:r>
              <a:rPr lang="en-US" sz="1600" dirty="0"/>
              <a:t>And the implied integrity constraints.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74148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EFD3-14DF-D6BA-C067-90525077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Microservice 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E0E6E1-E919-39F7-3DB1-73DA8B01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0" y="814256"/>
            <a:ext cx="8253760" cy="35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43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E35394-CB46-63DA-FCF7-2B29B9F82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590550"/>
            <a:ext cx="5029200" cy="4038600"/>
          </a:xfrm>
        </p:spPr>
        <p:txBody>
          <a:bodyPr/>
          <a:lstStyle/>
          <a:p>
            <a:r>
              <a:rPr lang="en-US" dirty="0"/>
              <a:t>Implements </a:t>
            </a:r>
            <a:r>
              <a:rPr lang="en-US" i="1" dirty="0"/>
              <a:t>implied links</a:t>
            </a:r>
            <a:r>
              <a:rPr lang="en-US" dirty="0"/>
              <a:t> and referential integrity between the resources.</a:t>
            </a:r>
          </a:p>
          <a:p>
            <a:r>
              <a:rPr lang="en-US" dirty="0"/>
              <a:t>Maximally </a:t>
            </a:r>
            <a:r>
              <a:rPr lang="en-US" i="1" dirty="0"/>
              <a:t>delegates</a:t>
            </a:r>
            <a:r>
              <a:rPr lang="en-US" dirty="0"/>
              <a:t> onto basic microservices for the core information/behavior.</a:t>
            </a:r>
          </a:p>
          <a:p>
            <a:r>
              <a:rPr lang="en-US" dirty="0"/>
              <a:t>Maintains its own database containing</a:t>
            </a:r>
          </a:p>
          <a:p>
            <a:pPr lvl="1"/>
            <a:r>
              <a:rPr lang="en-US" dirty="0"/>
              <a:t>Any additional information, e.g. UNI</a:t>
            </a:r>
          </a:p>
          <a:p>
            <a:pPr lvl="1"/>
            <a:r>
              <a:rPr lang="en-US" dirty="0"/>
              <a:t>“Associative entities” necessary to implements</a:t>
            </a:r>
            <a:br>
              <a:rPr lang="en-US" dirty="0"/>
            </a:br>
            <a:r>
              <a:rPr lang="en-US" dirty="0"/>
              <a:t>the implied ”foreign keys” and “integrity.”</a:t>
            </a:r>
          </a:p>
          <a:p>
            <a:r>
              <a:rPr lang="en-US" dirty="0"/>
              <a:t>Implements “logical transactions” via undo when a failure occurs during update of a composite resource.</a:t>
            </a:r>
          </a:p>
          <a:p>
            <a:r>
              <a:rPr lang="en-US" dirty="0"/>
              <a:t>This is the pattern when the basic microservices</a:t>
            </a:r>
            <a:br>
              <a:rPr lang="en-US" dirty="0"/>
            </a:br>
            <a:r>
              <a:rPr lang="en-US" dirty="0"/>
              <a:t>are unaware of the other basic services.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885ED4-8FCB-8DE6-BBB0-88D65227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Microservice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4B402-A06C-0D65-B803-EDFB2579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70" y="742950"/>
            <a:ext cx="3693746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23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93F2F2-1047-7139-D0F3-5BE74BD6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Resources and Microservice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B929B-88B6-CFF4-DFA2-D113F1EB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63722"/>
            <a:ext cx="7696200" cy="421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14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4B1E7-1E8D-2BEA-A8EB-D3289E94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C5E5B0-EFAB-D9B7-DE06-1C4800FE0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222483"/>
            <a:ext cx="8839200" cy="1406667"/>
          </a:xfrm>
        </p:spPr>
        <p:txBody>
          <a:bodyPr/>
          <a:lstStyle/>
          <a:p>
            <a:r>
              <a:rPr lang="en-US" sz="1600" dirty="0"/>
              <a:t>The GET on the composite invokes GET on several atomic services. This can occur synchronously or asynchronously in parallel.</a:t>
            </a:r>
          </a:p>
          <a:p>
            <a:r>
              <a:rPr lang="en-US" sz="1600" dirty="0"/>
              <a:t>PUT, POST and DELETE are more complex. Your logic may have to undo some delegated updates that occur if others fail.</a:t>
            </a:r>
          </a:p>
          <a:p>
            <a:r>
              <a:rPr lang="en-US" sz="1600" dirty="0"/>
              <a:t>To get started, we will just use simple logic but explore more complex approaches.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54392-5C24-F89A-4266-0CBAAA1AC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Microservice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7BE61-4474-A91F-36D1-FFE8DD28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14350"/>
            <a:ext cx="7772400" cy="2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79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268C8-3B3F-BC3E-1A69-2C6E866C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29C9A8-8CD1-F209-F144-DF97107AD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257550"/>
            <a:ext cx="8839200" cy="1371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There are two base patterns: choreography and orchestration.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There also several different implementation technologies and choices.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And many related concepts, e.g. Sagas, Event Driven Architectures, Pub/Sub, … …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We will cover and explore incrementally, but for now we will keep it simple and do</a:t>
            </a:r>
            <a:br>
              <a:rPr lang="en-US" sz="1600" dirty="0"/>
            </a:br>
            <a:r>
              <a:rPr lang="en-US" sz="1600" dirty="0"/>
              <a:t>traditional “if … then …” code.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C21F46-0E9A-A41C-4F96-B2418852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Composition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7B608B-A6A1-00F2-0DB0-FB6D2CCA6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984" y="698435"/>
            <a:ext cx="6019800" cy="242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241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57E6F-41CB-E5B7-CB2B-B110C3C2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1A28B-CCCB-08E2-DD32-F4E6CDE2B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095750"/>
            <a:ext cx="8839200" cy="533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These are not formally, rigorously defined terms.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E182C0-FF0A-9C36-3FA3-9FBD9F09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F1064-5BE7-EDBA-5417-1EE33ABF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66750"/>
            <a:ext cx="4555024" cy="3137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76385-BD53-CB5E-84D1-3D040827E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666750"/>
            <a:ext cx="4555024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81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4AA160-0B91-C4ED-82B5-50535937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Composite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AD752-CAF6-7EFC-2E43-916CD45BB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70" y="514350"/>
            <a:ext cx="7772400" cy="381715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ADC8B-40F2-273B-DEAA-5DFFE6F43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199" y="3029937"/>
            <a:ext cx="5334000" cy="1371600"/>
          </a:xfrm>
        </p:spPr>
        <p:txBody>
          <a:bodyPr/>
          <a:lstStyle/>
          <a:p>
            <a:r>
              <a:rPr lang="en-US" sz="1600" dirty="0"/>
              <a:t>There are several approaches to implementing the orchestrating composite operations.</a:t>
            </a:r>
          </a:p>
          <a:p>
            <a:pPr lvl="1"/>
            <a:r>
              <a:rPr lang="en-US" sz="1400" dirty="0"/>
              <a:t>The simplest is in code.</a:t>
            </a:r>
          </a:p>
          <a:p>
            <a:pPr lvl="1"/>
            <a:r>
              <a:rPr lang="en-US" sz="1400" dirty="0"/>
              <a:t>Process/workflow engines.</a:t>
            </a:r>
          </a:p>
          <a:p>
            <a:pPr lvl="1"/>
            <a:r>
              <a:rPr lang="en-US" sz="1400" dirty="0"/>
              <a:t>State machines.</a:t>
            </a:r>
          </a:p>
          <a:p>
            <a:pPr lvl="1"/>
            <a:r>
              <a:rPr lang="en-US" sz="1400" dirty="0"/>
              <a:t>… …</a:t>
            </a:r>
          </a:p>
        </p:txBody>
      </p:sp>
    </p:spTree>
    <p:extLst>
      <p:ext uri="{BB962C8B-B14F-4D97-AF65-F5344CB8AC3E}">
        <p14:creationId xmlns:p14="http://schemas.microsoft.com/office/powerpoint/2010/main" val="1784272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2D4E1-DCE0-123D-CB4C-23F56955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Cloud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B2514-1575-0AD0-EAAB-D092ED0EF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77326"/>
            <a:ext cx="6248400" cy="37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75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A85C-394D-2179-2432-891AB3A5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C71DE4-8932-C3F4-21D1-0E0F1DB2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Step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301D3-A9E2-4F76-0EC5-2589B04A0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86251"/>
            <a:ext cx="5406298" cy="397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76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EA23-7B0A-DFD1-06E3-3C6A23643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472-9F76-FAAD-5E38-F7B3B9E2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In Code: Composition and Asynchronous Method Invocation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97C54-2482-683D-60F3-15A407C4B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165" y="742950"/>
            <a:ext cx="4622656" cy="315288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D812A3-DA91-FF3B-17B0-86381395D5C2}"/>
              </a:ext>
            </a:extLst>
          </p:cNvPr>
          <p:cNvCxnSpPr/>
          <p:nvPr/>
        </p:nvCxnSpPr>
        <p:spPr>
          <a:xfrm>
            <a:off x="2975519" y="1769664"/>
            <a:ext cx="12039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BEE98C-576E-E54F-F1A9-2A96E2BA9C2C}"/>
              </a:ext>
            </a:extLst>
          </p:cNvPr>
          <p:cNvSpPr txBox="1"/>
          <p:nvPr/>
        </p:nvSpPr>
        <p:spPr>
          <a:xfrm>
            <a:off x="3366881" y="1498777"/>
            <a:ext cx="6319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Request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4FD8FC-773E-BA75-70E4-F0E1570553CD}"/>
              </a:ext>
            </a:extLst>
          </p:cNvPr>
          <p:cNvCxnSpPr>
            <a:cxnSpLocks/>
          </p:cNvCxnSpPr>
          <p:nvPr/>
        </p:nvCxnSpPr>
        <p:spPr>
          <a:xfrm flipH="1">
            <a:off x="2975519" y="1995460"/>
            <a:ext cx="12039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4D9D5C-43DC-957D-571E-FF4A2A9D21A6}"/>
              </a:ext>
            </a:extLst>
          </p:cNvPr>
          <p:cNvSpPr txBox="1"/>
          <p:nvPr/>
        </p:nvSpPr>
        <p:spPr>
          <a:xfrm>
            <a:off x="3221953" y="2011210"/>
            <a:ext cx="99418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202 ACCEPTED</a:t>
            </a:r>
            <a:br>
              <a:rPr lang="en-US" sz="1050" dirty="0"/>
            </a:br>
            <a:r>
              <a:rPr lang="en-US" sz="1050" dirty="0"/>
              <a:t>Location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890FD7-CD65-B2DB-BD96-D3EB89AF4B30}"/>
              </a:ext>
            </a:extLst>
          </p:cNvPr>
          <p:cNvCxnSpPr/>
          <p:nvPr/>
        </p:nvCxnSpPr>
        <p:spPr>
          <a:xfrm>
            <a:off x="2964041" y="2841913"/>
            <a:ext cx="12039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9B236C0-8CD5-B98A-04C8-B31BC4F36829}"/>
              </a:ext>
            </a:extLst>
          </p:cNvPr>
          <p:cNvSpPr txBox="1"/>
          <p:nvPr/>
        </p:nvSpPr>
        <p:spPr>
          <a:xfrm>
            <a:off x="3285131" y="2824929"/>
            <a:ext cx="7120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GET (Poll)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63EDFD-B1DE-CEBF-77CC-A861149AC8D5}"/>
              </a:ext>
            </a:extLst>
          </p:cNvPr>
          <p:cNvCxnSpPr>
            <a:cxnSpLocks/>
          </p:cNvCxnSpPr>
          <p:nvPr/>
        </p:nvCxnSpPr>
        <p:spPr>
          <a:xfrm flipH="1">
            <a:off x="2982503" y="3055762"/>
            <a:ext cx="1203939" cy="42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B9C3F81-D465-26E6-24C5-CF875ED3EA8B}"/>
              </a:ext>
            </a:extLst>
          </p:cNvPr>
          <p:cNvSpPr txBox="1"/>
          <p:nvPr/>
        </p:nvSpPr>
        <p:spPr>
          <a:xfrm>
            <a:off x="3221141" y="3088284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200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DFB9749-4B10-1050-DB24-3320F1FD1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090" y="514350"/>
            <a:ext cx="5155799" cy="40697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350" dirty="0"/>
              <a:t>Composite operations can “take a while.”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endParaRPr lang="en-US" sz="13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350" dirty="0"/>
              <a:t>“Holding open connections and waiting can be bad.”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Consumes resources.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Connections can break.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... ...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endParaRPr lang="en-US" sz="11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350" dirty="0"/>
              <a:t>There are several options: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Polling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Callbacks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Asynchronous calls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Events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… 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endParaRPr lang="en-US" sz="115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350" dirty="0"/>
              <a:t>Our next pattern is composition and “polling.”</a:t>
            </a:r>
            <a:br>
              <a:rPr lang="en-US" sz="1350" dirty="0"/>
            </a:br>
            <a:r>
              <a:rPr lang="en-US" sz="1350" dirty="0"/>
              <a:t>Create a new user requires: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Updating the user database.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Verifying a submitted address.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r>
              <a:rPr lang="en-US" sz="1150" dirty="0"/>
              <a:t>Creating an account in the catalog service.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225"/>
              </a:spcAft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245230296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F27F-A300-0C67-272E-59FEC172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5F83B-2E67-15E0-9F4B-335C73A62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590550"/>
            <a:ext cx="3962400" cy="4038600"/>
          </a:xfrm>
        </p:spPr>
        <p:txBody>
          <a:bodyPr/>
          <a:lstStyle/>
          <a:p>
            <a:r>
              <a:rPr lang="en-US" dirty="0"/>
              <a:t>One call to a composite service</a:t>
            </a:r>
          </a:p>
          <a:p>
            <a:pPr lvl="1"/>
            <a:r>
              <a:rPr lang="en-US" dirty="0"/>
              <a:t>May drive calls to multiple other services.</a:t>
            </a:r>
          </a:p>
          <a:p>
            <a:pPr lvl="1"/>
            <a:r>
              <a:rPr lang="en-US" dirty="0"/>
              <a:t>Which in turn, may drive multiple calls to other services.</a:t>
            </a:r>
          </a:p>
          <a:p>
            <a:r>
              <a:rPr lang="en-US" dirty="0"/>
              <a:t>Synchronous (Wait) and calling one at a time, in order is</a:t>
            </a:r>
          </a:p>
          <a:p>
            <a:pPr lvl="1"/>
            <a:r>
              <a:rPr lang="en-US" dirty="0"/>
              <a:t>Inefficient</a:t>
            </a:r>
          </a:p>
          <a:p>
            <a:pPr lvl="1"/>
            <a:r>
              <a:rPr lang="en-US" dirty="0"/>
              <a:t>Fragile</a:t>
            </a:r>
          </a:p>
          <a:p>
            <a:pPr lvl="1"/>
            <a:r>
              <a:rPr lang="en-US" dirty="0"/>
              <a:t>... ...</a:t>
            </a:r>
          </a:p>
          <a:p>
            <a:r>
              <a:rPr lang="en-US" dirty="0"/>
              <a:t>Asynchronous has benefits but can result in complex code.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1CB08E-9545-29E5-61E4-8C1E1C32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Code: Service Orchestration/Composition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B1836-6C6A-70D6-E191-06345684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949325"/>
            <a:ext cx="5037401" cy="32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09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51BB19-0777-74AD-03D6-55643848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Show example of calling URL synchronously and asynchronously</a:t>
            </a:r>
          </a:p>
          <a:p>
            <a:pPr lvl="1"/>
            <a:r>
              <a:rPr lang="en-US" sz="1400" dirty="0"/>
              <a:t>/Users/</a:t>
            </a:r>
            <a:r>
              <a:rPr lang="en-US" sz="1400" dirty="0" err="1"/>
              <a:t>donald.ferguson</a:t>
            </a:r>
            <a:r>
              <a:rPr lang="en-US" sz="1400" dirty="0"/>
              <a:t>/Dropbox/000/000-A-2025-Repos/</a:t>
            </a:r>
            <a:r>
              <a:rPr lang="en-US" sz="1400" dirty="0" err="1"/>
              <a:t>sync_async</a:t>
            </a:r>
            <a:r>
              <a:rPr lang="en-US" sz="1400" dirty="0"/>
              <a:t>/async1.py</a:t>
            </a:r>
          </a:p>
          <a:p>
            <a:pPr lvl="1"/>
            <a:r>
              <a:rPr lang="en-US" sz="1400" dirty="0"/>
              <a:t>/Users/</a:t>
            </a:r>
            <a:r>
              <a:rPr lang="en-US" sz="1400" dirty="0" err="1"/>
              <a:t>donald.ferguson</a:t>
            </a:r>
            <a:r>
              <a:rPr lang="en-US" sz="1400" dirty="0"/>
              <a:t>/Dropbox/000/000-A-2025-Repos/</a:t>
            </a:r>
            <a:r>
              <a:rPr lang="en-US" sz="1400" dirty="0" err="1"/>
              <a:t>sync_async</a:t>
            </a:r>
            <a:r>
              <a:rPr lang="en-US" sz="1400" dirty="0"/>
              <a:t>/sync1.py</a:t>
            </a:r>
          </a:p>
          <a:p>
            <a:pPr lvl="1"/>
            <a:endParaRPr lang="en-US" sz="1400" dirty="0"/>
          </a:p>
          <a:p>
            <a:r>
              <a:rPr lang="en-US" sz="1600" dirty="0"/>
              <a:t>One of the steps in your next sprint is:</a:t>
            </a:r>
          </a:p>
          <a:p>
            <a:pPr lvl="1"/>
            <a:r>
              <a:rPr lang="en-US" sz="1400" dirty="0"/>
              <a:t>Build a composite microservice that aggregates your basic microservices.</a:t>
            </a:r>
          </a:p>
          <a:p>
            <a:pPr lvl="1"/>
            <a:r>
              <a:rPr lang="en-US" sz="1400" dirty="0"/>
              <a:t>Demonstrating  one method on the composite aggregating the base services synchronously.</a:t>
            </a:r>
          </a:p>
          <a:p>
            <a:pPr lvl="1"/>
            <a:r>
              <a:rPr lang="en-US" sz="1400" dirty="0"/>
              <a:t>Demonstrating  one method on the composite aggregating the base services asynchronously.</a:t>
            </a:r>
          </a:p>
          <a:p>
            <a:pPr lvl="1"/>
            <a:r>
              <a:rPr lang="en-US" sz="1400" dirty="0"/>
              <a:t>Demonstrate one method using a thread and synchronous calls, implementing 202 accepted</a:t>
            </a:r>
          </a:p>
          <a:p>
            <a:pPr lvl="1"/>
            <a:endParaRPr lang="en-US" sz="1400" dirty="0"/>
          </a:p>
          <a:p>
            <a:r>
              <a:rPr lang="en-US" sz="1600" dirty="0"/>
              <a:t>You are probably confused as heck right now.</a:t>
            </a:r>
          </a:p>
          <a:p>
            <a:pPr lvl="1"/>
            <a:r>
              <a:rPr lang="en-US" sz="1400" dirty="0"/>
              <a:t>Think of your initial microservices as base tables.</a:t>
            </a:r>
          </a:p>
          <a:p>
            <a:pPr lvl="1"/>
            <a:r>
              <a:rPr lang="en-US" sz="1400" dirty="0"/>
              <a:t>Think of the composite as a VIEW representing a JOIN of the base tables.</a:t>
            </a:r>
          </a:p>
          <a:p>
            <a:pPr lvl="1"/>
            <a:r>
              <a:rPr lang="en-US" sz="1400" dirty="0"/>
              <a:t>Your composite microservice’s code implements the basic operations, and perhaps some additional logic, in the JOIN to “compose” that basic services.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9DDDA-70DF-6F7D-9E45-613135B9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Synchronous/Asynchronous Show Code</a:t>
            </a:r>
          </a:p>
        </p:txBody>
      </p:sp>
    </p:spTree>
    <p:extLst>
      <p:ext uri="{BB962C8B-B14F-4D97-AF65-F5344CB8AC3E}">
        <p14:creationId xmlns:p14="http://schemas.microsoft.com/office/powerpoint/2010/main" val="1879286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F69B55-524D-3D85-FFFF-72E32446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and Coroutines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22C94-159F-BE0F-81F7-AEFB366C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Threads</a:t>
            </a:r>
          </a:p>
          <a:p>
            <a:r>
              <a:rPr lang="en-US" sz="1400" dirty="0"/>
              <a:t>Definition: A thread is an operating system (OS)-level execution unit. Multiple threads can run truly in parallel on multiple CPU cores (if the Global Interpreter Lock, GIL, isn’t a limiting factor).</a:t>
            </a:r>
          </a:p>
          <a:p>
            <a:r>
              <a:rPr lang="en-US" sz="1400" dirty="0"/>
              <a:t>Preemptive Scheduling: The OS decides when to pause one thread and switch to another. This can happen at any point in the code.</a:t>
            </a:r>
          </a:p>
          <a:p>
            <a:r>
              <a:rPr lang="en-US" sz="1400" dirty="0"/>
              <a:t>Context Switching: Switching between threads requires saving and restoring OS-level state, which is relatively expensive.</a:t>
            </a:r>
          </a:p>
          <a:p>
            <a:r>
              <a:rPr lang="en-US" sz="1400" dirty="0"/>
              <a:t>Use Case: Good for I/O-bound tasks (like downloading files, reading/writing to databases, waiting on network responses). For CPU-bound tasks in </a:t>
            </a:r>
            <a:r>
              <a:rPr lang="en-US" sz="1400" dirty="0" err="1"/>
              <a:t>CPython</a:t>
            </a:r>
            <a:r>
              <a:rPr lang="en-US" sz="1400" dirty="0"/>
              <a:t>, the GIL prevents true parallelism—so multiple threads don’t improve raw compute speed.</a:t>
            </a:r>
          </a:p>
          <a:p>
            <a:endParaRPr lang="en-US" sz="1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FA8DA0-0F2B-49A3-6B57-38BC0A71832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Coroutines</a:t>
            </a:r>
          </a:p>
          <a:p>
            <a:r>
              <a:rPr lang="en-US" sz="1400" dirty="0"/>
              <a:t>Definition: A coroutine is a special Python function declared with async def. It represents a cooperative unit of execution managed by an event loop (usually </a:t>
            </a:r>
            <a:r>
              <a:rPr lang="en-US" sz="1400" dirty="0" err="1"/>
              <a:t>asyncio</a:t>
            </a:r>
            <a:r>
              <a:rPr lang="en-US" sz="1400" dirty="0"/>
              <a:t>).</a:t>
            </a:r>
          </a:p>
          <a:p>
            <a:r>
              <a:rPr lang="en-US" sz="1400" dirty="0"/>
              <a:t>Cooperative Scheduling: Coroutines yield control voluntarily (using await) so other coroutines can run. Unlike threads, they don’t get interrupted at arbitrary points.</a:t>
            </a:r>
          </a:p>
          <a:p>
            <a:r>
              <a:rPr lang="en-US" sz="1400" dirty="0"/>
              <a:t>Context Switching: Switching between coroutines is very cheap—just a function call in the interpreter, no OS involvement.</a:t>
            </a:r>
          </a:p>
          <a:p>
            <a:r>
              <a:rPr lang="en-US" sz="1400" dirty="0"/>
              <a:t>Use Case: Excellent for handling massive numbers of I/O-bound tasks (e.g., serving thousands of HTTP requests). Not good for CPU-heavy tasks unless you explicitly run them in threads or processes.</a:t>
            </a:r>
          </a:p>
        </p:txBody>
      </p:sp>
    </p:spTree>
    <p:extLst>
      <p:ext uri="{BB962C8B-B14F-4D97-AF65-F5344CB8AC3E}">
        <p14:creationId xmlns:p14="http://schemas.microsoft.com/office/powerpoint/2010/main" val="1957180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CDABB7-32C3-2D81-1E96-B85E74044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trying to get you familiar with basics of asynchronous programming.</a:t>
            </a:r>
          </a:p>
          <a:p>
            <a:endParaRPr lang="en-US" dirty="0"/>
          </a:p>
          <a:p>
            <a:r>
              <a:rPr lang="en-US" dirty="0"/>
              <a:t>There are much “cleaner” but potentially more complex ways to handle asynchronous and long running operations.</a:t>
            </a:r>
          </a:p>
          <a:p>
            <a:endParaRPr lang="en-US" dirty="0"/>
          </a:p>
          <a:p>
            <a:r>
              <a:rPr lang="en-US" dirty="0"/>
              <a:t>We will see several examples: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Pub/Sub</a:t>
            </a:r>
          </a:p>
          <a:p>
            <a:pPr lvl="1"/>
            <a:r>
              <a:rPr lang="en-US" dirty="0"/>
              <a:t>Message Queues</a:t>
            </a:r>
          </a:p>
          <a:p>
            <a:pPr lvl="1"/>
            <a:r>
              <a:rPr lang="en-US" dirty="0"/>
              <a:t>Workflow</a:t>
            </a:r>
          </a:p>
          <a:p>
            <a:pPr lvl="1"/>
            <a:endParaRPr lang="en-US" dirty="0"/>
          </a:p>
          <a:p>
            <a:r>
              <a:rPr lang="en-US" dirty="0"/>
              <a:t>But for now, just play with coroutines and threads.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DF60A0-4825-A25A-BDF2-4506592C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Now, … …</a:t>
            </a:r>
          </a:p>
        </p:txBody>
      </p:sp>
    </p:spTree>
    <p:extLst>
      <p:ext uri="{BB962C8B-B14F-4D97-AF65-F5344CB8AC3E}">
        <p14:creationId xmlns:p14="http://schemas.microsoft.com/office/powerpoint/2010/main" val="1019871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5709A-21A3-AEF6-4226-1A873244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F82EF351-E973-479A-DA3D-8106609D3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strike="sngStrike" dirty="0">
                <a:solidFill>
                  <a:schemeClr val="bg1"/>
                </a:solidFill>
              </a:rPr>
              <a:t>OAuth2</a:t>
            </a:r>
            <a:br>
              <a:rPr lang="en-US" altLang="en-US" sz="4400" i="1" strike="sngStrike" dirty="0">
                <a:solidFill>
                  <a:schemeClr val="bg1"/>
                </a:solidFill>
              </a:rPr>
            </a:br>
            <a:r>
              <a:rPr lang="en-US" altLang="en-US" sz="4400" i="1" strike="sngStrike" dirty="0">
                <a:solidFill>
                  <a:schemeClr val="bg1"/>
                </a:solidFill>
              </a:rPr>
              <a:t>Open ID Connect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948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7A264-948B-E3D9-9BAB-17EEA111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092939FC-CE05-2ED5-6171-6D2086BA9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Function-as-a-Service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265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7B3227-2AF4-B516-817B-AC87C3949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Layers</a:t>
            </a:r>
          </a:p>
        </p:txBody>
      </p:sp>
      <p:pic>
        <p:nvPicPr>
          <p:cNvPr id="2050" name="Picture 2" descr="Cloud Deployment Spectrum: On-prem vs IaaS vs CaaS vs PaaS vs FaaS vs SaaS, and what is serverless among these">
            <a:extLst>
              <a:ext uri="{FF2B5EF4-FFF2-40B4-BE49-F238E27FC236}">
                <a16:creationId xmlns:a16="http://schemas.microsoft.com/office/drawing/2014/main" id="{3E9ADDD0-BF79-F802-63B0-D4D605AAF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50069"/>
            <a:ext cx="7188199" cy="404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235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ECF63A-B524-5401-D183-F4235E9B2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Event-Driven Execution:</a:t>
            </a:r>
          </a:p>
          <a:p>
            <a:pPr lvl="1"/>
            <a:r>
              <a:rPr lang="en-US" dirty="0"/>
              <a:t>Specific events trigger </a:t>
            </a:r>
            <a:r>
              <a:rPr lang="en-US" dirty="0" err="1"/>
              <a:t>FaaS</a:t>
            </a:r>
            <a:r>
              <a:rPr lang="en-US" dirty="0"/>
              <a:t> functions. These events can be an HTTP request, a message in a queue, database update, scheduled task, … … </a:t>
            </a:r>
          </a:p>
          <a:p>
            <a:pPr lvl="1"/>
            <a:r>
              <a:rPr lang="en-US" dirty="0"/>
              <a:t>The corresponding function executes when an event occurs.</a:t>
            </a:r>
          </a:p>
          <a:p>
            <a:pPr lvl="1"/>
            <a:r>
              <a:rPr lang="en-US" u="sng" dirty="0"/>
              <a:t>Think of this being like the generalization of a database trigger.</a:t>
            </a:r>
          </a:p>
          <a:p>
            <a:r>
              <a:rPr lang="en-US" dirty="0"/>
              <a:t>Stateless Functions: Each function is self-contained. It maintains no state between invocations, enabling easy scaling and parallel execution.</a:t>
            </a:r>
          </a:p>
          <a:p>
            <a:r>
              <a:rPr lang="en-US" dirty="0"/>
              <a:t>Short-Lived Execution: Functions run for a short duration, typically seconds to minutes. The system creates them when needed and removes them once their task is complete, optimizing resource use.</a:t>
            </a:r>
          </a:p>
          <a:p>
            <a:r>
              <a:rPr lang="en-US" dirty="0"/>
              <a:t>Managed Infrastructure: The cloud provider handles the underlying infrastructure, including servers, scaling, and security. It abstracts the functional complexities away from the developers.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7EEC24-42E0-932F-C0F3-5D0491DA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Function-as-a-Service Principles</a:t>
            </a:r>
          </a:p>
        </p:txBody>
      </p:sp>
    </p:spTree>
    <p:extLst>
      <p:ext uri="{BB962C8B-B14F-4D97-AF65-F5344CB8AC3E}">
        <p14:creationId xmlns:p14="http://schemas.microsoft.com/office/powerpoint/2010/main" val="1414886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598FAB-EE07-6F63-BFC4-71105E37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Cloud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427F9D-D853-EFA4-54B6-1AE6BA23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8933"/>
            <a:ext cx="7848600" cy="41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83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95D9B9-C8A8-09C7-B5C4-D93C1E6E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365592"/>
            <a:ext cx="8839200" cy="133975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600" dirty="0"/>
              <a:t>For now, just focus on plumbing everything together.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You do not need to connect the microservice. You can just trigger with </a:t>
            </a:r>
            <a:r>
              <a:rPr lang="en-US" sz="1600" dirty="0" err="1"/>
              <a:t>gcloud</a:t>
            </a:r>
            <a:r>
              <a:rPr lang="en-US" sz="1600" dirty="0"/>
              <a:t> CLI.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Collaboration/Social Media space: 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I will use either Slack or Discord. You can choose whatever you want.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For now, you can just write to the Google log to check and demonstrate that your function ran.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10623D-77B9-FC11-D23E-C2C6E5B4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818F8-F43B-2146-4B3A-D519DF76C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4" y="514349"/>
            <a:ext cx="8839200" cy="27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88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A53D00-648A-3FEE-AA30-F5CD0DA4B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/Users/</a:t>
            </a:r>
            <a:r>
              <a:rPr lang="en-US" dirty="0" err="1"/>
              <a:t>donald.ferguson</a:t>
            </a:r>
            <a:r>
              <a:rPr lang="en-US" dirty="0"/>
              <a:t>/Dropbox/000/000-A-2025-Repos/</a:t>
            </a:r>
            <a:r>
              <a:rPr lang="en-US" dirty="0" err="1"/>
              <a:t>simple_html</a:t>
            </a:r>
            <a:endParaRPr lang="en-US" dirty="0"/>
          </a:p>
          <a:p>
            <a:r>
              <a:rPr lang="en-US" dirty="0"/>
              <a:t>Not tested on GCP yet. Will do this weekend, but … …</a:t>
            </a:r>
          </a:p>
          <a:p>
            <a:pPr lvl="1"/>
            <a:r>
              <a:rPr lang="en-US" dirty="0"/>
              <a:t>This is a simple ChatGPT generated template/starter project.</a:t>
            </a:r>
          </a:p>
          <a:p>
            <a:pPr lvl="1"/>
            <a:r>
              <a:rPr lang="en-US" dirty="0"/>
              <a:t>The new style of programming is … 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You can/should do the same.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EBC7CF-B885-FCBB-CBD1-58CDEF47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Walkthrough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61199-497F-E11E-50EB-37F7B47A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84" y="1962150"/>
            <a:ext cx="7772400" cy="158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06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AB38A2-40FB-4B86-2F97-29B677EE1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/Users/</a:t>
            </a:r>
            <a:r>
              <a:rPr lang="en-US" dirty="0" err="1"/>
              <a:t>donald.ferguson</a:t>
            </a:r>
            <a:r>
              <a:rPr lang="en-US" dirty="0"/>
              <a:t>/Dropbox/000/000-A-2025-Repos/slack-</a:t>
            </a:r>
            <a:r>
              <a:rPr lang="en-US" dirty="0" err="1"/>
              <a:t>pubsub</a:t>
            </a:r>
            <a:r>
              <a:rPr lang="en-US" dirty="0"/>
              <a:t>-notify</a:t>
            </a:r>
          </a:p>
          <a:p>
            <a:r>
              <a:rPr lang="en-US" dirty="0"/>
              <a:t>/Users/</a:t>
            </a:r>
            <a:r>
              <a:rPr lang="en-US" dirty="0" err="1"/>
              <a:t>donald.ferguson</a:t>
            </a:r>
            <a:r>
              <a:rPr lang="en-US" dirty="0"/>
              <a:t>/Dropbox/000/000-A-2025-Repos/</a:t>
            </a:r>
            <a:r>
              <a:rPr lang="en-US" dirty="0" err="1"/>
              <a:t>pubsub</a:t>
            </a:r>
            <a:r>
              <a:rPr lang="en-US" dirty="0"/>
              <a:t>-hello 2</a:t>
            </a:r>
          </a:p>
          <a:p>
            <a:endParaRPr lang="en-US" dirty="0"/>
          </a:p>
          <a:p>
            <a:r>
              <a:rPr lang="en-US" dirty="0"/>
              <a:t>Where are we going with this … …</a:t>
            </a:r>
          </a:p>
          <a:p>
            <a:pPr lvl="1"/>
            <a:r>
              <a:rPr lang="en-US" dirty="0"/>
              <a:t>We are going to learn about pub/sub an events.</a:t>
            </a:r>
          </a:p>
          <a:p>
            <a:pPr lvl="1"/>
            <a:r>
              <a:rPr lang="en-US" dirty="0"/>
              <a:t>We will expand our composition example to use pub/sub and functions.</a:t>
            </a:r>
          </a:p>
          <a:p>
            <a:pPr lvl="1"/>
            <a:r>
              <a:rPr lang="en-US" dirty="0"/>
              <a:t>We will also include some form of “user notification” in our project using functions</a:t>
            </a:r>
            <a:br>
              <a:rPr lang="en-US" dirty="0"/>
            </a:br>
            <a:r>
              <a:rPr lang="en-US" dirty="0"/>
              <a:t>and pub/sub</a:t>
            </a:r>
          </a:p>
          <a:p>
            <a:pPr lvl="1"/>
            <a:r>
              <a:rPr lang="en-US" dirty="0"/>
              <a:t>And seeing the complexity, we will look at workflow and state machines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2E301-5DB9-C244-66CA-B0BA4200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Code</a:t>
            </a:r>
          </a:p>
        </p:txBody>
      </p:sp>
    </p:spTree>
    <p:extLst>
      <p:ext uri="{BB962C8B-B14F-4D97-AF65-F5344CB8AC3E}">
        <p14:creationId xmlns:p14="http://schemas.microsoft.com/office/powerpoint/2010/main" val="1675438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567B-094C-8D2D-3688-669FA5C9A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3DA95461-D70B-9C6F-3751-871D310EE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/>
            <a:r>
              <a:rPr lang="en-US" altLang="en-US" sz="4400" i="1" dirty="0">
                <a:solidFill>
                  <a:schemeClr val="bg1"/>
                </a:solidFill>
              </a:rPr>
              <a:t>12 Factor Applications</a:t>
            </a:r>
          </a:p>
          <a:p>
            <a:pPr algn="ctr"/>
            <a:endParaRPr lang="en-US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418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55CAEF-BE02-5D4F-8E13-E75CE4CD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Factor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4B32E-E251-2449-AF67-306D9A7CA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42950"/>
            <a:ext cx="7086600" cy="38988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88D20B-436C-0F4D-9D36-E12820AF6E8A}"/>
              </a:ext>
            </a:extLst>
          </p:cNvPr>
          <p:cNvSpPr/>
          <p:nvPr/>
        </p:nvSpPr>
        <p:spPr>
          <a:xfrm>
            <a:off x="-20169" y="444319"/>
            <a:ext cx="8991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dzone.com</a:t>
            </a:r>
            <a:r>
              <a:rPr lang="en-US" dirty="0"/>
              <a:t>/articles/12-factor-app-principles-and-cloud-native-microser</a:t>
            </a:r>
          </a:p>
        </p:txBody>
      </p:sp>
    </p:spTree>
    <p:extLst>
      <p:ext uri="{BB962C8B-B14F-4D97-AF65-F5344CB8AC3E}">
        <p14:creationId xmlns:p14="http://schemas.microsoft.com/office/powerpoint/2010/main" val="4285363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3BD26-A856-0A47-9C56-F3152D5B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552450"/>
            <a:ext cx="3505200" cy="4038600"/>
          </a:xfrm>
        </p:spPr>
        <p:txBody>
          <a:bodyPr/>
          <a:lstStyle/>
          <a:p>
            <a:r>
              <a:rPr lang="en-US" sz="1600" dirty="0"/>
              <a:t>Most application frameworks have a dependency declaration concept.</a:t>
            </a:r>
          </a:p>
          <a:p>
            <a:r>
              <a:rPr lang="en-US" sz="1600" dirty="0"/>
              <a:t>I have been showing examples with:</a:t>
            </a:r>
          </a:p>
          <a:p>
            <a:pPr lvl="1"/>
            <a:r>
              <a:rPr lang="en-US" sz="1400" dirty="0"/>
              <a:t>Python import</a:t>
            </a:r>
          </a:p>
          <a:p>
            <a:pPr lvl="1"/>
            <a:r>
              <a:rPr lang="en-US" sz="1400" dirty="0" err="1"/>
              <a:t>requirements.txt</a:t>
            </a:r>
            <a:endParaRPr lang="en-US" sz="1400" dirty="0"/>
          </a:p>
          <a:p>
            <a:pPr lvl="1"/>
            <a:r>
              <a:rPr lang="en-US" sz="1400" dirty="0"/>
              <a:t>etc.</a:t>
            </a:r>
          </a:p>
          <a:p>
            <a:r>
              <a:rPr lang="en-US" sz="1600" dirty="0"/>
              <a:t>My examples also show encapsulating libraries and APIs with Python classes.</a:t>
            </a:r>
          </a:p>
          <a:p>
            <a:r>
              <a:rPr lang="en-US" sz="1600" dirty="0"/>
              <a:t>II. Dependencies handles “the code,” but we still need to handle the instance. There is a difference between, e.g. </a:t>
            </a:r>
          </a:p>
          <a:p>
            <a:pPr lvl="1"/>
            <a:r>
              <a:rPr lang="en-US" sz="1400" dirty="0" err="1"/>
              <a:t>pymysql</a:t>
            </a:r>
            <a:endParaRPr lang="en-US" sz="1400" dirty="0"/>
          </a:p>
          <a:p>
            <a:pPr lvl="1"/>
            <a:r>
              <a:rPr lang="en-US" sz="1400" dirty="0"/>
              <a:t>A specific connection.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293210-CBDA-4E78-60BA-780121B7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30A5C-40A0-B355-CFF1-485902842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90550"/>
            <a:ext cx="5181600" cy="39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13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E8A45C-C9A1-2C15-CD25-72166D095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590550"/>
            <a:ext cx="4572000" cy="4038600"/>
          </a:xfrm>
        </p:spPr>
        <p:txBody>
          <a:bodyPr/>
          <a:lstStyle/>
          <a:p>
            <a:r>
              <a:rPr lang="en-US" sz="1600" dirty="0"/>
              <a:t>Each of the deployment environments we will use has a method for configuring environment variables.</a:t>
            </a:r>
          </a:p>
          <a:p>
            <a:r>
              <a:rPr lang="en-US" sz="1600" dirty="0"/>
              <a:t>CI/CD, GitHub actions, etc. can integrate environment variables with the development process.</a:t>
            </a:r>
          </a:p>
          <a:p>
            <a:r>
              <a:rPr lang="en-US" sz="1600" dirty="0"/>
              <a:t>Vaults and secrets managers are a better approach for passwords.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0EA793-9153-0B68-32EC-BF843A5F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Configurations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2C05-9F7E-DC24-1E22-3DEDACCFF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485775"/>
            <a:ext cx="422772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14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DB0DF-3BF4-E397-1E5B-CEA0AB2F7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590550"/>
            <a:ext cx="4953000" cy="4038600"/>
          </a:xfrm>
        </p:spPr>
        <p:txBody>
          <a:bodyPr/>
          <a:lstStyle/>
          <a:p>
            <a:r>
              <a:rPr lang="en-US" sz="1800" dirty="0"/>
              <a:t>My code has shown encapsulating backing services with a shallow adaptor.</a:t>
            </a:r>
          </a:p>
          <a:p>
            <a:r>
              <a:rPr lang="en-US" sz="1800" dirty="0"/>
              <a:t>This is an example of the </a:t>
            </a:r>
            <a:r>
              <a:rPr lang="en-US" sz="1800" i="1" dirty="0"/>
              <a:t>adaptor pattern.</a:t>
            </a:r>
          </a:p>
          <a:p>
            <a:endParaRPr lang="en-US" sz="1800" i="1" dirty="0"/>
          </a:p>
          <a:p>
            <a:endParaRPr lang="en-US" sz="1800" i="1" dirty="0"/>
          </a:p>
          <a:p>
            <a:endParaRPr lang="en-US" sz="1800" i="1" dirty="0"/>
          </a:p>
          <a:p>
            <a:endParaRPr lang="en-US" sz="1800" i="1" dirty="0"/>
          </a:p>
          <a:p>
            <a:r>
              <a:rPr lang="en-US" sz="1800" dirty="0"/>
              <a:t>You seen examples of things like </a:t>
            </a:r>
            <a:r>
              <a:rPr lang="en-US" sz="1800" dirty="0" err="1"/>
              <a:t>AbstractBaseDataService</a:t>
            </a:r>
            <a:r>
              <a:rPr lang="en-US" sz="1800" dirty="0"/>
              <a:t>, … …</a:t>
            </a:r>
          </a:p>
          <a:p>
            <a:r>
              <a:rPr lang="en-US" sz="1800" dirty="0"/>
              <a:t>The approach is also an application of several aspects of SOLID.</a:t>
            </a:r>
            <a:br>
              <a:rPr lang="en-US" sz="1800" dirty="0"/>
            </a:br>
            <a:r>
              <a:rPr lang="en-US" sz="1800" dirty="0"/>
              <a:t>(https://</a:t>
            </a:r>
            <a:r>
              <a:rPr lang="en-US" sz="1800" dirty="0" err="1"/>
              <a:t>en.wikipedia.org</a:t>
            </a:r>
            <a:r>
              <a:rPr lang="en-US" sz="1800" dirty="0"/>
              <a:t>/wiki/SOLID)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9073A-E388-38EC-0ECB-18F18EE0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Backing 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CA9AF-B053-5E3B-9EDA-978D72BBC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77704"/>
            <a:ext cx="3505661" cy="3988091"/>
          </a:xfrm>
          <a:prstGeom prst="rect">
            <a:avLst/>
          </a:prstGeom>
        </p:spPr>
      </p:pic>
      <p:pic>
        <p:nvPicPr>
          <p:cNvPr id="1026" name="Picture 2" descr="Adapter Pattern - GeeksforGeeks">
            <a:extLst>
              <a:ext uri="{FF2B5EF4-FFF2-40B4-BE49-F238E27FC236}">
                <a16:creationId xmlns:a16="http://schemas.microsoft.com/office/drawing/2014/main" id="{A214048A-C684-AA4B-929F-EDDA64069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81150"/>
            <a:ext cx="2209799" cy="122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357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32033-2BA3-E51F-416E-B3AA9DFC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D8628DE2-638C-1C94-E67E-595A97B8E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72815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ＭＳ Ｐゴシック" charset="-128"/>
                <a:cs typeface="+mn-cs"/>
              </a:rPr>
              <a:t>Next Sprint</a:t>
            </a:r>
          </a:p>
        </p:txBody>
      </p:sp>
    </p:spTree>
    <p:extLst>
      <p:ext uri="{BB962C8B-B14F-4D97-AF65-F5344CB8AC3E}">
        <p14:creationId xmlns:p14="http://schemas.microsoft.com/office/powerpoint/2010/main" val="257012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E8AC2-3227-47E6-CDDD-E13B5C35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4CDD4-39E2-20FD-6F9D-FC45FF1D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Well-design REST applications for basic and composite microservices, e.g.</a:t>
            </a:r>
          </a:p>
          <a:p>
            <a:pPr lvl="1"/>
            <a:r>
              <a:rPr lang="en-US" sz="1400" dirty="0"/>
              <a:t>eTag</a:t>
            </a:r>
          </a:p>
          <a:p>
            <a:pPr lvl="1"/>
            <a:r>
              <a:rPr lang="en-US" sz="1400" dirty="0"/>
              <a:t>Query parameters</a:t>
            </a:r>
          </a:p>
          <a:p>
            <a:pPr lvl="1"/>
            <a:r>
              <a:rPr lang="en-US" sz="1400" dirty="0"/>
              <a:t>Linked data and relative paths</a:t>
            </a:r>
          </a:p>
          <a:p>
            <a:pPr lvl="1"/>
            <a:r>
              <a:rPr lang="en-US" sz="1400" dirty="0"/>
              <a:t>201 Created for POST</a:t>
            </a:r>
          </a:p>
          <a:p>
            <a:pPr lvl="1"/>
            <a:r>
              <a:rPr lang="en-US" sz="1400" dirty="0"/>
              <a:t>One deployed on Cloud Compute and one deployed using CaaS on Cloud Run</a:t>
            </a:r>
          </a:p>
          <a:p>
            <a:r>
              <a:rPr lang="en-US" sz="1600" dirty="0"/>
              <a:t>Composite microservices</a:t>
            </a:r>
          </a:p>
          <a:p>
            <a:pPr lvl="1"/>
            <a:r>
              <a:rPr lang="en-US" sz="1400" dirty="0"/>
              <a:t>Well-defined API</a:t>
            </a:r>
          </a:p>
          <a:p>
            <a:pPr lvl="1"/>
            <a:r>
              <a:rPr lang="en-US" sz="1400" dirty="0"/>
              <a:t>One operation implement synchronously and one operation asynchronously</a:t>
            </a:r>
          </a:p>
          <a:p>
            <a:r>
              <a:rPr lang="en-US" sz="1600" dirty="0"/>
              <a:t>DBaaS and one microservice/database pattern</a:t>
            </a:r>
          </a:p>
          <a:p>
            <a:pPr lvl="1"/>
            <a:r>
              <a:rPr lang="en-US" sz="1400" dirty="0"/>
              <a:t>1 SQL VM/Cloud Compute MySQL instance</a:t>
            </a:r>
          </a:p>
          <a:p>
            <a:pPr lvl="1"/>
            <a:r>
              <a:rPr lang="en-US" sz="1400" dirty="0"/>
              <a:t>1 or two Cloud SQL instances</a:t>
            </a:r>
          </a:p>
          <a:p>
            <a:r>
              <a:rPr lang="en-US" sz="1600" dirty="0"/>
              <a:t>Simple Cloud Storage based web UI accessing composite, and other microservices</a:t>
            </a:r>
          </a:p>
          <a:p>
            <a:r>
              <a:rPr lang="en-US" sz="1600" dirty="0"/>
              <a:t>Template/scaffolded Google Cloud Function triggered by pub/sub</a:t>
            </a:r>
          </a:p>
          <a:p>
            <a:r>
              <a:rPr lang="en-US" sz="1600" dirty="0"/>
              <a:t>Updated GitHub projects and Trello for sprints</a:t>
            </a:r>
          </a:p>
          <a:p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8AC07A-E367-2E86-78FA-F6656DD9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Sprint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8AFB80-53BF-30FE-AA43-9B48361FD521}"/>
              </a:ext>
            </a:extLst>
          </p:cNvPr>
          <p:cNvSpPr/>
          <p:nvPr/>
        </p:nvSpPr>
        <p:spPr>
          <a:xfrm>
            <a:off x="4038600" y="666750"/>
            <a:ext cx="6019800" cy="26670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Will document.</a:t>
            </a:r>
          </a:p>
          <a:p>
            <a:pPr algn="ctr"/>
            <a:r>
              <a:rPr lang="en-US" dirty="0"/>
              <a:t>You can accomplish in stages.</a:t>
            </a:r>
          </a:p>
        </p:txBody>
      </p:sp>
    </p:spTree>
    <p:extLst>
      <p:ext uri="{BB962C8B-B14F-4D97-AF65-F5344CB8AC3E}">
        <p14:creationId xmlns:p14="http://schemas.microsoft.com/office/powerpoint/2010/main" val="84144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136189</TotalTime>
  <Words>2763</Words>
  <Application>Microsoft Macintosh PowerPoint</Application>
  <PresentationFormat>On-screen Show (16:9)</PresentationFormat>
  <Paragraphs>335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Century Schoolbook</vt:lpstr>
      <vt:lpstr>Museo For Dell</vt:lpstr>
      <vt:lpstr>Museo Sans For Dell</vt:lpstr>
      <vt:lpstr>Open Sans</vt:lpstr>
      <vt:lpstr>Wingdings</vt:lpstr>
      <vt:lpstr>Office Theme</vt:lpstr>
      <vt:lpstr>PowerPoint Presentation</vt:lpstr>
      <vt:lpstr>PowerPoint Presentation</vt:lpstr>
      <vt:lpstr>Contents</vt:lpstr>
      <vt:lpstr>PowerPoint Presentation</vt:lpstr>
      <vt:lpstr>Team Presentations and Updates</vt:lpstr>
      <vt:lpstr>PowerPoint Presentation</vt:lpstr>
      <vt:lpstr>Project Status and Sprints</vt:lpstr>
      <vt:lpstr>PowerPoint Presentation</vt:lpstr>
      <vt:lpstr>HTTP Status Codes</vt:lpstr>
      <vt:lpstr>Which Ones do I Care about for your Project</vt:lpstr>
      <vt:lpstr>Which Ones do I Care about for your Project</vt:lpstr>
      <vt:lpstr>201 – Created </vt:lpstr>
      <vt:lpstr>201 – Created </vt:lpstr>
      <vt:lpstr>202 – Accepted </vt:lpstr>
      <vt:lpstr>202 – Accepted</vt:lpstr>
      <vt:lpstr>202 – Accepted</vt:lpstr>
      <vt:lpstr>202 Accepted</vt:lpstr>
      <vt:lpstr>PowerPoint Presentation</vt:lpstr>
      <vt:lpstr>Composition – Somewhat Contrived Exampl</vt:lpstr>
      <vt:lpstr>Logical Microservice Layers</vt:lpstr>
      <vt:lpstr>Composite Microservice</vt:lpstr>
      <vt:lpstr>Composite Resources and Microservice</vt:lpstr>
      <vt:lpstr>Composite Microservice Logic</vt:lpstr>
      <vt:lpstr>Behavioral Composition</vt:lpstr>
      <vt:lpstr>Concepts</vt:lpstr>
      <vt:lpstr>Implementing Composite Operations</vt:lpstr>
      <vt:lpstr>Google Cloud Workflow</vt:lpstr>
      <vt:lpstr>AWS Step Functions</vt:lpstr>
      <vt:lpstr>In Code: Composition and Asynchronous Method Invocation</vt:lpstr>
      <vt:lpstr>In Code: Service Orchestration/Composition</vt:lpstr>
      <vt:lpstr>Synchronous/Asynchronous Show Code</vt:lpstr>
      <vt:lpstr>Threads and Coroutines</vt:lpstr>
      <vt:lpstr>For Now, … …</vt:lpstr>
      <vt:lpstr>PowerPoint Presentation</vt:lpstr>
      <vt:lpstr>PowerPoint Presentation</vt:lpstr>
      <vt:lpstr>Cloud Layers</vt:lpstr>
      <vt:lpstr>Function-as-a-Service Principles</vt:lpstr>
      <vt:lpstr>Google Cloud Functions</vt:lpstr>
      <vt:lpstr>Scenario</vt:lpstr>
      <vt:lpstr>Project Walkthrough</vt:lpstr>
      <vt:lpstr>Show Code</vt:lpstr>
      <vt:lpstr>PowerPoint Presentation</vt:lpstr>
      <vt:lpstr>12 Factor Applications</vt:lpstr>
      <vt:lpstr>Dependencies</vt:lpstr>
      <vt:lpstr>III. Configurations</vt:lpstr>
      <vt:lpstr>IV. Backing Services</vt:lpstr>
      <vt:lpstr>PowerPoint Presentation</vt:lpstr>
      <vt:lpstr>Next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Donald Ferguson</cp:lastModifiedBy>
  <cp:revision>642</cp:revision>
  <cp:lastPrinted>2018-11-15T21:01:50Z</cp:lastPrinted>
  <dcterms:created xsi:type="dcterms:W3CDTF">2010-04-12T23:12:02Z</dcterms:created>
  <dcterms:modified xsi:type="dcterms:W3CDTF">2025-11-03T12:28:34Z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