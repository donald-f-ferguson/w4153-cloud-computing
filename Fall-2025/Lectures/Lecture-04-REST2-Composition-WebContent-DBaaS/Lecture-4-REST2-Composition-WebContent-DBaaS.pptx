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Lst>
  <p:notesMasterIdLst>
    <p:notesMasterId r:id="rId60"/>
  </p:notesMasterIdLst>
  <p:handoutMasterIdLst>
    <p:handoutMasterId r:id="rId61"/>
  </p:handoutMasterIdLst>
  <p:sldIdLst>
    <p:sldId id="972" r:id="rId5"/>
    <p:sldId id="2144867370" r:id="rId6"/>
    <p:sldId id="1066" r:id="rId7"/>
    <p:sldId id="2144867371" r:id="rId8"/>
    <p:sldId id="2144867400" r:id="rId9"/>
    <p:sldId id="1099" r:id="rId10"/>
    <p:sldId id="1160" r:id="rId11"/>
    <p:sldId id="1157" r:id="rId12"/>
    <p:sldId id="1020" r:id="rId13"/>
    <p:sldId id="1018" r:id="rId14"/>
    <p:sldId id="1024" r:id="rId15"/>
    <p:sldId id="1019" r:id="rId16"/>
    <p:sldId id="1021" r:id="rId17"/>
    <p:sldId id="1022" r:id="rId18"/>
    <p:sldId id="2144867402" r:id="rId19"/>
    <p:sldId id="2144867401" r:id="rId20"/>
    <p:sldId id="2144867372" r:id="rId21"/>
    <p:sldId id="2144867388" r:id="rId22"/>
    <p:sldId id="2144867389" r:id="rId23"/>
    <p:sldId id="2144867397" r:id="rId24"/>
    <p:sldId id="2144867393" r:id="rId25"/>
    <p:sldId id="2144867391" r:id="rId26"/>
    <p:sldId id="2144867392" r:id="rId27"/>
    <p:sldId id="2144867319" r:id="rId28"/>
    <p:sldId id="2144867394" r:id="rId29"/>
    <p:sldId id="2144867395" r:id="rId30"/>
    <p:sldId id="2144867396" r:id="rId31"/>
    <p:sldId id="2144867373" r:id="rId32"/>
    <p:sldId id="2144867377" r:id="rId33"/>
    <p:sldId id="2144867378" r:id="rId34"/>
    <p:sldId id="2144867379" r:id="rId35"/>
    <p:sldId id="2144867380" r:id="rId36"/>
    <p:sldId id="2144867381" r:id="rId37"/>
    <p:sldId id="2144867382" r:id="rId38"/>
    <p:sldId id="2144867383" r:id="rId39"/>
    <p:sldId id="2144867384" r:id="rId40"/>
    <p:sldId id="2144867385" r:id="rId41"/>
    <p:sldId id="2144867386" r:id="rId42"/>
    <p:sldId id="2144867404" r:id="rId43"/>
    <p:sldId id="2144867374" r:id="rId44"/>
    <p:sldId id="2144867352" r:id="rId45"/>
    <p:sldId id="2144867353" r:id="rId46"/>
    <p:sldId id="2144867354" r:id="rId47"/>
    <p:sldId id="2144867356" r:id="rId48"/>
    <p:sldId id="2144867357" r:id="rId49"/>
    <p:sldId id="2144867359" r:id="rId50"/>
    <p:sldId id="2144867403" r:id="rId51"/>
    <p:sldId id="2144867375" r:id="rId52"/>
    <p:sldId id="953" r:id="rId53"/>
    <p:sldId id="1209" r:id="rId54"/>
    <p:sldId id="2144867399" r:id="rId55"/>
    <p:sldId id="1124" r:id="rId56"/>
    <p:sldId id="2144867341" r:id="rId57"/>
    <p:sldId id="2144867342" r:id="rId58"/>
    <p:sldId id="2144867344" r:id="rId59"/>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2C64"/>
    <a:srgbClr val="05B0A0"/>
    <a:srgbClr val="32A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717"/>
    <p:restoredTop sz="96654"/>
  </p:normalViewPr>
  <p:slideViewPr>
    <p:cSldViewPr snapToObjects="1">
      <p:cViewPr varScale="1">
        <p:scale>
          <a:sx n="179" d="100"/>
          <a:sy n="179" d="100"/>
        </p:scale>
        <p:origin x="2256" y="1088"/>
      </p:cViewPr>
      <p:guideLst>
        <p:guide orient="horz" pos="1620"/>
        <p:guide pos="2880"/>
      </p:guideLst>
    </p:cSldViewPr>
  </p:slideViewPr>
  <p:outlineViewPr>
    <p:cViewPr>
      <p:scale>
        <a:sx n="33" d="100"/>
        <a:sy n="33" d="100"/>
      </p:scale>
      <p:origin x="0" y="-36920"/>
    </p:cViewPr>
  </p:outlineViewPr>
  <p:notesTextViewPr>
    <p:cViewPr>
      <p:scale>
        <a:sx n="100" d="100"/>
        <a:sy n="100" d="100"/>
      </p:scale>
      <p:origin x="0" y="0"/>
    </p:cViewPr>
  </p:notesTextViewPr>
  <p:sorterViewPr>
    <p:cViewPr>
      <p:scale>
        <a:sx n="1" d="1"/>
        <a:sy n="1" d="1"/>
      </p:scale>
      <p:origin x="0" y="-1764"/>
    </p:cViewPr>
  </p:sorterViewPr>
  <p:notesViewPr>
    <p:cSldViewPr snapToObjects="1">
      <p:cViewPr varScale="1">
        <p:scale>
          <a:sx n="107" d="100"/>
          <a:sy n="107" d="100"/>
        </p:scale>
        <p:origin x="3648"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AFB2AC-7E4F-8047-9193-854483C1A223}" type="datetimeFigureOut">
              <a:rPr lang="en-US" smtClean="0"/>
              <a:t>10/9/25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1CE209-2B77-6A4B-8F32-9DF4E1CE944B}" type="slidenum">
              <a:rPr lang="en-US" smtClean="0"/>
              <a:t>‹#›</a:t>
            </a:fld>
            <a:endParaRPr lang="en-US"/>
          </a:p>
        </p:txBody>
      </p:sp>
    </p:spTree>
    <p:extLst>
      <p:ext uri="{BB962C8B-B14F-4D97-AF65-F5344CB8AC3E}">
        <p14:creationId xmlns:p14="http://schemas.microsoft.com/office/powerpoint/2010/main" val="816257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A9567C9F-4D7F-5847-BD8F-556675060DA1}" type="datetimeFigureOut">
              <a:rPr lang="en-US" altLang="en-US"/>
              <a:pPr/>
              <a:t>10/9/25</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5D6415B-586E-2B45-B637-70E4CB56C15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128"/>
        <a:cs typeface="+mn-cs"/>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50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50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CFD365BF-ADBE-9B41-ABF1-832DDE2B814C}" type="slidenum">
              <a:rPr lang="en-US" altLang="en-US"/>
              <a:pPr/>
              <a:t>1</a:t>
            </a:fld>
            <a:endParaRPr lang="en-US" altLang="en-US"/>
          </a:p>
        </p:txBody>
      </p:sp>
    </p:spTree>
    <p:extLst>
      <p:ext uri="{BB962C8B-B14F-4D97-AF65-F5344CB8AC3E}">
        <p14:creationId xmlns:p14="http://schemas.microsoft.com/office/powerpoint/2010/main" val="4022331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6D414-7C0D-5C45-DB2D-B3FF7D8AC256}"/>
            </a:ext>
          </a:extLst>
        </p:cNvPr>
        <p:cNvGrpSpPr/>
        <p:nvPr/>
      </p:nvGrpSpPr>
      <p:grpSpPr>
        <a:xfrm>
          <a:off x="0" y="0"/>
          <a:ext cx="0" cy="0"/>
          <a:chOff x="0" y="0"/>
          <a:chExt cx="0" cy="0"/>
        </a:xfrm>
      </p:grpSpPr>
      <p:sp>
        <p:nvSpPr>
          <p:cNvPr id="219137" name="Slide Image Placeholder 1">
            <a:extLst>
              <a:ext uri="{FF2B5EF4-FFF2-40B4-BE49-F238E27FC236}">
                <a16:creationId xmlns:a16="http://schemas.microsoft.com/office/drawing/2014/main" id="{5E08BB8B-F694-7D05-9BE0-DF11A7E32329}"/>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9138" name="Notes Placeholder 2">
            <a:extLst>
              <a:ext uri="{FF2B5EF4-FFF2-40B4-BE49-F238E27FC236}">
                <a16:creationId xmlns:a16="http://schemas.microsoft.com/office/drawing/2014/main" id="{16D9C5A6-7107-5044-6E5F-FE66AF09DE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19139" name="Slide Number Placeholder 3">
            <a:extLst>
              <a:ext uri="{FF2B5EF4-FFF2-40B4-BE49-F238E27FC236}">
                <a16:creationId xmlns:a16="http://schemas.microsoft.com/office/drawing/2014/main" id="{D03798B6-CF07-41AC-1506-7C11BF0F5C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27EDD166-DF5B-E640-90C2-FE28AE548D5C}" type="slidenum">
              <a:rPr lang="en-US" altLang="en-US"/>
              <a:pPr/>
              <a:t>6</a:t>
            </a:fld>
            <a:endParaRPr lang="en-US" altLang="en-US"/>
          </a:p>
        </p:txBody>
      </p:sp>
    </p:spTree>
    <p:extLst>
      <p:ext uri="{BB962C8B-B14F-4D97-AF65-F5344CB8AC3E}">
        <p14:creationId xmlns:p14="http://schemas.microsoft.com/office/powerpoint/2010/main" val="2874133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2687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A70D68-DE34-0536-BF47-3ED5F130E731}"/>
              </a:ext>
            </a:extLst>
          </p:cNvPr>
          <p:cNvSpPr/>
          <p:nvPr userDrawn="1"/>
        </p:nvSpPr>
        <p:spPr>
          <a:xfrm>
            <a:off x="0" y="438150"/>
            <a:ext cx="9144000" cy="426720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68363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A70D68-DE34-0536-BF47-3ED5F130E731}"/>
              </a:ext>
            </a:extLst>
          </p:cNvPr>
          <p:cNvSpPr/>
          <p:nvPr userDrawn="1"/>
        </p:nvSpPr>
        <p:spPr>
          <a:xfrm>
            <a:off x="0" y="438150"/>
            <a:ext cx="9144000" cy="4267200"/>
          </a:xfrm>
          <a:prstGeom prst="rect">
            <a:avLst/>
          </a:prstGeom>
          <a:solidFill>
            <a:schemeClr val="bg1">
              <a:lumMod val="75000"/>
            </a:schemeClr>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56068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9264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35744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10/9/25</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878251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10/9/25</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1108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10/9/25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1656220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10/9/25</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413398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_and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19050"/>
            <a:ext cx="8279946" cy="387798"/>
          </a:xfrm>
          <a:prstGeom prst="rect">
            <a:avLst/>
          </a:prstGeom>
        </p:spPr>
        <p:txBody>
          <a:bodyPr wrap="square" anchor="t"/>
          <a:lstStyle>
            <a:lvl1pPr algn="l">
              <a:lnSpc>
                <a:spcPct val="90000"/>
              </a:lnSpc>
              <a:defRPr sz="2800" b="0">
                <a:solidFill>
                  <a:schemeClr val="bg1"/>
                </a:solidFill>
                <a:latin typeface="Century Schoolbook" charset="0"/>
                <a:ea typeface="Century Schoolbook" charset="0"/>
                <a:cs typeface="Century Schoolbook" charset="0"/>
              </a:defRPr>
            </a:lvl1pPr>
          </a:lstStyle>
          <a:p>
            <a:r>
              <a:rPr lang="en-US" dirty="0"/>
              <a:t>Click to edit master title </a:t>
            </a:r>
          </a:p>
        </p:txBody>
      </p:sp>
      <p:sp>
        <p:nvSpPr>
          <p:cNvPr id="3" name="Content Placeholder 2"/>
          <p:cNvSpPr>
            <a:spLocks noGrp="1"/>
          </p:cNvSpPr>
          <p:nvPr>
            <p:ph sz="half" idx="1" hasCustomPrompt="1"/>
          </p:nvPr>
        </p:nvSpPr>
        <p:spPr>
          <a:xfrm>
            <a:off x="228600" y="819150"/>
            <a:ext cx="8495740" cy="3696094"/>
          </a:xfrm>
          <a:prstGeom prst="rect">
            <a:avLst/>
          </a:prstGeom>
        </p:spPr>
        <p:txBody>
          <a:bodyPr lIns="0" tIns="0" rIns="0" bIns="0">
            <a:normAutofit/>
          </a:bodyPr>
          <a:lstStyle>
            <a:lvl1pPr>
              <a:spcBef>
                <a:spcPts val="1200"/>
              </a:spcBef>
              <a:spcAft>
                <a:spcPts val="0"/>
              </a:spcAft>
              <a:defRPr sz="1800">
                <a:solidFill>
                  <a:schemeClr val="tx1"/>
                </a:solidFill>
                <a:latin typeface="Century Schoolbook" charset="0"/>
                <a:ea typeface="Century Schoolbook" charset="0"/>
                <a:cs typeface="Century Schoolbook" charset="0"/>
              </a:defRPr>
            </a:lvl1pPr>
            <a:lvl2pPr>
              <a:spcBef>
                <a:spcPts val="300"/>
              </a:spcBef>
              <a:spcAft>
                <a:spcPts val="0"/>
              </a:spcAft>
              <a:buFont typeface="Museo Sans For Dell" pitchFamily="2" charset="0"/>
              <a:buChar char="–"/>
              <a:defRPr sz="1600">
                <a:solidFill>
                  <a:schemeClr val="tx1"/>
                </a:solidFill>
                <a:latin typeface="Century Schoolbook" charset="0"/>
                <a:ea typeface="Century Schoolbook" charset="0"/>
                <a:cs typeface="Century Schoolbook" charset="0"/>
              </a:defRPr>
            </a:lvl2pPr>
            <a:lvl3pPr>
              <a:spcBef>
                <a:spcPts val="300"/>
              </a:spcBef>
              <a:spcAft>
                <a:spcPts val="0"/>
              </a:spcAft>
              <a:defRPr sz="1400">
                <a:solidFill>
                  <a:schemeClr val="tx1"/>
                </a:solidFill>
                <a:latin typeface="Century Schoolbook" charset="0"/>
                <a:ea typeface="Century Schoolbook" charset="0"/>
                <a:cs typeface="Century Schoolbook" charset="0"/>
              </a:defRPr>
            </a:lvl3pPr>
            <a:lvl4pPr>
              <a:spcBef>
                <a:spcPts val="300"/>
              </a:spcBef>
              <a:spcAft>
                <a:spcPts val="0"/>
              </a:spcAft>
              <a:defRPr sz="1200" baseline="0">
                <a:solidFill>
                  <a:schemeClr val="tx1"/>
                </a:solidFill>
                <a:latin typeface="Century Schoolbook" charset="0"/>
                <a:ea typeface="Century Schoolbook" charset="0"/>
                <a:cs typeface="Century Schoolbook" charset="0"/>
              </a:defRPr>
            </a:lvl4pPr>
            <a:lvl5pPr>
              <a:spcBef>
                <a:spcPts val="300"/>
              </a:spcBef>
              <a:spcAft>
                <a:spcPts val="0"/>
              </a:spcAft>
              <a:buClr>
                <a:schemeClr val="accent1"/>
              </a:buClr>
              <a:buNone/>
              <a:defRPr sz="1100">
                <a:solidFill>
                  <a:schemeClr val="tx1"/>
                </a:solidFill>
                <a:latin typeface="Museo Sans For Dell" pitchFamily="2" charset="0"/>
              </a:defRPr>
            </a:lvl5pPr>
            <a:lvl6pPr>
              <a:defRPr sz="1800"/>
            </a:lvl6pPr>
            <a:lvl7pPr>
              <a:defRPr sz="1800"/>
            </a:lvl7pPr>
            <a:lvl8pPr>
              <a:defRPr sz="1800"/>
            </a:lvl8pPr>
            <a:lvl9pPr>
              <a:defRPr sz="1800"/>
            </a:lvl9pPr>
          </a:lstStyle>
          <a:p>
            <a:pPr lvl="0"/>
            <a:r>
              <a:rPr lang="en-US" dirty="0"/>
              <a:t>Click to edit text</a:t>
            </a:r>
          </a:p>
          <a:p>
            <a:pPr lvl="1"/>
            <a:r>
              <a:rPr lang="en-US" dirty="0"/>
              <a:t>Second level</a:t>
            </a:r>
          </a:p>
          <a:p>
            <a:pPr lvl="2"/>
            <a:r>
              <a:rPr lang="en-US" dirty="0"/>
              <a:t>Third level</a:t>
            </a:r>
          </a:p>
          <a:p>
            <a:pPr lvl="3"/>
            <a:r>
              <a:rPr lang="en-US" dirty="0"/>
              <a:t>Fourth level</a:t>
            </a:r>
          </a:p>
        </p:txBody>
      </p:sp>
      <p:cxnSp>
        <p:nvCxnSpPr>
          <p:cNvPr id="20" name="Straight Connector 19"/>
          <p:cNvCxnSpPr>
            <a:cxnSpLocks noChangeShapeType="1"/>
          </p:cNvCxnSpPr>
          <p:nvPr/>
        </p:nvCxnSpPr>
        <p:spPr bwMode="auto">
          <a:xfrm>
            <a:off x="436564" y="4629150"/>
            <a:ext cx="8262035" cy="0"/>
          </a:xfrm>
          <a:prstGeom prst="line">
            <a:avLst/>
          </a:prstGeom>
          <a:noFill/>
          <a:ln w="9525">
            <a:solidFill>
              <a:srgbClr val="AAAAAA"/>
            </a:solidFill>
            <a:round/>
            <a:headEnd/>
            <a:tailEnd/>
          </a:ln>
        </p:spPr>
      </p:cxnSp>
    </p:spTree>
    <p:extLst>
      <p:ext uri="{BB962C8B-B14F-4D97-AF65-F5344CB8AC3E}">
        <p14:creationId xmlns:p14="http://schemas.microsoft.com/office/powerpoint/2010/main" val="2084134746"/>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cxnSp>
        <p:nvCxnSpPr>
          <p:cNvPr id="7" name="Straight Connector 6"/>
          <p:cNvCxnSpPr>
            <a:cxnSpLocks noChangeShapeType="1"/>
          </p:cNvCxnSpPr>
          <p:nvPr userDrawn="1"/>
        </p:nvCxnSpPr>
        <p:spPr bwMode="auto">
          <a:xfrm>
            <a:off x="436563" y="4629150"/>
            <a:ext cx="8262035" cy="0"/>
          </a:xfrm>
          <a:prstGeom prst="line">
            <a:avLst/>
          </a:prstGeom>
          <a:noFill/>
          <a:ln w="9525">
            <a:solidFill>
              <a:srgbClr val="AAAAAA"/>
            </a:solidFill>
            <a:round/>
            <a:headEnd/>
            <a:tailEnd/>
          </a:ln>
        </p:spPr>
      </p:cxnSp>
    </p:spTree>
    <p:extLst>
      <p:ext uri="{BB962C8B-B14F-4D97-AF65-F5344CB8AC3E}">
        <p14:creationId xmlns:p14="http://schemas.microsoft.com/office/powerpoint/2010/main" val="2397100260"/>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Blank" userDrawn="1">
  <p:cSld name="1_Blank">
    <p:spTree>
      <p:nvGrpSpPr>
        <p:cNvPr id="1" name="Shape 172"/>
        <p:cNvGrpSpPr/>
        <p:nvPr/>
      </p:nvGrpSpPr>
      <p:grpSpPr>
        <a:xfrm>
          <a:off x="0" y="0"/>
          <a:ext cx="0" cy="0"/>
          <a:chOff x="0" y="0"/>
          <a:chExt cx="0" cy="0"/>
        </a:xfrm>
      </p:grpSpPr>
      <p:sp>
        <p:nvSpPr>
          <p:cNvPr id="173" name="Google Shape;173;p19"/>
          <p:cNvSpPr/>
          <p:nvPr userDrawn="1"/>
        </p:nvSpPr>
        <p:spPr>
          <a:xfrm>
            <a:off x="0" y="-25725"/>
            <a:ext cx="9144000" cy="4731075"/>
          </a:xfrm>
          <a:prstGeom prst="rect">
            <a:avLst/>
          </a:prstGeom>
          <a:solidFill>
            <a:srgbClr val="B9D8EB"/>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cxnSp>
        <p:nvCxnSpPr>
          <p:cNvPr id="176" name="Google Shape;176;p19"/>
          <p:cNvCxnSpPr>
            <a:cxnSpLocks/>
          </p:cNvCxnSpPr>
          <p:nvPr userDrawn="1"/>
        </p:nvCxnSpPr>
        <p:spPr>
          <a:xfrm>
            <a:off x="0" y="514350"/>
            <a:ext cx="9121350" cy="0"/>
          </a:xfrm>
          <a:prstGeom prst="straightConnector1">
            <a:avLst/>
          </a:prstGeom>
          <a:noFill/>
          <a:ln w="28575" cap="flat" cmpd="sng">
            <a:solidFill>
              <a:schemeClr val="lt1"/>
            </a:solidFill>
            <a:prstDash val="solid"/>
            <a:round/>
            <a:headEnd type="none" w="med" len="med"/>
            <a:tailEnd type="none" w="med" len="med"/>
          </a:ln>
        </p:spPr>
      </p:cxnSp>
      <p:sp>
        <p:nvSpPr>
          <p:cNvPr id="179" name="Google Shape;179;p19"/>
          <p:cNvSpPr txBox="1">
            <a:spLocks noGrp="1"/>
          </p:cNvSpPr>
          <p:nvPr>
            <p:ph type="body" idx="3"/>
          </p:nvPr>
        </p:nvSpPr>
        <p:spPr>
          <a:xfrm>
            <a:off x="172570" y="590550"/>
            <a:ext cx="8345107" cy="3969781"/>
          </a:xfrm>
          <a:prstGeom prst="rect">
            <a:avLst/>
          </a:prstGeom>
          <a:noFill/>
          <a:ln>
            <a:noFill/>
          </a:ln>
        </p:spPr>
        <p:txBody>
          <a:bodyPr spcFirstLastPara="1" wrap="square" lIns="91425" tIns="45700" rIns="91425" bIns="45700" anchor="t" anchorCtr="0">
            <a:noAutofit/>
          </a:bodyPr>
          <a:lstStyle>
            <a:lvl1pPr marL="342900" lvl="0" indent="-257175" algn="l" rtl="0">
              <a:lnSpc>
                <a:spcPct val="90000"/>
              </a:lnSpc>
              <a:spcBef>
                <a:spcPts val="750"/>
              </a:spcBef>
              <a:spcAft>
                <a:spcPts val="0"/>
              </a:spcAft>
              <a:buClr>
                <a:schemeClr val="dk1"/>
              </a:buClr>
              <a:buSzPts val="1800"/>
              <a:buChar char="•"/>
              <a:defRPr sz="2000">
                <a:solidFill>
                  <a:schemeClr val="dk1"/>
                </a:solidFill>
              </a:defRPr>
            </a:lvl1pPr>
            <a:lvl2pPr marL="685800" lvl="1" indent="-257175" algn="l" rtl="0">
              <a:lnSpc>
                <a:spcPct val="90000"/>
              </a:lnSpc>
              <a:spcBef>
                <a:spcPts val="375"/>
              </a:spcBef>
              <a:spcAft>
                <a:spcPts val="0"/>
              </a:spcAft>
              <a:buClr>
                <a:schemeClr val="dk1"/>
              </a:buClr>
              <a:buSzPts val="1800"/>
              <a:buFont typeface="Arial" panose="020B0604020202020204" pitchFamily="34" charset="0"/>
              <a:buChar char="•"/>
              <a:defRPr sz="1600">
                <a:solidFill>
                  <a:schemeClr val="dk1"/>
                </a:solidFill>
              </a:defRPr>
            </a:lvl2pPr>
            <a:lvl3pPr marL="1028700" lvl="2" indent="-257175" algn="l" rtl="0">
              <a:lnSpc>
                <a:spcPct val="90000"/>
              </a:lnSpc>
              <a:spcBef>
                <a:spcPts val="375"/>
              </a:spcBef>
              <a:spcAft>
                <a:spcPts val="0"/>
              </a:spcAft>
              <a:buClr>
                <a:schemeClr val="dk1"/>
              </a:buClr>
              <a:buSzPts val="1800"/>
              <a:buFont typeface="Wingdings" pitchFamily="2" charset="2"/>
              <a:buChar char="§"/>
              <a:defRPr sz="1400">
                <a:solidFill>
                  <a:schemeClr val="dk1"/>
                </a:solidFill>
              </a:defRPr>
            </a:lvl3pPr>
            <a:lvl4pPr marL="1371600" lvl="3" indent="-257175" algn="l" rtl="0">
              <a:lnSpc>
                <a:spcPct val="90000"/>
              </a:lnSpc>
              <a:spcBef>
                <a:spcPts val="375"/>
              </a:spcBef>
              <a:spcAft>
                <a:spcPts val="0"/>
              </a:spcAft>
              <a:buClr>
                <a:schemeClr val="dk1"/>
              </a:buClr>
              <a:buSzPts val="1800"/>
              <a:buChar char="•"/>
              <a:defRPr>
                <a:solidFill>
                  <a:schemeClr val="dk1"/>
                </a:solidFill>
              </a:defRPr>
            </a:lvl4pPr>
            <a:lvl5pPr marL="1714500" lvl="4" indent="-257175" algn="l" rtl="0">
              <a:lnSpc>
                <a:spcPct val="90000"/>
              </a:lnSpc>
              <a:spcBef>
                <a:spcPts val="375"/>
              </a:spcBef>
              <a:spcAft>
                <a:spcPts val="0"/>
              </a:spcAft>
              <a:buClr>
                <a:schemeClr val="dk1"/>
              </a:buClr>
              <a:buSzPts val="1800"/>
              <a:buChar char="•"/>
              <a:defRPr>
                <a:solidFill>
                  <a:schemeClr val="dk1"/>
                </a:solidFill>
              </a:defRPr>
            </a:lvl5pPr>
            <a:lvl6pPr marL="2057400" lvl="5" indent="-257175" algn="l" rtl="0">
              <a:lnSpc>
                <a:spcPct val="90000"/>
              </a:lnSpc>
              <a:spcBef>
                <a:spcPts val="375"/>
              </a:spcBef>
              <a:spcAft>
                <a:spcPts val="0"/>
              </a:spcAft>
              <a:buSzPts val="1800"/>
              <a:buChar char="•"/>
              <a:defRPr/>
            </a:lvl6pPr>
            <a:lvl7pPr marL="2400300" lvl="6" indent="-257175" algn="l" rtl="0">
              <a:lnSpc>
                <a:spcPct val="90000"/>
              </a:lnSpc>
              <a:spcBef>
                <a:spcPts val="375"/>
              </a:spcBef>
              <a:spcAft>
                <a:spcPts val="0"/>
              </a:spcAft>
              <a:buSzPts val="1800"/>
              <a:buChar char="•"/>
              <a:defRPr/>
            </a:lvl7pPr>
            <a:lvl8pPr marL="2743200" lvl="7" indent="-257175" algn="l" rtl="0">
              <a:lnSpc>
                <a:spcPct val="90000"/>
              </a:lnSpc>
              <a:spcBef>
                <a:spcPts val="375"/>
              </a:spcBef>
              <a:spcAft>
                <a:spcPts val="0"/>
              </a:spcAft>
              <a:buSzPts val="1800"/>
              <a:buChar char="•"/>
              <a:defRPr/>
            </a:lvl8pPr>
            <a:lvl9pPr marL="3086100" lvl="8" indent="-257175" algn="l" rtl="0">
              <a:lnSpc>
                <a:spcPct val="90000"/>
              </a:lnSpc>
              <a:spcBef>
                <a:spcPts val="375"/>
              </a:spcBef>
              <a:spcAft>
                <a:spcPts val="0"/>
              </a:spcAft>
              <a:buSzPts val="1800"/>
              <a:buChar char="•"/>
              <a:defRPr/>
            </a:lvl9pPr>
          </a:lstStyle>
          <a:p>
            <a:endParaRPr lang="en-US" dirty="0"/>
          </a:p>
          <a:p>
            <a:pPr lvl="1"/>
            <a:endParaRPr lang="en-US" sz="1600" dirty="0"/>
          </a:p>
          <a:p>
            <a:pPr lvl="2"/>
            <a:endParaRPr dirty="0"/>
          </a:p>
        </p:txBody>
      </p:sp>
      <p:sp>
        <p:nvSpPr>
          <p:cNvPr id="3" name="Title 1">
            <a:extLst>
              <a:ext uri="{FF2B5EF4-FFF2-40B4-BE49-F238E27FC236}">
                <a16:creationId xmlns:a16="http://schemas.microsoft.com/office/drawing/2014/main" id="{29D1C08B-D8A4-7705-2509-DC8D07E9A69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155656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153987" y="4793503"/>
            <a:ext cx="6781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0EE15EB3-3077-C740-8089-CCA1B2033312}" type="slidenum">
              <a:rPr lang="en-US" altLang="en-US" sz="900" b="0">
                <a:solidFill>
                  <a:schemeClr val="bg1"/>
                </a:solidFill>
              </a:rPr>
              <a:pPr/>
              <a:t>‹#›</a:t>
            </a:fld>
            <a:r>
              <a:rPr lang="en-US" altLang="en-US" sz="900" b="0" dirty="0">
                <a:solidFill>
                  <a:schemeClr val="bg1"/>
                </a:solidFill>
              </a:rPr>
              <a:t> </a:t>
            </a:r>
            <a:r>
              <a:rPr lang="en-US" altLang="en-US" sz="900" b="1" dirty="0">
                <a:solidFill>
                  <a:schemeClr val="bg1"/>
                </a:solidFill>
              </a:rPr>
              <a:t>W4153-Lecture 4-REST2-Composition-WebContent-DBaaS</a:t>
            </a:r>
            <a:r>
              <a:rPr lang="en-US" altLang="en-US" sz="900" b="0" i="1" baseline="0" dirty="0">
                <a:solidFill>
                  <a:schemeClr val="bg1"/>
                </a:solidFill>
              </a:rPr>
              <a:t>	</a:t>
            </a:r>
            <a:r>
              <a:rPr lang="en-US" altLang="en-US" sz="1050" b="0" i="1" baseline="0" dirty="0">
                <a:solidFill>
                  <a:schemeClr val="bg1"/>
                </a:solidFill>
              </a:rPr>
              <a:t>		</a:t>
            </a:r>
            <a:r>
              <a:rPr lang="de-DE" altLang="en-US" sz="900" b="0" i="1" dirty="0">
                <a:solidFill>
                  <a:schemeClr val="bg1"/>
                </a:solidFill>
              </a:rPr>
              <a:t>© Donald F. Ferguson, 2025</a:t>
            </a:r>
            <a:endParaRPr lang="en-US" altLang="en-US" sz="900" b="0" i="1" dirty="0">
              <a:solidFill>
                <a:schemeClr val="bg1"/>
              </a:solidFill>
            </a:endParaRPr>
          </a:p>
        </p:txBody>
      </p:sp>
      <p:pic>
        <p:nvPicPr>
          <p:cNvPr id="12" name="Picture 10"/>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cSld>
  <p:clrMap bg1="lt1" tx1="dk1" bg2="lt2" tx2="dk2" accent1="accent1" accent2="accent2" accent3="accent3" accent4="accent4" accent5="accent5" accent6="accent6" hlink="hlink" folHlink="folHlink"/>
  <p:sldLayoutIdLst>
    <p:sldLayoutId id="2147493469" r:id="rId1"/>
    <p:sldLayoutId id="2147493591" r:id="rId2"/>
    <p:sldLayoutId id="2147493592" r:id="rId3"/>
    <p:sldLayoutId id="2147493474" r:id="rId4"/>
    <p:sldLayoutId id="2147493586" r:id="rId5"/>
    <p:sldLayoutId id="2147493478" r:id="rId6"/>
    <p:sldLayoutId id="2147493475" r:id="rId7"/>
    <p:sldLayoutId id="2147493476" r:id="rId8"/>
    <p:sldLayoutId id="2147493477" r:id="rId9"/>
    <p:sldLayoutId id="2147493589" r:id="rId10"/>
    <p:sldLayoutId id="2147493593" r:id="rId11"/>
    <p:sldLayoutId id="2147493595" r:id="rId12"/>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restfulapi.net/rest-architectural-constraints/" TargetMode="External"/><Relationship Id="rId2" Type="http://schemas.openxmlformats.org/officeDocument/2006/relationships/hyperlink" Target="https://www.ics.uci.edu/~fielding/pubs/dissertation/rest_arch_style.htm"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restfulapi.net/" TargetMode="External"/><Relationship Id="rId7" Type="http://schemas.openxmlformats.org/officeDocument/2006/relationships/hyperlink" Target="http://api.contoso.com/api/students/dff9/courses/COMSW4153_002_2024_001/projects" TargetMode="External"/><Relationship Id="rId2" Type="http://schemas.openxmlformats.org/officeDocument/2006/relationships/hyperlink" Target="https://www.restapitutorial.com/introduction" TargetMode="External"/><Relationship Id="rId1" Type="http://schemas.openxmlformats.org/officeDocument/2006/relationships/slideLayout" Target="../slideLayouts/slideLayout1.xml"/><Relationship Id="rId6" Type="http://schemas.openxmlformats.org/officeDocument/2006/relationships/hyperlink" Target="http://api.contoso.com/api/students/dff9" TargetMode="External"/><Relationship Id="rId5" Type="http://schemas.openxmlformats.org/officeDocument/2006/relationships/hyperlink" Target="http://api.contoso.com/api/students" TargetMode="External"/><Relationship Id="rId4" Type="http://schemas.openxmlformats.org/officeDocument/2006/relationships/hyperlink" Target="https://learn.microsoft.com/en-us/azure/architecture/best-practices/api-desig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7.tiff"/><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camunda.com/bpmn/"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hyperlink" Target="https://www.educba.com/mysql-blob/" TargetMode="External"/><Relationship Id="rId2" Type="http://schemas.openxmlformats.org/officeDocument/2006/relationships/hyperlink" Target="https://en.wikipedia.org/wiki/Binary_large_object"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e6156f20site.s3.us-east-2.amazonaws.com/index.html"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E15D65-8053-1B4E-B089-18B4089AAFB8}"/>
              </a:ext>
            </a:extLst>
          </p:cNvPr>
          <p:cNvPicPr>
            <a:picLocks noChangeAspect="1"/>
          </p:cNvPicPr>
          <p:nvPr/>
        </p:nvPicPr>
        <p:blipFill>
          <a:blip r:embed="rId3"/>
          <a:stretch>
            <a:fillRect/>
          </a:stretch>
        </p:blipFill>
        <p:spPr>
          <a:xfrm>
            <a:off x="-2" y="-1"/>
            <a:ext cx="9144001" cy="5143501"/>
          </a:xfrm>
          <a:prstGeom prst="rect">
            <a:avLst/>
          </a:prstGeom>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3075"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9"/>
          <p:cNvSpPr txBox="1">
            <a:spLocks noChangeArrowheads="1"/>
          </p:cNvSpPr>
          <p:nvPr/>
        </p:nvSpPr>
        <p:spPr bwMode="auto">
          <a:xfrm>
            <a:off x="-2" y="1"/>
            <a:ext cx="914400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b="1" i="1" dirty="0"/>
              <a:t>W4153 – Cloud Computing</a:t>
            </a:r>
            <a:br>
              <a:rPr lang="en-US" altLang="en-US" sz="4400" b="1" i="1" dirty="0"/>
            </a:br>
            <a:r>
              <a:rPr lang="en-US" altLang="en-US" sz="3600" b="1" i="1" dirty="0"/>
              <a:t>Lecture 4:</a:t>
            </a:r>
            <a:br>
              <a:rPr lang="en-US" altLang="en-US" sz="3600" b="1" i="1" dirty="0"/>
            </a:br>
            <a:r>
              <a:rPr lang="en-US" altLang="en-US" sz="3600" b="1" i="1" dirty="0"/>
              <a:t>REST (Cont.), Composition, Web Content, DBaaS</a:t>
            </a:r>
            <a:endParaRPr lang="en-US" altLang="en-US" sz="4400" b="1" i="1" dirty="0">
              <a:solidFill>
                <a:srgbClr val="FF0000"/>
              </a:solidFill>
            </a:endParaRPr>
          </a:p>
        </p:txBody>
      </p:sp>
      <p:sp>
        <p:nvSpPr>
          <p:cNvPr id="3077" name="TextBox 10"/>
          <p:cNvSpPr txBox="1">
            <a:spLocks noChangeArrowheads="1"/>
          </p:cNvSpPr>
          <p:nvPr/>
        </p:nvSpPr>
        <p:spPr bwMode="auto">
          <a:xfrm>
            <a:off x="0" y="4732991"/>
            <a:ext cx="9144000" cy="363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r>
              <a:rPr lang="en-US" altLang="en-US" sz="1200" i="1" dirty="0">
                <a:solidFill>
                  <a:schemeClr val="bg1"/>
                </a:solidFill>
              </a:rPr>
              <a:t>© Donald F. Ferguson, 2024</a:t>
            </a:r>
          </a:p>
        </p:txBody>
      </p:sp>
    </p:spTree>
    <p:extLst>
      <p:ext uri="{BB962C8B-B14F-4D97-AF65-F5344CB8AC3E}">
        <p14:creationId xmlns:p14="http://schemas.microsoft.com/office/powerpoint/2010/main" val="3485827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a:extLst>
              <a:ext uri="{FF2B5EF4-FFF2-40B4-BE49-F238E27FC236}">
                <a16:creationId xmlns:a16="http://schemas.microsoft.com/office/drawing/2014/main" id="{F1ADD4A1-15DC-2374-2961-0FC3F42CB466}"/>
              </a:ext>
            </a:extLst>
          </p:cNvPr>
          <p:cNvSpPr txBox="1">
            <a:spLocks noChangeArrowheads="1"/>
          </p:cNvSpPr>
          <p:nvPr/>
        </p:nvSpPr>
        <p:spPr bwMode="auto">
          <a:xfrm>
            <a:off x="0" y="1372815"/>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Contents</a:t>
            </a:r>
          </a:p>
          <a:p>
            <a:pPr algn="ctr"/>
            <a:endParaRPr lang="en-US" altLang="en-US" sz="2800" i="1" dirty="0">
              <a:solidFill>
                <a:schemeClr val="bg1"/>
              </a:solidFill>
            </a:endParaRPr>
          </a:p>
        </p:txBody>
      </p:sp>
    </p:spTree>
    <p:extLst>
      <p:ext uri="{BB962C8B-B14F-4D97-AF65-F5344CB8AC3E}">
        <p14:creationId xmlns:p14="http://schemas.microsoft.com/office/powerpoint/2010/main" val="1772029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F4599E-CE24-57D7-8BA9-D0F9E6D68945}"/>
              </a:ext>
            </a:extLst>
          </p:cNvPr>
          <p:cNvSpPr>
            <a:spLocks noGrp="1"/>
          </p:cNvSpPr>
          <p:nvPr>
            <p:ph idx="1"/>
          </p:nvPr>
        </p:nvSpPr>
        <p:spPr/>
        <p:txBody>
          <a:bodyPr/>
          <a:lstStyle/>
          <a:p>
            <a:pPr>
              <a:spcBef>
                <a:spcPts val="0"/>
              </a:spcBef>
              <a:spcAft>
                <a:spcPts val="0"/>
              </a:spcAft>
            </a:pPr>
            <a:r>
              <a:rPr lang="en-US" sz="2400" dirty="0"/>
              <a:t>Course updates</a:t>
            </a:r>
          </a:p>
          <a:p>
            <a:pPr>
              <a:spcBef>
                <a:spcPts val="0"/>
              </a:spcBef>
              <a:spcAft>
                <a:spcPts val="0"/>
              </a:spcAft>
            </a:pPr>
            <a:r>
              <a:rPr lang="en-US" sz="2400" dirty="0"/>
              <a:t>Container-as-a-Service (reminder, review)</a:t>
            </a:r>
          </a:p>
          <a:p>
            <a:pPr>
              <a:spcBef>
                <a:spcPts val="0"/>
              </a:spcBef>
              <a:spcAft>
                <a:spcPts val="0"/>
              </a:spcAft>
            </a:pPr>
            <a:r>
              <a:rPr lang="en-US" sz="2400" dirty="0"/>
              <a:t>REST continued</a:t>
            </a:r>
          </a:p>
          <a:p>
            <a:pPr lvl="1">
              <a:spcBef>
                <a:spcPts val="0"/>
              </a:spcBef>
              <a:spcAft>
                <a:spcPts val="0"/>
              </a:spcAft>
            </a:pPr>
            <a:r>
              <a:rPr lang="en-US" sz="2200" dirty="0"/>
              <a:t>Resources, URLs and parameters.</a:t>
            </a:r>
          </a:p>
          <a:p>
            <a:pPr lvl="1">
              <a:spcBef>
                <a:spcPts val="0"/>
              </a:spcBef>
              <a:spcAft>
                <a:spcPts val="0"/>
              </a:spcAft>
            </a:pPr>
            <a:r>
              <a:rPr lang="en-US" sz="2200" dirty="0"/>
              <a:t>Querying/filtering, pagination, … …</a:t>
            </a:r>
          </a:p>
          <a:p>
            <a:pPr lvl="1">
              <a:spcBef>
                <a:spcPts val="0"/>
              </a:spcBef>
              <a:spcAft>
                <a:spcPts val="0"/>
              </a:spcAft>
            </a:pPr>
            <a:r>
              <a:rPr lang="en-US" sz="2200" dirty="0"/>
              <a:t>Linked data</a:t>
            </a:r>
          </a:p>
          <a:p>
            <a:pPr>
              <a:spcBef>
                <a:spcPts val="0"/>
              </a:spcBef>
              <a:spcAft>
                <a:spcPts val="0"/>
              </a:spcAft>
            </a:pPr>
            <a:r>
              <a:rPr lang="en-US" sz="2400" dirty="0"/>
              <a:t>Service composition</a:t>
            </a:r>
          </a:p>
          <a:p>
            <a:pPr lvl="1">
              <a:spcBef>
                <a:spcPts val="0"/>
              </a:spcBef>
              <a:spcAft>
                <a:spcPts val="0"/>
              </a:spcAft>
            </a:pPr>
            <a:r>
              <a:rPr lang="en-US" sz="2200" dirty="0"/>
              <a:t>Concepts</a:t>
            </a:r>
          </a:p>
          <a:p>
            <a:pPr lvl="1">
              <a:spcBef>
                <a:spcPts val="0"/>
              </a:spcBef>
              <a:spcAft>
                <a:spcPts val="0"/>
              </a:spcAft>
            </a:pPr>
            <a:r>
              <a:rPr lang="en-US" sz="2200" dirty="0"/>
              <a:t>Orchestration</a:t>
            </a:r>
          </a:p>
          <a:p>
            <a:pPr lvl="1">
              <a:spcBef>
                <a:spcPts val="0"/>
              </a:spcBef>
              <a:spcAft>
                <a:spcPts val="0"/>
              </a:spcAft>
            </a:pPr>
            <a:r>
              <a:rPr lang="en-US" sz="2200" dirty="0"/>
              <a:t>Choreography</a:t>
            </a:r>
          </a:p>
          <a:p>
            <a:pPr lvl="1">
              <a:spcBef>
                <a:spcPts val="0"/>
              </a:spcBef>
              <a:spcAft>
                <a:spcPts val="0"/>
              </a:spcAft>
            </a:pPr>
            <a:endParaRPr lang="en-US" sz="2200" dirty="0"/>
          </a:p>
        </p:txBody>
      </p:sp>
      <p:sp>
        <p:nvSpPr>
          <p:cNvPr id="3" name="Title 2">
            <a:extLst>
              <a:ext uri="{FF2B5EF4-FFF2-40B4-BE49-F238E27FC236}">
                <a16:creationId xmlns:a16="http://schemas.microsoft.com/office/drawing/2014/main" id="{CD201593-564E-99D4-699F-1D25A274EBC2}"/>
              </a:ext>
            </a:extLst>
          </p:cNvPr>
          <p:cNvSpPr>
            <a:spLocks noGrp="1"/>
          </p:cNvSpPr>
          <p:nvPr>
            <p:ph type="title"/>
          </p:nvPr>
        </p:nvSpPr>
        <p:spPr/>
        <p:txBody>
          <a:bodyPr/>
          <a:lstStyle/>
          <a:p>
            <a:r>
              <a:rPr lang="en-US" dirty="0"/>
              <a:t>Contents</a:t>
            </a:r>
          </a:p>
        </p:txBody>
      </p:sp>
    </p:spTree>
    <p:extLst>
      <p:ext uri="{BB962C8B-B14F-4D97-AF65-F5344CB8AC3E}">
        <p14:creationId xmlns:p14="http://schemas.microsoft.com/office/powerpoint/2010/main" val="1990141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B63A3-7767-E2D3-2435-04C3F56EC499}"/>
            </a:ext>
          </a:extLst>
        </p:cNvPr>
        <p:cNvGrpSpPr/>
        <p:nvPr/>
      </p:nvGrpSpPr>
      <p:grpSpPr>
        <a:xfrm>
          <a:off x="0" y="0"/>
          <a:ext cx="0" cy="0"/>
          <a:chOff x="0" y="0"/>
          <a:chExt cx="0" cy="0"/>
        </a:xfrm>
      </p:grpSpPr>
      <p:sp>
        <p:nvSpPr>
          <p:cNvPr id="2" name="TextBox 8">
            <a:extLst>
              <a:ext uri="{FF2B5EF4-FFF2-40B4-BE49-F238E27FC236}">
                <a16:creationId xmlns:a16="http://schemas.microsoft.com/office/drawing/2014/main" id="{A44AA5CA-0F9B-8021-F0F5-26E0C64ACB79}"/>
              </a:ext>
            </a:extLst>
          </p:cNvPr>
          <p:cNvSpPr txBox="1">
            <a:spLocks noChangeArrowheads="1"/>
          </p:cNvSpPr>
          <p:nvPr/>
        </p:nvSpPr>
        <p:spPr bwMode="auto">
          <a:xfrm>
            <a:off x="0" y="1372815"/>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3600" i="1" dirty="0">
                <a:solidFill>
                  <a:schemeClr val="bg1"/>
                </a:solidFill>
              </a:rPr>
              <a:t>Course Updates</a:t>
            </a:r>
          </a:p>
        </p:txBody>
      </p:sp>
    </p:spTree>
    <p:extLst>
      <p:ext uri="{BB962C8B-B14F-4D97-AF65-F5344CB8AC3E}">
        <p14:creationId xmlns:p14="http://schemas.microsoft.com/office/powerpoint/2010/main" val="2060113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4EB16-16AA-D302-05F0-9D4589C391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323877-D54E-951D-E637-0B77F7359C48}"/>
              </a:ext>
            </a:extLst>
          </p:cNvPr>
          <p:cNvSpPr>
            <a:spLocks noGrp="1"/>
          </p:cNvSpPr>
          <p:nvPr>
            <p:ph idx="1"/>
          </p:nvPr>
        </p:nvSpPr>
        <p:spPr/>
        <p:txBody>
          <a:bodyPr/>
          <a:lstStyle/>
          <a:p>
            <a:pPr>
              <a:spcBef>
                <a:spcPts val="0"/>
              </a:spcBef>
              <a:spcAft>
                <a:spcPts val="0"/>
              </a:spcAft>
            </a:pPr>
            <a:r>
              <a:rPr lang="en-US" sz="2400" dirty="0"/>
              <a:t>I am finally over Covid and will be more active in engaging again.</a:t>
            </a:r>
          </a:p>
          <a:p>
            <a:pPr>
              <a:spcBef>
                <a:spcPts val="0"/>
              </a:spcBef>
              <a:spcAft>
                <a:spcPts val="0"/>
              </a:spcAft>
            </a:pPr>
            <a:endParaRPr lang="en-US" sz="2400" dirty="0"/>
          </a:p>
          <a:p>
            <a:pPr>
              <a:spcBef>
                <a:spcPts val="0"/>
              </a:spcBef>
              <a:spcAft>
                <a:spcPts val="0"/>
              </a:spcAft>
            </a:pPr>
            <a:r>
              <a:rPr lang="en-US" sz="2400" dirty="0"/>
              <a:t>We will publish submission instructions for the first team sprint</a:t>
            </a:r>
            <a:br>
              <a:rPr lang="en-US" sz="2400" dirty="0"/>
            </a:br>
            <a:r>
              <a:rPr lang="en-US" sz="2400" dirty="0"/>
              <a:t>early this weekend. The submission format will be:</a:t>
            </a:r>
          </a:p>
          <a:p>
            <a:pPr lvl="1">
              <a:spcBef>
                <a:spcPts val="0"/>
              </a:spcBef>
              <a:spcAft>
                <a:spcPts val="0"/>
              </a:spcAft>
            </a:pPr>
            <a:r>
              <a:rPr lang="en-US" sz="2200" dirty="0"/>
              <a:t>A presentation describing what you accomplished.</a:t>
            </a:r>
          </a:p>
          <a:p>
            <a:pPr lvl="1">
              <a:spcBef>
                <a:spcPts val="0"/>
              </a:spcBef>
              <a:spcAft>
                <a:spcPts val="0"/>
              </a:spcAft>
            </a:pPr>
            <a:r>
              <a:rPr lang="en-US" sz="2200" dirty="0"/>
              <a:t>A document, with links, providing more details on what you accomplished.</a:t>
            </a:r>
          </a:p>
          <a:p>
            <a:pPr lvl="1">
              <a:spcBef>
                <a:spcPts val="0"/>
              </a:spcBef>
              <a:spcAft>
                <a:spcPts val="0"/>
              </a:spcAft>
            </a:pPr>
            <a:endParaRPr lang="en-US" sz="2200" dirty="0"/>
          </a:p>
          <a:p>
            <a:pPr>
              <a:spcBef>
                <a:spcPts val="0"/>
              </a:spcBef>
              <a:spcAft>
                <a:spcPts val="0"/>
              </a:spcAft>
            </a:pPr>
            <a:r>
              <a:rPr lang="en-US" sz="2400" dirty="0"/>
              <a:t>We will cover some concepts required for the next sprint in</a:t>
            </a:r>
            <a:br>
              <a:rPr lang="en-US" sz="2400" dirty="0"/>
            </a:br>
            <a:r>
              <a:rPr lang="en-US" sz="2400" dirty="0"/>
              <a:t>this lecture and the next. You can get started after today.</a:t>
            </a:r>
          </a:p>
        </p:txBody>
      </p:sp>
      <p:sp>
        <p:nvSpPr>
          <p:cNvPr id="3" name="Title 2">
            <a:extLst>
              <a:ext uri="{FF2B5EF4-FFF2-40B4-BE49-F238E27FC236}">
                <a16:creationId xmlns:a16="http://schemas.microsoft.com/office/drawing/2014/main" id="{600C3FEB-9D19-2712-2024-F1D65F93DCA3}"/>
              </a:ext>
            </a:extLst>
          </p:cNvPr>
          <p:cNvSpPr>
            <a:spLocks noGrp="1"/>
          </p:cNvSpPr>
          <p:nvPr>
            <p:ph type="title"/>
          </p:nvPr>
        </p:nvSpPr>
        <p:spPr/>
        <p:txBody>
          <a:bodyPr/>
          <a:lstStyle/>
          <a:p>
            <a:r>
              <a:rPr lang="en-US" dirty="0"/>
              <a:t>Course Updates</a:t>
            </a:r>
          </a:p>
        </p:txBody>
      </p:sp>
    </p:spTree>
    <p:extLst>
      <p:ext uri="{BB962C8B-B14F-4D97-AF65-F5344CB8AC3E}">
        <p14:creationId xmlns:p14="http://schemas.microsoft.com/office/powerpoint/2010/main" val="343131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82A12-F086-2E85-3342-CAFBE883DA79}"/>
            </a:ext>
          </a:extLst>
        </p:cNvPr>
        <p:cNvGrpSpPr/>
        <p:nvPr/>
      </p:nvGrpSpPr>
      <p:grpSpPr>
        <a:xfrm>
          <a:off x="0" y="0"/>
          <a:ext cx="0" cy="0"/>
          <a:chOff x="0" y="0"/>
          <a:chExt cx="0" cy="0"/>
        </a:xfrm>
      </p:grpSpPr>
      <p:pic>
        <p:nvPicPr>
          <p:cNvPr id="10241" name="Picture 11" descr="16x9_BG-08.jpg">
            <a:extLst>
              <a:ext uri="{FF2B5EF4-FFF2-40B4-BE49-F238E27FC236}">
                <a16:creationId xmlns:a16="http://schemas.microsoft.com/office/drawing/2014/main" id="{9FD47584-B5CE-9542-68F2-89FCF92117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3E422AE8-4484-5CDC-C88C-5F450FA7CB7E}"/>
              </a:ext>
            </a:extLst>
          </p:cNvPr>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0243" name="Picture 7">
            <a:extLst>
              <a:ext uri="{FF2B5EF4-FFF2-40B4-BE49-F238E27FC236}">
                <a16:creationId xmlns:a16="http://schemas.microsoft.com/office/drawing/2014/main" id="{4E9E3F7C-CD83-6E66-E35D-C940B40F6A4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8">
            <a:extLst>
              <a:ext uri="{FF2B5EF4-FFF2-40B4-BE49-F238E27FC236}">
                <a16:creationId xmlns:a16="http://schemas.microsoft.com/office/drawing/2014/main" id="{2DB3BDDB-DC0E-B3B1-2673-AC96E1BD3B17}"/>
              </a:ext>
            </a:extLst>
          </p:cNvPr>
          <p:cNvSpPr txBox="1">
            <a:spLocks noChangeArrowheads="1"/>
          </p:cNvSpPr>
          <p:nvPr/>
        </p:nvSpPr>
        <p:spPr bwMode="auto">
          <a:xfrm>
            <a:off x="0" y="18044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CaaS</a:t>
            </a:r>
          </a:p>
        </p:txBody>
      </p:sp>
      <p:sp>
        <p:nvSpPr>
          <p:cNvPr id="8" name="TextBox 9">
            <a:extLst>
              <a:ext uri="{FF2B5EF4-FFF2-40B4-BE49-F238E27FC236}">
                <a16:creationId xmlns:a16="http://schemas.microsoft.com/office/drawing/2014/main" id="{AF00F022-AEA7-433D-24E5-CF11E5CEBA9F}"/>
              </a:ext>
            </a:extLst>
          </p:cNvPr>
          <p:cNvSpPr txBox="1">
            <a:spLocks noChangeArrowheads="1"/>
          </p:cNvSpPr>
          <p:nvPr/>
        </p:nvSpPr>
        <p:spPr bwMode="auto">
          <a:xfrm>
            <a:off x="0" y="4695825"/>
            <a:ext cx="6781800" cy="350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fld id="{A057C3CF-FEF9-2D44-911E-86B89DEEE20D}" type="slidenum">
              <a:rPr lang="en-US" altLang="en-US" sz="800" b="1">
                <a:solidFill>
                  <a:schemeClr val="bg1"/>
                </a:solidFill>
              </a:rPr>
              <a:pPr>
                <a:lnSpc>
                  <a:spcPts val="2400"/>
                </a:lnSpc>
              </a:pPr>
              <a:t>6</a:t>
            </a:fld>
            <a:r>
              <a:rPr lang="en-US" altLang="en-US" sz="800" b="1" dirty="0">
                <a:solidFill>
                  <a:schemeClr val="bg1"/>
                </a:solidFill>
              </a:rPr>
              <a:t> </a:t>
            </a:r>
            <a:r>
              <a:rPr lang="en-US" altLang="en-US" sz="800" dirty="0">
                <a:solidFill>
                  <a:schemeClr val="bg1"/>
                </a:solidFill>
              </a:rPr>
              <a:t>|</a:t>
            </a:r>
            <a:r>
              <a:rPr lang="en-US" altLang="en-US" sz="800" b="1" dirty="0">
                <a:solidFill>
                  <a:schemeClr val="bg1"/>
                </a:solidFill>
              </a:rPr>
              <a:t> W4153-24F-L3-Rest(2)-Microservices(2)-CaaS-</a:t>
            </a:r>
            <a:r>
              <a:rPr lang="en-US" altLang="en-US" sz="800" b="1" dirty="0" err="1">
                <a:solidFill>
                  <a:schemeClr val="bg1"/>
                </a:solidFill>
              </a:rPr>
              <a:t>web_content</a:t>
            </a:r>
            <a:r>
              <a:rPr lang="en-US" altLang="en-US" sz="800" b="1" dirty="0">
                <a:solidFill>
                  <a:schemeClr val="bg1"/>
                </a:solidFill>
              </a:rPr>
              <a:t>-DB				© Donald F. Ferguson, 2024</a:t>
            </a:r>
            <a:endParaRPr lang="en-US" altLang="en-US" sz="800" i="1" dirty="0">
              <a:solidFill>
                <a:schemeClr val="bg1"/>
              </a:solidFill>
            </a:endParaRPr>
          </a:p>
        </p:txBody>
      </p:sp>
    </p:spTree>
    <p:extLst>
      <p:ext uri="{BB962C8B-B14F-4D97-AF65-F5344CB8AC3E}">
        <p14:creationId xmlns:p14="http://schemas.microsoft.com/office/powerpoint/2010/main" val="3462436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7B3227-2AF4-B516-817B-AC87C3949924}"/>
              </a:ext>
            </a:extLst>
          </p:cNvPr>
          <p:cNvSpPr>
            <a:spLocks noGrp="1"/>
          </p:cNvSpPr>
          <p:nvPr>
            <p:ph type="title"/>
          </p:nvPr>
        </p:nvSpPr>
        <p:spPr/>
        <p:txBody>
          <a:bodyPr/>
          <a:lstStyle/>
          <a:p>
            <a:r>
              <a:rPr lang="en-US" dirty="0"/>
              <a:t>Cloud Layers</a:t>
            </a:r>
          </a:p>
        </p:txBody>
      </p:sp>
      <p:pic>
        <p:nvPicPr>
          <p:cNvPr id="2050" name="Picture 2" descr="Cloud Deployment Spectrum: On-prem vs IaaS vs CaaS vs PaaS vs FaaS vs SaaS, and what is serverless among these">
            <a:extLst>
              <a:ext uri="{FF2B5EF4-FFF2-40B4-BE49-F238E27FC236}">
                <a16:creationId xmlns:a16="http://schemas.microsoft.com/office/drawing/2014/main" id="{3E9ADDD0-BF79-F802-63B0-D4D605AAFB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550069"/>
            <a:ext cx="7188199" cy="4043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235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7A30C-4D01-5C17-F06E-F206AF60E88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8CDED3B-458D-4F85-9A97-1240B2CB9E49}"/>
              </a:ext>
            </a:extLst>
          </p:cNvPr>
          <p:cNvSpPr>
            <a:spLocks noGrp="1"/>
          </p:cNvSpPr>
          <p:nvPr>
            <p:ph type="body" idx="3"/>
          </p:nvPr>
        </p:nvSpPr>
        <p:spPr>
          <a:xfrm>
            <a:off x="172570" y="3177420"/>
            <a:ext cx="8345107" cy="1507940"/>
          </a:xfrm>
        </p:spPr>
        <p:txBody>
          <a:bodyPr/>
          <a:lstStyle/>
          <a:p>
            <a:r>
              <a:rPr lang="en-US" dirty="0"/>
              <a:t>To understand the concepts, we will “work our way up the stack.”</a:t>
            </a:r>
          </a:p>
          <a:p>
            <a:r>
              <a:rPr lang="en-US" dirty="0"/>
              <a:t>This will help us understand the complexity, pros and cons.</a:t>
            </a:r>
          </a:p>
          <a:p>
            <a:r>
              <a:rPr lang="en-US" dirty="0"/>
              <a:t>This means we start with </a:t>
            </a:r>
            <a:r>
              <a:rPr lang="en-US" i="1" dirty="0"/>
              <a:t>Google Cloud Platform Compute Engine. –</a:t>
            </a:r>
            <a:br>
              <a:rPr lang="en-US" i="1" dirty="0"/>
            </a:br>
            <a:r>
              <a:rPr lang="en-US" dirty="0"/>
              <a:t>The basic building blocks is a “virtual machine.”</a:t>
            </a:r>
          </a:p>
        </p:txBody>
      </p:sp>
      <p:sp>
        <p:nvSpPr>
          <p:cNvPr id="3" name="Title 2">
            <a:extLst>
              <a:ext uri="{FF2B5EF4-FFF2-40B4-BE49-F238E27FC236}">
                <a16:creationId xmlns:a16="http://schemas.microsoft.com/office/drawing/2014/main" id="{84FF078B-48E9-8611-D735-A15C33DA4164}"/>
              </a:ext>
            </a:extLst>
          </p:cNvPr>
          <p:cNvSpPr>
            <a:spLocks noGrp="1"/>
          </p:cNvSpPr>
          <p:nvPr>
            <p:ph type="title"/>
          </p:nvPr>
        </p:nvSpPr>
        <p:spPr/>
        <p:txBody>
          <a:bodyPr/>
          <a:lstStyle/>
          <a:p>
            <a:r>
              <a:rPr lang="en-US" dirty="0"/>
              <a:t>Cloud Layers</a:t>
            </a:r>
          </a:p>
        </p:txBody>
      </p:sp>
      <p:pic>
        <p:nvPicPr>
          <p:cNvPr id="2050" name="Picture 2" descr="Cloud Deployment Spectrum: On-prem vs IaaS vs CaaS vs PaaS vs FaaS vs SaaS, and what is serverless among these">
            <a:extLst>
              <a:ext uri="{FF2B5EF4-FFF2-40B4-BE49-F238E27FC236}">
                <a16:creationId xmlns:a16="http://schemas.microsoft.com/office/drawing/2014/main" id="{A5781D7A-063E-6436-4D3F-89E3CA5FAB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16439"/>
            <a:ext cx="4271433" cy="240268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oogle Compute">
            <a:extLst>
              <a:ext uri="{FF2B5EF4-FFF2-40B4-BE49-F238E27FC236}">
                <a16:creationId xmlns:a16="http://schemas.microsoft.com/office/drawing/2014/main" id="{60B38960-FEF8-3E54-91DE-199398DEFB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884" y="458140"/>
            <a:ext cx="4198938" cy="2719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199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38E562-0615-A44F-940F-0A001B963431}"/>
              </a:ext>
            </a:extLst>
          </p:cNvPr>
          <p:cNvSpPr>
            <a:spLocks noGrp="1"/>
          </p:cNvSpPr>
          <p:nvPr>
            <p:ph idx="1"/>
          </p:nvPr>
        </p:nvSpPr>
        <p:spPr/>
        <p:txBody>
          <a:bodyPr/>
          <a:lstStyle/>
          <a:p>
            <a:r>
              <a:rPr lang="en-US" sz="1800" dirty="0"/>
              <a:t>I have one big computer and I want to run multiple applications.</a:t>
            </a:r>
          </a:p>
          <a:p>
            <a:r>
              <a:rPr lang="en-US" sz="1800" dirty="0"/>
              <a:t>This creates several challenges, e.g.</a:t>
            </a:r>
          </a:p>
          <a:p>
            <a:pPr lvl="1"/>
            <a:r>
              <a:rPr lang="en-US" sz="1600" dirty="0"/>
              <a:t>Resource sharing and allocation (CPU, memory, disk, ... ...)</a:t>
            </a:r>
          </a:p>
          <a:p>
            <a:pPr lvl="1"/>
            <a:r>
              <a:rPr lang="en-US" sz="1600" dirty="0"/>
              <a:t>Isolation: Application A should not be able to corrupt/mess with application B’s files, memory, ... ...</a:t>
            </a:r>
          </a:p>
          <a:p>
            <a:pPr lvl="1"/>
            <a:r>
              <a:rPr lang="en-US" sz="1600" dirty="0"/>
              <a:t>Configuration: Applications require libraries, versions of libraries, prerequisites, compiler/interpreter levels, ... ...</a:t>
            </a:r>
          </a:p>
          <a:p>
            <a:r>
              <a:rPr lang="en-US" sz="1800" dirty="0"/>
              <a:t>Basically, I want a way to someone package or fence all of this.</a:t>
            </a:r>
            <a:br>
              <a:rPr lang="en-US" sz="1800" dirty="0"/>
            </a:br>
            <a:r>
              <a:rPr lang="en-US" sz="1800" dirty="0"/>
              <a:t>We see some of the issues with Java </a:t>
            </a:r>
            <a:r>
              <a:rPr lang="en-US" sz="1800" dirty="0" err="1"/>
              <a:t>Classpath</a:t>
            </a:r>
            <a:r>
              <a:rPr lang="en-US" sz="1800" dirty="0"/>
              <a:t>, Python environments, ...</a:t>
            </a:r>
          </a:p>
          <a:p>
            <a:r>
              <a:rPr lang="en-US" sz="1800" dirty="0"/>
              <a:t>There are a few ways to do this:</a:t>
            </a:r>
          </a:p>
          <a:p>
            <a:pPr lvl="1"/>
            <a:r>
              <a:rPr lang="en-US" sz="1600" dirty="0"/>
              <a:t>OS process and paths.</a:t>
            </a:r>
          </a:p>
          <a:p>
            <a:pPr lvl="1"/>
            <a:r>
              <a:rPr lang="en-US" sz="1600" dirty="0"/>
              <a:t>VMs</a:t>
            </a:r>
          </a:p>
          <a:p>
            <a:pPr lvl="1"/>
            <a:r>
              <a:rPr lang="en-US" sz="1600" dirty="0"/>
              <a:t>Containers</a:t>
            </a:r>
          </a:p>
        </p:txBody>
      </p:sp>
      <p:sp>
        <p:nvSpPr>
          <p:cNvPr id="3" name="Title 2">
            <a:extLst>
              <a:ext uri="{FF2B5EF4-FFF2-40B4-BE49-F238E27FC236}">
                <a16:creationId xmlns:a16="http://schemas.microsoft.com/office/drawing/2014/main" id="{C660AF52-3E14-5A49-87E3-8262DAB19A90}"/>
              </a:ext>
            </a:extLst>
          </p:cNvPr>
          <p:cNvSpPr>
            <a:spLocks noGrp="1"/>
          </p:cNvSpPr>
          <p:nvPr>
            <p:ph type="title"/>
          </p:nvPr>
        </p:nvSpPr>
        <p:spPr/>
        <p:txBody>
          <a:bodyPr/>
          <a:lstStyle/>
          <a:p>
            <a:r>
              <a:rPr lang="en-US" dirty="0"/>
              <a:t>Fundamental, Recurring Problem</a:t>
            </a:r>
          </a:p>
        </p:txBody>
      </p:sp>
    </p:spTree>
    <p:extLst>
      <p:ext uri="{BB962C8B-B14F-4D97-AF65-F5344CB8AC3E}">
        <p14:creationId xmlns:p14="http://schemas.microsoft.com/office/powerpoint/2010/main" val="778915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FA2EFC-44A9-164B-99AA-E554910F9165}"/>
              </a:ext>
            </a:extLst>
          </p:cNvPr>
          <p:cNvSpPr>
            <a:spLocks noGrp="1"/>
          </p:cNvSpPr>
          <p:nvPr>
            <p:ph type="title"/>
          </p:nvPr>
        </p:nvSpPr>
        <p:spPr/>
        <p:txBody>
          <a:bodyPr/>
          <a:lstStyle/>
          <a:p>
            <a:r>
              <a:rPr lang="en-US" dirty="0"/>
              <a:t>Containers and VMs</a:t>
            </a:r>
          </a:p>
        </p:txBody>
      </p:sp>
      <p:pic>
        <p:nvPicPr>
          <p:cNvPr id="4" name="Picture 3">
            <a:extLst>
              <a:ext uri="{FF2B5EF4-FFF2-40B4-BE49-F238E27FC236}">
                <a16:creationId xmlns:a16="http://schemas.microsoft.com/office/drawing/2014/main" id="{7EF4B30F-A03B-E446-AD1D-55D0EB28651A}"/>
              </a:ext>
            </a:extLst>
          </p:cNvPr>
          <p:cNvPicPr>
            <a:picLocks noChangeAspect="1"/>
          </p:cNvPicPr>
          <p:nvPr/>
        </p:nvPicPr>
        <p:blipFill>
          <a:blip r:embed="rId2"/>
          <a:stretch>
            <a:fillRect/>
          </a:stretch>
        </p:blipFill>
        <p:spPr>
          <a:xfrm>
            <a:off x="1066800" y="666750"/>
            <a:ext cx="6217444" cy="3989803"/>
          </a:xfrm>
          <a:prstGeom prst="rect">
            <a:avLst/>
          </a:prstGeom>
        </p:spPr>
      </p:pic>
    </p:spTree>
    <p:extLst>
      <p:ext uri="{BB962C8B-B14F-4D97-AF65-F5344CB8AC3E}">
        <p14:creationId xmlns:p14="http://schemas.microsoft.com/office/powerpoint/2010/main" val="246292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EB3937-4BD3-104D-ADA0-7C7372E5E527}"/>
              </a:ext>
            </a:extLst>
          </p:cNvPr>
          <p:cNvSpPr>
            <a:spLocks noGrp="1"/>
          </p:cNvSpPr>
          <p:nvPr>
            <p:ph idx="1"/>
          </p:nvPr>
        </p:nvSpPr>
        <p:spPr/>
        <p:txBody>
          <a:bodyPr/>
          <a:lstStyle/>
          <a:p>
            <a:r>
              <a:rPr lang="en-US" dirty="0"/>
              <a:t>“</a:t>
            </a:r>
            <a:r>
              <a:rPr lang="en-US" dirty="0" err="1"/>
              <a:t>cgroups</a:t>
            </a:r>
            <a:r>
              <a:rPr lang="en-US" dirty="0"/>
              <a:t> (abbreviated from control groups) is a Linux kernel feature that limits, accounts for, and isolates the resource usage (CPU, memory, disk I/O, network, etc.) of a collection of processes.”</a:t>
            </a:r>
            <a:br>
              <a:rPr lang="en-US" dirty="0"/>
            </a:br>
            <a:endParaRPr lang="en-US" dirty="0"/>
          </a:p>
          <a:p>
            <a:r>
              <a:rPr lang="en-US" dirty="0"/>
              <a:t>“Namespaces are a feature of the Linux kernel that partitions kernel resources such that one set of processes sees one set of resources while another set of processes sees a different set of resources. </a:t>
            </a:r>
            <a:br>
              <a:rPr lang="en-US" dirty="0"/>
            </a:br>
            <a:r>
              <a:rPr lang="en-US" dirty="0"/>
              <a:t>... ...</a:t>
            </a:r>
            <a:br>
              <a:rPr lang="en-US" dirty="0"/>
            </a:br>
            <a:r>
              <a:rPr lang="en-US" dirty="0"/>
              <a:t>those namespaces refer to distinct resources. Resources may exist in multiple spaces. Examples of such resources are process IDs, hostnames, user IDs, file names, and some names associated with network access, ...”</a:t>
            </a:r>
          </a:p>
        </p:txBody>
      </p:sp>
      <p:sp>
        <p:nvSpPr>
          <p:cNvPr id="3" name="Title 2">
            <a:extLst>
              <a:ext uri="{FF2B5EF4-FFF2-40B4-BE49-F238E27FC236}">
                <a16:creationId xmlns:a16="http://schemas.microsoft.com/office/drawing/2014/main" id="{074177DE-5A7C-DC46-902D-B367A1CCF713}"/>
              </a:ext>
            </a:extLst>
          </p:cNvPr>
          <p:cNvSpPr>
            <a:spLocks noGrp="1"/>
          </p:cNvSpPr>
          <p:nvPr>
            <p:ph type="title"/>
          </p:nvPr>
        </p:nvSpPr>
        <p:spPr/>
        <p:txBody>
          <a:bodyPr/>
          <a:lstStyle/>
          <a:p>
            <a:r>
              <a:rPr lang="en-US" dirty="0"/>
              <a:t>Concept (from Wikipedia)</a:t>
            </a:r>
          </a:p>
        </p:txBody>
      </p:sp>
    </p:spTree>
    <p:extLst>
      <p:ext uri="{BB962C8B-B14F-4D97-AF65-F5344CB8AC3E}">
        <p14:creationId xmlns:p14="http://schemas.microsoft.com/office/powerpoint/2010/main" val="544803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86BD02-4766-F74B-ACB1-139B0BB13706}"/>
              </a:ext>
            </a:extLst>
          </p:cNvPr>
          <p:cNvSpPr>
            <a:spLocks noGrp="1"/>
          </p:cNvSpPr>
          <p:nvPr>
            <p:ph type="title"/>
          </p:nvPr>
        </p:nvSpPr>
        <p:spPr/>
        <p:txBody>
          <a:bodyPr/>
          <a:lstStyle/>
          <a:p>
            <a:r>
              <a:rPr lang="en-US" dirty="0"/>
              <a:t>Containers vs VMs</a:t>
            </a:r>
          </a:p>
        </p:txBody>
      </p:sp>
      <p:sp>
        <p:nvSpPr>
          <p:cNvPr id="8" name="AutoShape 4">
            <a:extLst>
              <a:ext uri="{FF2B5EF4-FFF2-40B4-BE49-F238E27FC236}">
                <a16:creationId xmlns:a16="http://schemas.microsoft.com/office/drawing/2014/main" id="{10A7E4CD-8D45-1A4F-B078-45CCFF63DE56}"/>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771AE1D3-D985-D247-87B8-B139ADB937E1}"/>
              </a:ext>
            </a:extLst>
          </p:cNvPr>
          <p:cNvPicPr>
            <a:picLocks noChangeAspect="1"/>
          </p:cNvPicPr>
          <p:nvPr/>
        </p:nvPicPr>
        <p:blipFill>
          <a:blip r:embed="rId2"/>
          <a:stretch>
            <a:fillRect/>
          </a:stretch>
        </p:blipFill>
        <p:spPr>
          <a:xfrm>
            <a:off x="304800" y="590550"/>
            <a:ext cx="7772400" cy="4053055"/>
          </a:xfrm>
          <a:prstGeom prst="rect">
            <a:avLst/>
          </a:prstGeom>
        </p:spPr>
      </p:pic>
      <p:sp>
        <p:nvSpPr>
          <p:cNvPr id="2" name="Rectangle 1">
            <a:extLst>
              <a:ext uri="{FF2B5EF4-FFF2-40B4-BE49-F238E27FC236}">
                <a16:creationId xmlns:a16="http://schemas.microsoft.com/office/drawing/2014/main" id="{5515F817-30D4-8302-964B-1C9BE1680901}"/>
              </a:ext>
            </a:extLst>
          </p:cNvPr>
          <p:cNvSpPr/>
          <p:nvPr/>
        </p:nvSpPr>
        <p:spPr>
          <a:xfrm>
            <a:off x="1676400" y="2343150"/>
            <a:ext cx="2057400" cy="533400"/>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28D60EA-A244-1201-94E8-4FB2B1E8251E}"/>
              </a:ext>
            </a:extLst>
          </p:cNvPr>
          <p:cNvSpPr/>
          <p:nvPr/>
        </p:nvSpPr>
        <p:spPr>
          <a:xfrm>
            <a:off x="5867400" y="2350376"/>
            <a:ext cx="2133600" cy="983373"/>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A22E0A6-1CCA-B00F-AED8-6F8C06B65ACB}"/>
              </a:ext>
            </a:extLst>
          </p:cNvPr>
          <p:cNvSpPr/>
          <p:nvPr/>
        </p:nvSpPr>
        <p:spPr>
          <a:xfrm>
            <a:off x="5867400" y="3333749"/>
            <a:ext cx="2133600" cy="1219201"/>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207FD49-9B85-FF76-72FD-AB961B47753E}"/>
              </a:ext>
            </a:extLst>
          </p:cNvPr>
          <p:cNvSpPr/>
          <p:nvPr/>
        </p:nvSpPr>
        <p:spPr>
          <a:xfrm>
            <a:off x="3810000" y="2351423"/>
            <a:ext cx="2057400" cy="525127"/>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CAE9C5C-5621-1B00-DA5A-0DFD48480601}"/>
              </a:ext>
            </a:extLst>
          </p:cNvPr>
          <p:cNvSpPr/>
          <p:nvPr/>
        </p:nvSpPr>
        <p:spPr>
          <a:xfrm>
            <a:off x="3755136" y="3345179"/>
            <a:ext cx="2057400" cy="1219201"/>
          </a:xfrm>
          <a:prstGeom prst="rect">
            <a:avLst/>
          </a:prstGeom>
          <a:noFill/>
          <a:ln w="381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4117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3A02B3-2C96-7641-A9A9-3BD63F9894EE}"/>
              </a:ext>
            </a:extLst>
          </p:cNvPr>
          <p:cNvSpPr>
            <a:spLocks noGrp="1"/>
          </p:cNvSpPr>
          <p:nvPr>
            <p:ph type="title"/>
          </p:nvPr>
        </p:nvSpPr>
        <p:spPr/>
        <p:txBody>
          <a:bodyPr/>
          <a:lstStyle/>
          <a:p>
            <a:r>
              <a:rPr lang="en-US" dirty="0"/>
              <a:t>Some Container/Docker Implementation Concepts</a:t>
            </a:r>
          </a:p>
        </p:txBody>
      </p:sp>
      <p:pic>
        <p:nvPicPr>
          <p:cNvPr id="4" name="Picture 3">
            <a:extLst>
              <a:ext uri="{FF2B5EF4-FFF2-40B4-BE49-F238E27FC236}">
                <a16:creationId xmlns:a16="http://schemas.microsoft.com/office/drawing/2014/main" id="{D264F72E-2701-2E46-85A7-153DE0960E95}"/>
              </a:ext>
            </a:extLst>
          </p:cNvPr>
          <p:cNvPicPr>
            <a:picLocks noChangeAspect="1"/>
          </p:cNvPicPr>
          <p:nvPr/>
        </p:nvPicPr>
        <p:blipFill>
          <a:blip r:embed="rId2"/>
          <a:stretch>
            <a:fillRect/>
          </a:stretch>
        </p:blipFill>
        <p:spPr>
          <a:xfrm>
            <a:off x="228600" y="1733550"/>
            <a:ext cx="3311828" cy="2362200"/>
          </a:xfrm>
          <a:prstGeom prst="rect">
            <a:avLst/>
          </a:prstGeom>
          <a:ln>
            <a:solidFill>
              <a:schemeClr val="tx1"/>
            </a:solidFill>
          </a:ln>
        </p:spPr>
      </p:pic>
      <p:pic>
        <p:nvPicPr>
          <p:cNvPr id="5" name="Picture 4">
            <a:extLst>
              <a:ext uri="{FF2B5EF4-FFF2-40B4-BE49-F238E27FC236}">
                <a16:creationId xmlns:a16="http://schemas.microsoft.com/office/drawing/2014/main" id="{7168E5D4-1304-6F44-BE5B-2845CC8F029B}"/>
              </a:ext>
            </a:extLst>
          </p:cNvPr>
          <p:cNvPicPr>
            <a:picLocks noChangeAspect="1"/>
          </p:cNvPicPr>
          <p:nvPr/>
        </p:nvPicPr>
        <p:blipFill>
          <a:blip r:embed="rId3"/>
          <a:stretch>
            <a:fillRect/>
          </a:stretch>
        </p:blipFill>
        <p:spPr>
          <a:xfrm>
            <a:off x="5029200" y="1600041"/>
            <a:ext cx="3124200" cy="2457374"/>
          </a:xfrm>
          <a:prstGeom prst="rect">
            <a:avLst/>
          </a:prstGeom>
          <a:ln>
            <a:solidFill>
              <a:schemeClr val="tx1"/>
            </a:solidFill>
          </a:ln>
        </p:spPr>
      </p:pic>
      <p:pic>
        <p:nvPicPr>
          <p:cNvPr id="2" name="Picture 1">
            <a:extLst>
              <a:ext uri="{FF2B5EF4-FFF2-40B4-BE49-F238E27FC236}">
                <a16:creationId xmlns:a16="http://schemas.microsoft.com/office/drawing/2014/main" id="{3E7A3653-5ACE-8A45-89C0-F1E00773847B}"/>
              </a:ext>
            </a:extLst>
          </p:cNvPr>
          <p:cNvPicPr>
            <a:picLocks noChangeAspect="1"/>
          </p:cNvPicPr>
          <p:nvPr/>
        </p:nvPicPr>
        <p:blipFill>
          <a:blip r:embed="rId4"/>
          <a:stretch>
            <a:fillRect/>
          </a:stretch>
        </p:blipFill>
        <p:spPr>
          <a:xfrm>
            <a:off x="0" y="447614"/>
            <a:ext cx="3978877" cy="1127703"/>
          </a:xfrm>
          <a:prstGeom prst="rect">
            <a:avLst/>
          </a:prstGeom>
        </p:spPr>
      </p:pic>
      <p:pic>
        <p:nvPicPr>
          <p:cNvPr id="9" name="Picture 8">
            <a:extLst>
              <a:ext uri="{FF2B5EF4-FFF2-40B4-BE49-F238E27FC236}">
                <a16:creationId xmlns:a16="http://schemas.microsoft.com/office/drawing/2014/main" id="{176B4BC4-8710-8946-9A6D-0B4C9FEFB070}"/>
              </a:ext>
            </a:extLst>
          </p:cNvPr>
          <p:cNvPicPr>
            <a:picLocks noChangeAspect="1"/>
          </p:cNvPicPr>
          <p:nvPr/>
        </p:nvPicPr>
        <p:blipFill>
          <a:blip r:embed="rId5"/>
          <a:stretch>
            <a:fillRect/>
          </a:stretch>
        </p:blipFill>
        <p:spPr>
          <a:xfrm>
            <a:off x="4834646" y="539319"/>
            <a:ext cx="4038600" cy="1016862"/>
          </a:xfrm>
          <a:prstGeom prst="rect">
            <a:avLst/>
          </a:prstGeom>
        </p:spPr>
      </p:pic>
      <p:sp>
        <p:nvSpPr>
          <p:cNvPr id="10" name="TextBox 9">
            <a:extLst>
              <a:ext uri="{FF2B5EF4-FFF2-40B4-BE49-F238E27FC236}">
                <a16:creationId xmlns:a16="http://schemas.microsoft.com/office/drawing/2014/main" id="{AC18576B-8C2A-1D47-8053-3F426742403D}"/>
              </a:ext>
            </a:extLst>
          </p:cNvPr>
          <p:cNvSpPr txBox="1"/>
          <p:nvPr/>
        </p:nvSpPr>
        <p:spPr>
          <a:xfrm>
            <a:off x="1621" y="4171950"/>
            <a:ext cx="3856056" cy="338554"/>
          </a:xfrm>
          <a:prstGeom prst="rect">
            <a:avLst/>
          </a:prstGeom>
          <a:noFill/>
        </p:spPr>
        <p:txBody>
          <a:bodyPr wrap="none" rtlCol="0">
            <a:spAutoFit/>
          </a:bodyPr>
          <a:lstStyle/>
          <a:p>
            <a:r>
              <a:rPr lang="en-US" sz="1600" dirty="0"/>
              <a:t>Isolates libraries, paths, packages, PIDs, ... ...</a:t>
            </a:r>
          </a:p>
        </p:txBody>
      </p:sp>
      <p:sp>
        <p:nvSpPr>
          <p:cNvPr id="11" name="TextBox 10">
            <a:extLst>
              <a:ext uri="{FF2B5EF4-FFF2-40B4-BE49-F238E27FC236}">
                <a16:creationId xmlns:a16="http://schemas.microsoft.com/office/drawing/2014/main" id="{84D49089-4D5B-4D4B-B98A-2B2C151C549F}"/>
              </a:ext>
            </a:extLst>
          </p:cNvPr>
          <p:cNvSpPr txBox="1"/>
          <p:nvPr/>
        </p:nvSpPr>
        <p:spPr>
          <a:xfrm>
            <a:off x="4965191" y="4171950"/>
            <a:ext cx="3777509" cy="338554"/>
          </a:xfrm>
          <a:prstGeom prst="rect">
            <a:avLst/>
          </a:prstGeom>
          <a:noFill/>
        </p:spPr>
        <p:txBody>
          <a:bodyPr wrap="none" rtlCol="0">
            <a:spAutoFit/>
          </a:bodyPr>
          <a:lstStyle/>
          <a:p>
            <a:r>
              <a:rPr lang="en-US" sz="1600" dirty="0"/>
              <a:t>Partitions and caps resource consumption.</a:t>
            </a:r>
          </a:p>
        </p:txBody>
      </p:sp>
    </p:spTree>
    <p:extLst>
      <p:ext uri="{BB962C8B-B14F-4D97-AF65-F5344CB8AC3E}">
        <p14:creationId xmlns:p14="http://schemas.microsoft.com/office/powerpoint/2010/main" val="1776964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AFEBE7-E066-584A-9618-CCC736CE494F}"/>
              </a:ext>
            </a:extLst>
          </p:cNvPr>
          <p:cNvSpPr>
            <a:spLocks noGrp="1"/>
          </p:cNvSpPr>
          <p:nvPr>
            <p:ph type="title"/>
          </p:nvPr>
        </p:nvSpPr>
        <p:spPr/>
        <p:txBody>
          <a:bodyPr/>
          <a:lstStyle/>
          <a:p>
            <a:r>
              <a:rPr lang="en-US" altLang="en-US" dirty="0">
                <a:solidFill>
                  <a:prstClr val="white"/>
                </a:solidFill>
              </a:rPr>
              <a:t>Containers and Some Docker Overview</a:t>
            </a:r>
            <a:br>
              <a:rPr lang="en-US" altLang="en-US" dirty="0">
                <a:solidFill>
                  <a:prstClr val="white"/>
                </a:solidFill>
              </a:rPr>
            </a:br>
            <a:endParaRPr lang="en-US" dirty="0"/>
          </a:p>
        </p:txBody>
      </p:sp>
      <p:pic>
        <p:nvPicPr>
          <p:cNvPr id="4" name="Picture 3">
            <a:extLst>
              <a:ext uri="{FF2B5EF4-FFF2-40B4-BE49-F238E27FC236}">
                <a16:creationId xmlns:a16="http://schemas.microsoft.com/office/drawing/2014/main" id="{F565D0C2-5A36-A843-B5EF-BF99DC865D88}"/>
              </a:ext>
            </a:extLst>
          </p:cNvPr>
          <p:cNvPicPr>
            <a:picLocks noChangeAspect="1"/>
          </p:cNvPicPr>
          <p:nvPr/>
        </p:nvPicPr>
        <p:blipFill>
          <a:blip r:embed="rId2"/>
          <a:stretch>
            <a:fillRect/>
          </a:stretch>
        </p:blipFill>
        <p:spPr>
          <a:xfrm>
            <a:off x="67089" y="466725"/>
            <a:ext cx="3405395" cy="2583403"/>
          </a:xfrm>
          <a:prstGeom prst="rect">
            <a:avLst/>
          </a:prstGeom>
        </p:spPr>
      </p:pic>
      <p:pic>
        <p:nvPicPr>
          <p:cNvPr id="5" name="Picture 4">
            <a:extLst>
              <a:ext uri="{FF2B5EF4-FFF2-40B4-BE49-F238E27FC236}">
                <a16:creationId xmlns:a16="http://schemas.microsoft.com/office/drawing/2014/main" id="{0409977B-997C-614F-B49F-B85686DC5AA6}"/>
              </a:ext>
            </a:extLst>
          </p:cNvPr>
          <p:cNvPicPr>
            <a:picLocks noChangeAspect="1"/>
          </p:cNvPicPr>
          <p:nvPr/>
        </p:nvPicPr>
        <p:blipFill>
          <a:blip r:embed="rId3"/>
          <a:stretch>
            <a:fillRect/>
          </a:stretch>
        </p:blipFill>
        <p:spPr>
          <a:xfrm>
            <a:off x="4360793" y="574676"/>
            <a:ext cx="4229307" cy="827892"/>
          </a:xfrm>
          <a:prstGeom prst="rect">
            <a:avLst/>
          </a:prstGeom>
        </p:spPr>
      </p:pic>
      <p:sp>
        <p:nvSpPr>
          <p:cNvPr id="6" name="Content Placeholder 14">
            <a:extLst>
              <a:ext uri="{FF2B5EF4-FFF2-40B4-BE49-F238E27FC236}">
                <a16:creationId xmlns:a16="http://schemas.microsoft.com/office/drawing/2014/main" id="{841D9E54-4840-8A43-B228-C36FC3BF2689}"/>
              </a:ext>
            </a:extLst>
          </p:cNvPr>
          <p:cNvSpPr>
            <a:spLocks noGrp="1"/>
          </p:cNvSpPr>
          <p:nvPr>
            <p:ph idx="1"/>
          </p:nvPr>
        </p:nvSpPr>
        <p:spPr>
          <a:xfrm>
            <a:off x="2109580" y="1520043"/>
            <a:ext cx="6405770" cy="3112679"/>
          </a:xfrm>
          <a:solidFill>
            <a:schemeClr val="bg1"/>
          </a:solidFill>
        </p:spPr>
        <p:txBody>
          <a:bodyPr>
            <a:normAutofit lnSpcReduction="10000"/>
          </a:bodyPr>
          <a:lstStyle/>
          <a:p>
            <a:r>
              <a:rPr lang="en-US" sz="1800" dirty="0"/>
              <a:t>We are familiar with the problem</a:t>
            </a:r>
          </a:p>
          <a:p>
            <a:pPr lvl="1"/>
            <a:r>
              <a:rPr lang="en-US" sz="1500" dirty="0"/>
              <a:t>We have a system with an OS and installed SW.</a:t>
            </a:r>
          </a:p>
          <a:p>
            <a:pPr lvl="1"/>
            <a:r>
              <a:rPr lang="en-US" sz="1500" dirty="0"/>
              <a:t>We need to install something new, and that requires installing prerequisites, changing versions, etc.</a:t>
            </a:r>
          </a:p>
          <a:p>
            <a:pPr lvl="1"/>
            <a:r>
              <a:rPr lang="en-US" sz="1500" dirty="0"/>
              <a:t>After many tries, we get the application installed only to find out we broke some other application.</a:t>
            </a:r>
          </a:p>
          <a:p>
            <a:r>
              <a:rPr lang="en-US" sz="1800" dirty="0"/>
              <a:t>Docker and containers allow you to:</a:t>
            </a:r>
          </a:p>
          <a:p>
            <a:pPr lvl="1"/>
            <a:r>
              <a:rPr lang="en-US" sz="1500" dirty="0"/>
              <a:t>Develop an application or SW system.</a:t>
            </a:r>
          </a:p>
          <a:p>
            <a:pPr lvl="1"/>
            <a:r>
              <a:rPr lang="en-US" sz="1500" dirty="0"/>
              <a:t>Package up the entire environment (paths, versions, libs, ...) into an image that works and is self-contained.</a:t>
            </a:r>
          </a:p>
          <a:p>
            <a:pPr lvl="1"/>
            <a:r>
              <a:rPr lang="en-US" sz="1500" dirty="0"/>
              <a:t>Someone installing/starting your application simply gets the image from a repository and starts the image to create a running container.</a:t>
            </a:r>
          </a:p>
        </p:txBody>
      </p:sp>
      <p:sp>
        <p:nvSpPr>
          <p:cNvPr id="7" name="Rectangle 6">
            <a:extLst>
              <a:ext uri="{FF2B5EF4-FFF2-40B4-BE49-F238E27FC236}">
                <a16:creationId xmlns:a16="http://schemas.microsoft.com/office/drawing/2014/main" id="{37AB3A91-9452-DE2E-485A-6BC6435AE0E9}"/>
              </a:ext>
            </a:extLst>
          </p:cNvPr>
          <p:cNvSpPr/>
          <p:nvPr/>
        </p:nvSpPr>
        <p:spPr>
          <a:xfrm>
            <a:off x="457200" y="657613"/>
            <a:ext cx="1371600" cy="923537"/>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5263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212FCE-C9DA-BA5A-51F0-B2197550D8B5}"/>
              </a:ext>
            </a:extLst>
          </p:cNvPr>
          <p:cNvSpPr>
            <a:spLocks noGrp="1"/>
          </p:cNvSpPr>
          <p:nvPr>
            <p:ph idx="1"/>
          </p:nvPr>
        </p:nvSpPr>
        <p:spPr/>
        <p:txBody>
          <a:bodyPr/>
          <a:lstStyle/>
          <a:p>
            <a:r>
              <a:rPr lang="en-US" u="sng" dirty="0"/>
              <a:t>Cloud Run (serverless): Easiest. Auto-scales to zero, HTTPS by default, request-based billing. Great for web APIs (</a:t>
            </a:r>
            <a:r>
              <a:rPr lang="en-US" u="sng" dirty="0" err="1"/>
              <a:t>FastAPI</a:t>
            </a:r>
            <a:r>
              <a:rPr lang="en-US" u="sng" dirty="0"/>
              <a:t>), jobs, and event handlers.</a:t>
            </a:r>
          </a:p>
          <a:p>
            <a:endParaRPr lang="en-US" dirty="0"/>
          </a:p>
          <a:p>
            <a:r>
              <a:rPr lang="en-US" dirty="0"/>
              <a:t>GKE (Google Kubernetes Engine): Full Kubernetes. Best when you need multiple services, custom networking, </a:t>
            </a:r>
            <a:r>
              <a:rPr lang="en-US" dirty="0" err="1"/>
              <a:t>DaemonSets</a:t>
            </a:r>
            <a:r>
              <a:rPr lang="en-US" dirty="0"/>
              <a:t>, stateful workloads, etc.</a:t>
            </a:r>
          </a:p>
          <a:p>
            <a:endParaRPr lang="en-US" dirty="0"/>
          </a:p>
          <a:p>
            <a:r>
              <a:rPr lang="en-US" dirty="0"/>
              <a:t>Compute Engine (VMs + Docker): You manage the VM; simplest if you just want “a box that runs Docker.”</a:t>
            </a:r>
          </a:p>
          <a:p>
            <a:endParaRPr lang="en-US" dirty="0"/>
          </a:p>
          <a:p>
            <a:r>
              <a:rPr lang="en-US" dirty="0"/>
              <a:t>Cloud Functions (2nd gen, container): Event-driven functions packaged as containers.</a:t>
            </a:r>
          </a:p>
          <a:p>
            <a:endParaRPr lang="en-US" dirty="0"/>
          </a:p>
          <a:p>
            <a:r>
              <a:rPr lang="en-US" strike="sngStrike" dirty="0"/>
              <a:t>App Engine Flexible: Runs containers, but most new workloads should prefer Cloud Run or GKE.</a:t>
            </a:r>
          </a:p>
        </p:txBody>
      </p:sp>
      <p:sp>
        <p:nvSpPr>
          <p:cNvPr id="3" name="Title 2">
            <a:extLst>
              <a:ext uri="{FF2B5EF4-FFF2-40B4-BE49-F238E27FC236}">
                <a16:creationId xmlns:a16="http://schemas.microsoft.com/office/drawing/2014/main" id="{234D59C0-C017-E6AF-D21F-30CCC34228F1}"/>
              </a:ext>
            </a:extLst>
          </p:cNvPr>
          <p:cNvSpPr>
            <a:spLocks noGrp="1"/>
          </p:cNvSpPr>
          <p:nvPr>
            <p:ph type="title"/>
          </p:nvPr>
        </p:nvSpPr>
        <p:spPr/>
        <p:txBody>
          <a:bodyPr/>
          <a:lstStyle/>
          <a:p>
            <a:r>
              <a:rPr lang="en-US" dirty="0"/>
              <a:t>How to Run Containers on GCP</a:t>
            </a:r>
          </a:p>
        </p:txBody>
      </p:sp>
    </p:spTree>
    <p:extLst>
      <p:ext uri="{BB962C8B-B14F-4D97-AF65-F5344CB8AC3E}">
        <p14:creationId xmlns:p14="http://schemas.microsoft.com/office/powerpoint/2010/main" val="2139965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a:extLst>
              <a:ext uri="{FF2B5EF4-FFF2-40B4-BE49-F238E27FC236}">
                <a16:creationId xmlns:a16="http://schemas.microsoft.com/office/drawing/2014/main" id="{16B2320E-1BF4-3CAF-31F6-E1BA54E3529F}"/>
              </a:ext>
            </a:extLst>
          </p:cNvPr>
          <p:cNvSpPr txBox="1">
            <a:spLocks noChangeArrowheads="1"/>
          </p:cNvSpPr>
          <p:nvPr/>
        </p:nvSpPr>
        <p:spPr bwMode="auto">
          <a:xfrm>
            <a:off x="0" y="1372815"/>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REST Continued</a:t>
            </a:r>
          </a:p>
          <a:p>
            <a:pPr algn="ctr"/>
            <a:endParaRPr lang="en-US" altLang="en-US" sz="2800" i="1" dirty="0">
              <a:solidFill>
                <a:schemeClr val="bg1"/>
              </a:solidFill>
            </a:endParaRPr>
          </a:p>
        </p:txBody>
      </p:sp>
    </p:spTree>
    <p:extLst>
      <p:ext uri="{BB962C8B-B14F-4D97-AF65-F5344CB8AC3E}">
        <p14:creationId xmlns:p14="http://schemas.microsoft.com/office/powerpoint/2010/main" val="4196428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AAEFE-B2A2-125F-5E28-D3CEF07EEB66}"/>
            </a:ext>
          </a:extLst>
        </p:cNvPr>
        <p:cNvGrpSpPr/>
        <p:nvPr/>
      </p:nvGrpSpPr>
      <p:grpSpPr>
        <a:xfrm>
          <a:off x="0" y="0"/>
          <a:ext cx="0" cy="0"/>
          <a:chOff x="0" y="0"/>
          <a:chExt cx="0" cy="0"/>
        </a:xfrm>
      </p:grpSpPr>
      <p:sp>
        <p:nvSpPr>
          <p:cNvPr id="2" name="TextBox 8">
            <a:extLst>
              <a:ext uri="{FF2B5EF4-FFF2-40B4-BE49-F238E27FC236}">
                <a16:creationId xmlns:a16="http://schemas.microsoft.com/office/drawing/2014/main" id="{D2E8F7FD-28B1-5BE4-073B-7AD3874249DA}"/>
              </a:ext>
            </a:extLst>
          </p:cNvPr>
          <p:cNvSpPr txBox="1">
            <a:spLocks noChangeArrowheads="1"/>
          </p:cNvSpPr>
          <p:nvPr/>
        </p:nvSpPr>
        <p:spPr bwMode="auto">
          <a:xfrm>
            <a:off x="0" y="1372815"/>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REST Continued</a:t>
            </a:r>
          </a:p>
          <a:p>
            <a:pPr algn="ctr"/>
            <a:endParaRPr lang="en-US" altLang="en-US" sz="2800" i="1" dirty="0">
              <a:solidFill>
                <a:schemeClr val="bg1"/>
              </a:solidFill>
            </a:endParaRPr>
          </a:p>
        </p:txBody>
      </p:sp>
    </p:spTree>
    <p:extLst>
      <p:ext uri="{BB962C8B-B14F-4D97-AF65-F5344CB8AC3E}">
        <p14:creationId xmlns:p14="http://schemas.microsoft.com/office/powerpoint/2010/main" val="1866585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31FC5-ACBA-D2F5-C50D-8742E6711E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042D14-B17A-3F5B-55FB-F55D0302147B}"/>
              </a:ext>
            </a:extLst>
          </p:cNvPr>
          <p:cNvSpPr>
            <a:spLocks noGrp="1"/>
          </p:cNvSpPr>
          <p:nvPr>
            <p:ph type="title"/>
          </p:nvPr>
        </p:nvSpPr>
        <p:spPr/>
        <p:txBody>
          <a:bodyPr/>
          <a:lstStyle/>
          <a:p>
            <a:r>
              <a:rPr lang="en-US" dirty="0"/>
              <a:t>REST (https://</a:t>
            </a:r>
            <a:r>
              <a:rPr lang="en-US" dirty="0" err="1"/>
              <a:t>restfulapi.net</a:t>
            </a:r>
            <a:r>
              <a:rPr lang="en-US" dirty="0"/>
              <a:t>/)</a:t>
            </a:r>
          </a:p>
        </p:txBody>
      </p:sp>
      <p:sp>
        <p:nvSpPr>
          <p:cNvPr id="2" name="Content Placeholder 1">
            <a:extLst>
              <a:ext uri="{FF2B5EF4-FFF2-40B4-BE49-F238E27FC236}">
                <a16:creationId xmlns:a16="http://schemas.microsoft.com/office/drawing/2014/main" id="{B4FE7910-52B4-8480-3F56-8B7A5C5E593B}"/>
              </a:ext>
            </a:extLst>
          </p:cNvPr>
          <p:cNvSpPr>
            <a:spLocks noGrp="1"/>
          </p:cNvSpPr>
          <p:nvPr>
            <p:ph idx="1"/>
          </p:nvPr>
        </p:nvSpPr>
        <p:spPr/>
        <p:txBody>
          <a:bodyPr/>
          <a:lstStyle/>
          <a:p>
            <a:pPr marL="0" indent="0">
              <a:buNone/>
            </a:pPr>
            <a:r>
              <a:rPr lang="en-US" sz="1100" b="1" dirty="0"/>
              <a:t>What is REST</a:t>
            </a:r>
          </a:p>
          <a:p>
            <a:r>
              <a:rPr lang="en-US" sz="1100" dirty="0"/>
              <a:t>REST is acronym for </a:t>
            </a:r>
            <a:r>
              <a:rPr lang="en-US" sz="1100" b="1" dirty="0" err="1"/>
              <a:t>RE</a:t>
            </a:r>
            <a:r>
              <a:rPr lang="en-US" sz="1100" dirty="0" err="1"/>
              <a:t>presentational</a:t>
            </a:r>
            <a:r>
              <a:rPr lang="en-US" sz="1100" dirty="0"/>
              <a:t> </a:t>
            </a:r>
            <a:r>
              <a:rPr lang="en-US" sz="1100" b="1" dirty="0"/>
              <a:t>S</a:t>
            </a:r>
            <a:r>
              <a:rPr lang="en-US" sz="1100" dirty="0"/>
              <a:t>tate </a:t>
            </a:r>
            <a:r>
              <a:rPr lang="en-US" sz="1100" b="1" dirty="0"/>
              <a:t>T</a:t>
            </a:r>
            <a:r>
              <a:rPr lang="en-US" sz="1100" dirty="0"/>
              <a:t>ransfer. It is architectural style for </a:t>
            </a:r>
            <a:r>
              <a:rPr lang="en-US" sz="1100" b="1" dirty="0"/>
              <a:t>distributed hypermedia systems</a:t>
            </a:r>
            <a:r>
              <a:rPr lang="en-US" sz="1100" dirty="0"/>
              <a:t> and was first presented by Roy Fielding in 2000 in his famous </a:t>
            </a:r>
            <a:r>
              <a:rPr lang="en-US" sz="1100" dirty="0">
                <a:hlinkClick r:id="rId2"/>
              </a:rPr>
              <a:t>dissertation</a:t>
            </a:r>
            <a:r>
              <a:rPr lang="en-US" sz="1100" dirty="0"/>
              <a:t>.</a:t>
            </a:r>
          </a:p>
          <a:p>
            <a:r>
              <a:rPr lang="en-US" sz="1100" dirty="0"/>
              <a:t>Like any other architectural style, REST also does have it’s own </a:t>
            </a:r>
            <a:r>
              <a:rPr lang="en-US" sz="1100" dirty="0">
                <a:hlinkClick r:id="rId3"/>
              </a:rPr>
              <a:t>6 guiding constraints</a:t>
            </a:r>
            <a:r>
              <a:rPr lang="en-US" sz="1100" dirty="0"/>
              <a:t> which must be satisfied if an interface needs to be referred as </a:t>
            </a:r>
            <a:r>
              <a:rPr lang="en-US" sz="1100" b="1" dirty="0"/>
              <a:t>RESTful</a:t>
            </a:r>
            <a:r>
              <a:rPr lang="en-US" sz="1100" dirty="0"/>
              <a:t>. These principles are listed below.</a:t>
            </a:r>
          </a:p>
          <a:p>
            <a:pPr marL="0" indent="0">
              <a:buNone/>
            </a:pPr>
            <a:r>
              <a:rPr lang="en-US" sz="1100" b="1" dirty="0"/>
              <a:t>Guiding Principles of REST</a:t>
            </a:r>
          </a:p>
          <a:p>
            <a:r>
              <a:rPr lang="en-US" sz="1100" b="1" dirty="0"/>
              <a:t>Client–server</a:t>
            </a:r>
            <a:r>
              <a:rPr lang="en-US" sz="1100" dirty="0"/>
              <a:t> – By separating the user interface concerns from the data storage concerns, we improve the portability of the user interface across multiple platforms and improve scalability by simplifying the server components.</a:t>
            </a:r>
          </a:p>
          <a:p>
            <a:r>
              <a:rPr lang="en-US" sz="1100" b="1" dirty="0"/>
              <a:t>Stateless</a:t>
            </a:r>
            <a:r>
              <a:rPr lang="en-US" sz="1100" dirty="0"/>
              <a:t> – Each request from client to server must contain all of the information necessary to understand the request, and cannot take advantage of any stored context on the server. Session state is therefore kept entirely on the client.</a:t>
            </a:r>
          </a:p>
          <a:p>
            <a:pPr marL="0" indent="0">
              <a:buNone/>
            </a:pPr>
            <a:endParaRPr lang="en-US" sz="1100" dirty="0"/>
          </a:p>
          <a:p>
            <a:endParaRPr lang="en-US" sz="1100" dirty="0"/>
          </a:p>
        </p:txBody>
      </p:sp>
      <p:sp>
        <p:nvSpPr>
          <p:cNvPr id="4" name="Content Placeholder 3">
            <a:extLst>
              <a:ext uri="{FF2B5EF4-FFF2-40B4-BE49-F238E27FC236}">
                <a16:creationId xmlns:a16="http://schemas.microsoft.com/office/drawing/2014/main" id="{29231AAD-8B87-2637-C629-5D45A95E967A}"/>
              </a:ext>
            </a:extLst>
          </p:cNvPr>
          <p:cNvSpPr>
            <a:spLocks noGrp="1"/>
          </p:cNvSpPr>
          <p:nvPr>
            <p:ph idx="10"/>
          </p:nvPr>
        </p:nvSpPr>
        <p:spPr>
          <a:xfrm>
            <a:off x="4724400" y="536326"/>
            <a:ext cx="4191000" cy="4038600"/>
          </a:xfrm>
        </p:spPr>
        <p:txBody>
          <a:bodyPr/>
          <a:lstStyle/>
          <a:p>
            <a:r>
              <a:rPr lang="en-US" sz="1100" b="1" dirty="0"/>
              <a:t>Cacheable</a:t>
            </a:r>
            <a:r>
              <a:rPr lang="en-US" sz="1100" dirty="0"/>
              <a:t> – Cache constraints require that the data within a response to a request be implicitly or explicitly labeled as cacheable or non-cacheable. If a response is cacheable, then a client cache is given the right to reuse that response data for later, equivalent requests.</a:t>
            </a:r>
          </a:p>
          <a:p>
            <a:r>
              <a:rPr lang="en-US" sz="1100" b="1" dirty="0"/>
              <a:t>Uniform interface</a:t>
            </a:r>
            <a:r>
              <a:rPr lang="en-US" sz="1100" dirty="0"/>
              <a:t> – By applying the software engineering principle of generality to the component interface, the overall system architecture is simplified and the visibility of interactions is improved. In order to obtain a uniform interface, multiple architectural constraints are needed to guide the behavior of components. </a:t>
            </a:r>
            <a:r>
              <a:rPr lang="en-US" sz="1100" dirty="0">
                <a:highlight>
                  <a:srgbClr val="FFFF00"/>
                </a:highlight>
              </a:rPr>
              <a:t>REST is defined by four interface constraints: identification of resources; manipulation of resources through representations; self-descriptive messages; and, hypermedia as the engine of application state.</a:t>
            </a:r>
          </a:p>
          <a:p>
            <a:r>
              <a:rPr lang="en-US" sz="1100" b="1" dirty="0"/>
              <a:t>Layered system</a:t>
            </a:r>
            <a:r>
              <a:rPr lang="en-US" sz="1100" dirty="0"/>
              <a:t> – The layered system style allows an architecture to be composed of hierarchical layers by constraining component behavior such that each component cannot “see” beyond the immediate layer with which they are interacting.</a:t>
            </a:r>
          </a:p>
          <a:p>
            <a:r>
              <a:rPr lang="en-US" sz="1100" b="1" dirty="0"/>
              <a:t>Code on demand (optional)</a:t>
            </a:r>
            <a:r>
              <a:rPr lang="en-US" sz="1100" dirty="0"/>
              <a:t> – REST allows client functionality to be extended by downloading and executing code in the form of applets or scripts. This simplifies clients by reducing the number of features required to be pre-implemented.</a:t>
            </a:r>
          </a:p>
          <a:p>
            <a:endParaRPr lang="en-US" sz="1100" dirty="0"/>
          </a:p>
        </p:txBody>
      </p:sp>
    </p:spTree>
    <p:extLst>
      <p:ext uri="{BB962C8B-B14F-4D97-AF65-F5344CB8AC3E}">
        <p14:creationId xmlns:p14="http://schemas.microsoft.com/office/powerpoint/2010/main" val="910882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388CD-D569-E429-D238-45D1F50764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4F962A-0818-966F-9B1D-549A437DB539}"/>
              </a:ext>
            </a:extLst>
          </p:cNvPr>
          <p:cNvSpPr>
            <a:spLocks noGrp="1"/>
          </p:cNvSpPr>
          <p:nvPr>
            <p:ph idx="1"/>
          </p:nvPr>
        </p:nvSpPr>
        <p:spPr/>
        <p:txBody>
          <a:bodyPr/>
          <a:lstStyle/>
          <a:p>
            <a:pPr>
              <a:spcBef>
                <a:spcPts val="0"/>
              </a:spcBef>
              <a:spcAft>
                <a:spcPts val="200"/>
              </a:spcAft>
            </a:pPr>
            <a:r>
              <a:rPr lang="en-US" sz="1600" dirty="0"/>
              <a:t>There are several good, simple tutorials:</a:t>
            </a:r>
          </a:p>
          <a:p>
            <a:pPr lvl="1">
              <a:spcBef>
                <a:spcPts val="0"/>
              </a:spcBef>
              <a:spcAft>
                <a:spcPts val="200"/>
              </a:spcAft>
            </a:pPr>
            <a:r>
              <a:rPr lang="en-US" sz="1400" dirty="0">
                <a:hlinkClick r:id="rId2"/>
              </a:rPr>
              <a:t>https://www.restapitutorial.com/introduction</a:t>
            </a:r>
            <a:endParaRPr lang="en-US" sz="1400" dirty="0"/>
          </a:p>
          <a:p>
            <a:pPr lvl="1">
              <a:spcBef>
                <a:spcPts val="0"/>
              </a:spcBef>
              <a:spcAft>
                <a:spcPts val="200"/>
              </a:spcAft>
            </a:pPr>
            <a:r>
              <a:rPr lang="en-US" sz="1400" dirty="0">
                <a:hlinkClick r:id="rId3"/>
              </a:rPr>
              <a:t>https://restfulapi.net/</a:t>
            </a:r>
            <a:endParaRPr lang="en-US" sz="1400" dirty="0"/>
          </a:p>
          <a:p>
            <a:pPr lvl="1">
              <a:spcBef>
                <a:spcPts val="0"/>
              </a:spcBef>
              <a:spcAft>
                <a:spcPts val="200"/>
              </a:spcAft>
            </a:pPr>
            <a:r>
              <a:rPr lang="en-US" sz="1400" dirty="0">
                <a:hlinkClick r:id="rId4"/>
              </a:rPr>
              <a:t>https://learn.microsoft.com/en-us/azure/architecture/best-practices/api-design</a:t>
            </a:r>
            <a:r>
              <a:rPr lang="en-US" sz="1400" dirty="0"/>
              <a:t> </a:t>
            </a:r>
          </a:p>
          <a:p>
            <a:pPr marL="457200" lvl="1" indent="0">
              <a:spcBef>
                <a:spcPts val="0"/>
              </a:spcBef>
              <a:spcAft>
                <a:spcPts val="200"/>
              </a:spcAft>
              <a:buNone/>
            </a:pPr>
            <a:r>
              <a:rPr lang="en-US" sz="1400" dirty="0"/>
              <a:t>The documentation agrees on a common core, but details and application are subjective.	 </a:t>
            </a:r>
          </a:p>
          <a:p>
            <a:pPr>
              <a:spcBef>
                <a:spcPts val="0"/>
              </a:spcBef>
              <a:spcAft>
                <a:spcPts val="200"/>
              </a:spcAft>
            </a:pPr>
            <a:r>
              <a:rPr lang="en-US" sz="1600" dirty="0"/>
              <a:t>Identification of resources is URLs:</a:t>
            </a:r>
          </a:p>
          <a:p>
            <a:pPr lvl="1">
              <a:spcBef>
                <a:spcPts val="0"/>
              </a:spcBef>
              <a:spcAft>
                <a:spcPts val="200"/>
              </a:spcAft>
            </a:pPr>
            <a:r>
              <a:rPr lang="en-US" sz="1400" dirty="0"/>
              <a:t>Resource collections: </a:t>
            </a:r>
            <a:r>
              <a:rPr lang="en-US" sz="1400" dirty="0">
                <a:hlinkClick r:id="rId5"/>
              </a:rPr>
              <a:t>http://api.contoso.com/api/students</a:t>
            </a:r>
            <a:r>
              <a:rPr lang="en-US" sz="1400" dirty="0"/>
              <a:t> </a:t>
            </a:r>
          </a:p>
          <a:p>
            <a:pPr lvl="1">
              <a:spcBef>
                <a:spcPts val="0"/>
              </a:spcBef>
              <a:spcAft>
                <a:spcPts val="200"/>
              </a:spcAft>
            </a:pPr>
            <a:r>
              <a:rPr lang="en-US" sz="1400" dirty="0"/>
              <a:t>Resource: </a:t>
            </a:r>
            <a:r>
              <a:rPr lang="en-US" sz="1400" dirty="0">
                <a:hlinkClick r:id="rId6"/>
              </a:rPr>
              <a:t>http://api.contoso.com/api/students/dff9</a:t>
            </a:r>
            <a:endParaRPr lang="en-US" sz="1400" dirty="0"/>
          </a:p>
          <a:p>
            <a:pPr lvl="1">
              <a:spcBef>
                <a:spcPts val="0"/>
              </a:spcBef>
              <a:spcAft>
                <a:spcPts val="200"/>
              </a:spcAft>
            </a:pPr>
            <a:r>
              <a:rPr lang="en-US" sz="1400" dirty="0"/>
              <a:t>Links: </a:t>
            </a:r>
            <a:r>
              <a:rPr lang="en-US" sz="1400" dirty="0">
                <a:hlinkClick r:id="rId7"/>
              </a:rPr>
              <a:t>http://api.contoso.com/api/students/dff9/courses/COMSW4153_002_2024_001/projects</a:t>
            </a:r>
            <a:endParaRPr lang="en-US" sz="1400" dirty="0"/>
          </a:p>
          <a:p>
            <a:pPr>
              <a:spcBef>
                <a:spcPts val="0"/>
              </a:spcBef>
              <a:spcAft>
                <a:spcPts val="200"/>
              </a:spcAft>
            </a:pPr>
            <a:r>
              <a:rPr lang="en-US" sz="1600" dirty="0"/>
              <a:t>Manipulation of resources through representations: applications, Python/Java objects, relational database rows, air conditioner management APIs, … … are resources.</a:t>
            </a:r>
          </a:p>
          <a:p>
            <a:pPr>
              <a:spcBef>
                <a:spcPts val="0"/>
              </a:spcBef>
              <a:spcAft>
                <a:spcPts val="200"/>
              </a:spcAft>
            </a:pPr>
            <a:r>
              <a:rPr lang="en-US" sz="1600" dirty="0"/>
              <a:t>Self-descriptive message: HTTP verbs, MIME content types, … … For the purposes of your project, </a:t>
            </a:r>
            <a:r>
              <a:rPr lang="en-US" sz="1400" dirty="0"/>
              <a:t>your bodies for GET, PUT, POST have: 1) content-type application/</a:t>
            </a:r>
            <a:r>
              <a:rPr lang="en-US" sz="1400" dirty="0" err="1"/>
              <a:t>json</a:t>
            </a:r>
            <a:r>
              <a:rPr lang="en-US" sz="1400" dirty="0"/>
              <a:t>, 2) Use JSON for the body data.</a:t>
            </a:r>
          </a:p>
          <a:p>
            <a:pPr>
              <a:spcBef>
                <a:spcPts val="0"/>
              </a:spcBef>
              <a:spcAft>
                <a:spcPts val="200"/>
              </a:spcAft>
            </a:pPr>
            <a:r>
              <a:rPr lang="en-US" sz="1600" dirty="0"/>
              <a:t>Hypermedia as the engine of application state – HATEOS</a:t>
            </a:r>
            <a:br>
              <a:rPr lang="en-US" sz="1600" dirty="0"/>
            </a:br>
            <a:r>
              <a:rPr lang="en-US" sz="1600" dirty="0"/>
              <a:t>Just because it sounds so cool and is awesome to day.</a:t>
            </a:r>
          </a:p>
          <a:p>
            <a:pPr>
              <a:spcBef>
                <a:spcPts val="0"/>
              </a:spcBef>
              <a:spcAft>
                <a:spcPts val="200"/>
              </a:spcAft>
            </a:pPr>
            <a:endParaRPr lang="en-US" sz="1600" dirty="0"/>
          </a:p>
          <a:p>
            <a:pPr>
              <a:spcBef>
                <a:spcPts val="0"/>
              </a:spcBef>
              <a:spcAft>
                <a:spcPts val="200"/>
              </a:spcAft>
            </a:pPr>
            <a:endParaRPr lang="en-US" sz="1600" dirty="0"/>
          </a:p>
          <a:p>
            <a:pPr lvl="1">
              <a:spcBef>
                <a:spcPts val="0"/>
              </a:spcBef>
              <a:spcAft>
                <a:spcPts val="200"/>
              </a:spcAft>
            </a:pPr>
            <a:endParaRPr lang="en-US" sz="1400" dirty="0"/>
          </a:p>
        </p:txBody>
      </p:sp>
      <p:sp>
        <p:nvSpPr>
          <p:cNvPr id="3" name="Title 2">
            <a:extLst>
              <a:ext uri="{FF2B5EF4-FFF2-40B4-BE49-F238E27FC236}">
                <a16:creationId xmlns:a16="http://schemas.microsoft.com/office/drawing/2014/main" id="{9C9B8F2F-EDE3-E0D4-487F-BD47BBE87107}"/>
              </a:ext>
            </a:extLst>
          </p:cNvPr>
          <p:cNvSpPr>
            <a:spLocks noGrp="1"/>
          </p:cNvSpPr>
          <p:nvPr>
            <p:ph type="title"/>
          </p:nvPr>
        </p:nvSpPr>
        <p:spPr/>
        <p:txBody>
          <a:bodyPr/>
          <a:lstStyle/>
          <a:p>
            <a:r>
              <a:rPr lang="en-US" dirty="0"/>
              <a:t>Resource Oriented</a:t>
            </a:r>
          </a:p>
        </p:txBody>
      </p:sp>
    </p:spTree>
    <p:extLst>
      <p:ext uri="{BB962C8B-B14F-4D97-AF65-F5344CB8AC3E}">
        <p14:creationId xmlns:p14="http://schemas.microsoft.com/office/powerpoint/2010/main" val="3022528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988873-EFEC-5C2A-AF20-FFEC8C0E92F6}"/>
              </a:ext>
            </a:extLst>
          </p:cNvPr>
          <p:cNvSpPr>
            <a:spLocks noGrp="1"/>
          </p:cNvSpPr>
          <p:nvPr>
            <p:ph idx="1"/>
          </p:nvPr>
        </p:nvSpPr>
        <p:spPr/>
        <p:txBody>
          <a:bodyPr/>
          <a:lstStyle/>
          <a:p>
            <a:pPr>
              <a:spcBef>
                <a:spcPts val="0"/>
              </a:spcBef>
              <a:spcAft>
                <a:spcPts val="300"/>
              </a:spcAft>
            </a:pPr>
            <a:r>
              <a:rPr lang="en-US" sz="1600" dirty="0"/>
              <a:t>Access to a resource is through a URL.</a:t>
            </a:r>
          </a:p>
          <a:p>
            <a:pPr>
              <a:spcBef>
                <a:spcPts val="0"/>
              </a:spcBef>
              <a:spcAft>
                <a:spcPts val="300"/>
              </a:spcAft>
            </a:pPr>
            <a:r>
              <a:rPr lang="en-US" sz="1600" dirty="0"/>
              <a:t>The operations on a </a:t>
            </a:r>
            <a:r>
              <a:rPr lang="en-US" sz="1600" i="1" dirty="0"/>
              <a:t>collection</a:t>
            </a:r>
            <a:r>
              <a:rPr lang="en-US" sz="1600" dirty="0"/>
              <a:t> resource are GET, POST.</a:t>
            </a:r>
          </a:p>
          <a:p>
            <a:pPr lvl="1">
              <a:spcBef>
                <a:spcPts val="0"/>
              </a:spcBef>
              <a:spcAft>
                <a:spcPts val="300"/>
              </a:spcAft>
            </a:pPr>
            <a:r>
              <a:rPr lang="en-US" sz="1400" dirty="0"/>
              <a:t>GET returns a “list” of resource representations and a </a:t>
            </a:r>
            <a:r>
              <a:rPr lang="en-US" sz="1400" i="1" dirty="0"/>
              <a:t>links section </a:t>
            </a:r>
            <a:r>
              <a:rPr lang="en-US" sz="1400" dirty="0"/>
              <a:t>in the body.</a:t>
            </a:r>
          </a:p>
          <a:p>
            <a:pPr lvl="1">
              <a:spcBef>
                <a:spcPts val="0"/>
              </a:spcBef>
              <a:spcAft>
                <a:spcPts val="300"/>
              </a:spcAft>
            </a:pPr>
            <a:r>
              <a:rPr lang="en-US" sz="1400" dirty="0"/>
              <a:t>POST take a body containing the new resource data and “inserts” into the collection.</a:t>
            </a:r>
          </a:p>
          <a:p>
            <a:pPr lvl="1">
              <a:spcBef>
                <a:spcPts val="0"/>
              </a:spcBef>
              <a:spcAft>
                <a:spcPts val="300"/>
              </a:spcAft>
            </a:pPr>
            <a:r>
              <a:rPr lang="en-US" sz="1400" dirty="0"/>
              <a:t>A collection URL is of the form /</a:t>
            </a:r>
            <a:r>
              <a:rPr lang="en-US" sz="1400" dirty="0" err="1"/>
              <a:t>api</a:t>
            </a:r>
            <a:r>
              <a:rPr lang="en-US" sz="1400" dirty="0"/>
              <a:t>/persons.</a:t>
            </a:r>
          </a:p>
          <a:p>
            <a:pPr>
              <a:spcBef>
                <a:spcPts val="0"/>
              </a:spcBef>
              <a:spcAft>
                <a:spcPts val="300"/>
              </a:spcAft>
            </a:pPr>
            <a:r>
              <a:rPr lang="en-US" sz="1600" dirty="0"/>
              <a:t>The operations on an individual resource are GET, PUT and DELETE.</a:t>
            </a:r>
          </a:p>
          <a:p>
            <a:pPr lvl="1">
              <a:spcBef>
                <a:spcPts val="0"/>
              </a:spcBef>
              <a:spcAft>
                <a:spcPts val="300"/>
              </a:spcAft>
            </a:pPr>
            <a:r>
              <a:rPr lang="en-US" sz="1400" dirty="0"/>
              <a:t>GET returns a body with the resource representation and links section.</a:t>
            </a:r>
          </a:p>
          <a:p>
            <a:pPr lvl="1">
              <a:spcBef>
                <a:spcPts val="0"/>
              </a:spcBef>
              <a:spcAft>
                <a:spcPts val="300"/>
              </a:spcAft>
            </a:pPr>
            <a:r>
              <a:rPr lang="en-US" sz="1400" dirty="0"/>
              <a:t>PUT takes a body setting the new value for the resource.</a:t>
            </a:r>
          </a:p>
          <a:p>
            <a:pPr lvl="1">
              <a:spcBef>
                <a:spcPts val="0"/>
              </a:spcBef>
              <a:spcAft>
                <a:spcPts val="300"/>
              </a:spcAft>
            </a:pPr>
            <a:r>
              <a:rPr lang="en-US" sz="1400" dirty="0"/>
              <a:t>DELETE does not take or return a body.</a:t>
            </a:r>
          </a:p>
          <a:p>
            <a:pPr lvl="1">
              <a:spcBef>
                <a:spcPts val="0"/>
              </a:spcBef>
              <a:spcAft>
                <a:spcPts val="300"/>
              </a:spcAft>
            </a:pPr>
            <a:r>
              <a:rPr lang="en-US" sz="1400" dirty="0"/>
              <a:t>An individual resource URL is of the form /</a:t>
            </a:r>
            <a:r>
              <a:rPr lang="en-US" sz="1400" dirty="0" err="1"/>
              <a:t>api</a:t>
            </a:r>
            <a:r>
              <a:rPr lang="en-US" sz="1400" dirty="0"/>
              <a:t>/persons/dff9, where the primary key is following the collection name.</a:t>
            </a:r>
          </a:p>
          <a:p>
            <a:pPr>
              <a:spcBef>
                <a:spcPts val="0"/>
              </a:spcBef>
              <a:spcAft>
                <a:spcPts val="300"/>
              </a:spcAft>
            </a:pPr>
            <a:r>
              <a:rPr lang="en-US" sz="1600" dirty="0"/>
              <a:t>A method on a resource has the following “parameters.”</a:t>
            </a:r>
          </a:p>
          <a:p>
            <a:pPr lvl="1">
              <a:spcBef>
                <a:spcPts val="0"/>
              </a:spcBef>
              <a:spcAft>
                <a:spcPts val="300"/>
              </a:spcAft>
            </a:pPr>
            <a:r>
              <a:rPr lang="en-US" sz="1400" dirty="0"/>
              <a:t>Path parameters</a:t>
            </a:r>
          </a:p>
          <a:p>
            <a:pPr lvl="1">
              <a:spcBef>
                <a:spcPts val="0"/>
              </a:spcBef>
              <a:spcAft>
                <a:spcPts val="300"/>
              </a:spcAft>
            </a:pPr>
            <a:r>
              <a:rPr lang="en-US" sz="1400" dirty="0"/>
              <a:t>Query parameters</a:t>
            </a:r>
          </a:p>
          <a:p>
            <a:pPr lvl="1">
              <a:spcBef>
                <a:spcPts val="0"/>
              </a:spcBef>
              <a:spcAft>
                <a:spcPts val="300"/>
              </a:spcAft>
            </a:pPr>
            <a:r>
              <a:rPr lang="en-US" sz="1400" dirty="0"/>
              <a:t>Body</a:t>
            </a:r>
          </a:p>
          <a:p>
            <a:pPr lvl="1">
              <a:spcBef>
                <a:spcPts val="0"/>
              </a:spcBef>
              <a:spcAft>
                <a:spcPts val="300"/>
              </a:spcAft>
            </a:pPr>
            <a:r>
              <a:rPr lang="en-US" sz="1400" dirty="0"/>
              <a:t>Headers</a:t>
            </a:r>
          </a:p>
          <a:p>
            <a:pPr lvl="1">
              <a:spcBef>
                <a:spcPts val="0"/>
              </a:spcBef>
              <a:spcAft>
                <a:spcPts val="300"/>
              </a:spcAft>
            </a:pPr>
            <a:endParaRPr lang="en-US" sz="1400" dirty="0"/>
          </a:p>
        </p:txBody>
      </p:sp>
      <p:sp>
        <p:nvSpPr>
          <p:cNvPr id="3" name="Title 2">
            <a:extLst>
              <a:ext uri="{FF2B5EF4-FFF2-40B4-BE49-F238E27FC236}">
                <a16:creationId xmlns:a16="http://schemas.microsoft.com/office/drawing/2014/main" id="{4969A6FE-E86D-52BC-334C-72A2E9410E1D}"/>
              </a:ext>
            </a:extLst>
          </p:cNvPr>
          <p:cNvSpPr>
            <a:spLocks noGrp="1"/>
          </p:cNvSpPr>
          <p:nvPr>
            <p:ph type="title"/>
          </p:nvPr>
        </p:nvSpPr>
        <p:spPr/>
        <p:txBody>
          <a:bodyPr/>
          <a:lstStyle/>
          <a:p>
            <a:r>
              <a:rPr lang="en-US" dirty="0"/>
              <a:t>URLs and Parameters</a:t>
            </a:r>
          </a:p>
        </p:txBody>
      </p:sp>
    </p:spTree>
    <p:extLst>
      <p:ext uri="{BB962C8B-B14F-4D97-AF65-F5344CB8AC3E}">
        <p14:creationId xmlns:p14="http://schemas.microsoft.com/office/powerpoint/2010/main" val="1125232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73F6EA-0996-49DF-781A-D901EA2104C4}"/>
              </a:ext>
            </a:extLst>
          </p:cNvPr>
          <p:cNvSpPr>
            <a:spLocks noGrp="1"/>
          </p:cNvSpPr>
          <p:nvPr>
            <p:ph idx="1"/>
          </p:nvPr>
        </p:nvSpPr>
        <p:spPr>
          <a:xfrm>
            <a:off x="152400" y="3677908"/>
            <a:ext cx="8839200" cy="951242"/>
          </a:xfrm>
        </p:spPr>
        <p:txBody>
          <a:bodyPr/>
          <a:lstStyle/>
          <a:p>
            <a:r>
              <a:rPr lang="en-US" sz="1600" dirty="0"/>
              <a:t>The basics of query string is very common, e.g. ?region=</a:t>
            </a:r>
            <a:r>
              <a:rPr lang="en-US" sz="1600" dirty="0" err="1"/>
              <a:t>USA&amp;brand</a:t>
            </a:r>
            <a:r>
              <a:rPr lang="en-US" sz="1600" dirty="0"/>
              <a:t>=XYZ</a:t>
            </a:r>
          </a:p>
          <a:p>
            <a:r>
              <a:rPr lang="en-US" sz="1600" dirty="0"/>
              <a:t>Sort/Order by is not “standard” and APIs pick and document a convention.</a:t>
            </a:r>
          </a:p>
          <a:p>
            <a:r>
              <a:rPr lang="en-US" sz="1600" dirty="0"/>
              <a:t>Project (choosing a subset of properties) is also not standard. APIs picks and document a convention.</a:t>
            </a:r>
          </a:p>
        </p:txBody>
      </p:sp>
      <p:sp>
        <p:nvSpPr>
          <p:cNvPr id="3" name="Title 2">
            <a:extLst>
              <a:ext uri="{FF2B5EF4-FFF2-40B4-BE49-F238E27FC236}">
                <a16:creationId xmlns:a16="http://schemas.microsoft.com/office/drawing/2014/main" id="{9A6B39C0-DFB8-2D35-D7F0-93A3A8E59896}"/>
              </a:ext>
            </a:extLst>
          </p:cNvPr>
          <p:cNvSpPr>
            <a:spLocks noGrp="1"/>
          </p:cNvSpPr>
          <p:nvPr>
            <p:ph type="title"/>
          </p:nvPr>
        </p:nvSpPr>
        <p:spPr/>
        <p:txBody>
          <a:bodyPr/>
          <a:lstStyle/>
          <a:p>
            <a:r>
              <a:rPr lang="en-US" dirty="0"/>
              <a:t>Query Parameters</a:t>
            </a:r>
          </a:p>
        </p:txBody>
      </p:sp>
      <p:pic>
        <p:nvPicPr>
          <p:cNvPr id="4" name="Picture 3">
            <a:extLst>
              <a:ext uri="{FF2B5EF4-FFF2-40B4-BE49-F238E27FC236}">
                <a16:creationId xmlns:a16="http://schemas.microsoft.com/office/drawing/2014/main" id="{9E290BD4-607D-B51F-2A36-F0F113354631}"/>
              </a:ext>
            </a:extLst>
          </p:cNvPr>
          <p:cNvPicPr>
            <a:picLocks noChangeAspect="1"/>
          </p:cNvPicPr>
          <p:nvPr/>
        </p:nvPicPr>
        <p:blipFill>
          <a:blip r:embed="rId2"/>
          <a:stretch>
            <a:fillRect/>
          </a:stretch>
        </p:blipFill>
        <p:spPr>
          <a:xfrm>
            <a:off x="172570" y="514350"/>
            <a:ext cx="8182926" cy="3163558"/>
          </a:xfrm>
          <a:prstGeom prst="rect">
            <a:avLst/>
          </a:prstGeom>
        </p:spPr>
      </p:pic>
    </p:spTree>
    <p:extLst>
      <p:ext uri="{BB962C8B-B14F-4D97-AF65-F5344CB8AC3E}">
        <p14:creationId xmlns:p14="http://schemas.microsoft.com/office/powerpoint/2010/main" val="562351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AF9B-D8F7-F238-9343-2FB6B23253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0C92F7-88E8-AD7D-EFDB-A5E68FBF9031}"/>
              </a:ext>
            </a:extLst>
          </p:cNvPr>
          <p:cNvSpPr>
            <a:spLocks noGrp="1"/>
          </p:cNvSpPr>
          <p:nvPr>
            <p:ph idx="1"/>
          </p:nvPr>
        </p:nvSpPr>
        <p:spPr/>
        <p:txBody>
          <a:bodyPr/>
          <a:lstStyle/>
          <a:p>
            <a:r>
              <a:rPr lang="en-US" dirty="0"/>
              <a:t>The concept is simple.</a:t>
            </a:r>
          </a:p>
          <a:p>
            <a:r>
              <a:rPr lang="en-US" dirty="0"/>
              <a:t>Some resources are containers, which means they have resources ”inside” them.</a:t>
            </a:r>
            <a:br>
              <a:rPr lang="en-US" dirty="0"/>
            </a:br>
            <a:r>
              <a:rPr lang="en-US" dirty="0"/>
              <a:t>This is analogous to a table in a relational database.</a:t>
            </a:r>
          </a:p>
          <a:p>
            <a:r>
              <a:rPr lang="en-US" dirty="0"/>
              <a:t>Consider the path /</a:t>
            </a:r>
            <a:r>
              <a:rPr lang="en-US" dirty="0" err="1"/>
              <a:t>api</a:t>
            </a:r>
            <a:r>
              <a:rPr lang="en-US" dirty="0"/>
              <a:t>/persons.</a:t>
            </a:r>
          </a:p>
          <a:p>
            <a:pPr lvl="1"/>
            <a:r>
              <a:rPr lang="en-US" dirty="0"/>
              <a:t>Path parameters: /</a:t>
            </a:r>
            <a:r>
              <a:rPr lang="en-US" dirty="0" err="1"/>
              <a:t>api</a:t>
            </a:r>
            <a:r>
              <a:rPr lang="en-US" dirty="0"/>
              <a:t>/persons/dff9 </a:t>
            </a:r>
            <a:r>
              <a:rPr lang="en-US" dirty="0">
                <a:sym typeface="Wingdings" pitchFamily="2" charset="2"/>
              </a:rPr>
              <a:t></a:t>
            </a:r>
          </a:p>
          <a:p>
            <a:pPr lvl="2"/>
            <a:r>
              <a:rPr lang="en-US" dirty="0">
                <a:sym typeface="Wingdings" pitchFamily="2" charset="2"/>
              </a:rPr>
              <a:t>GET, PUT and DELETE logically have a where clause WHERE UNI=‘dff9’ if UNI is the primary key.</a:t>
            </a:r>
          </a:p>
          <a:p>
            <a:pPr lvl="2"/>
            <a:r>
              <a:rPr lang="en-US" dirty="0">
                <a:sym typeface="Wingdings" pitchFamily="2" charset="2"/>
              </a:rPr>
              <a:t>GET /</a:t>
            </a:r>
            <a:r>
              <a:rPr lang="en-US" dirty="0" err="1">
                <a:sym typeface="Wingdings" pitchFamily="2" charset="2"/>
              </a:rPr>
              <a:t>api</a:t>
            </a:r>
            <a:r>
              <a:rPr lang="en-US" dirty="0">
                <a:sym typeface="Wingdings" pitchFamily="2" charset="2"/>
              </a:rPr>
              <a:t>/persons/dff9 is logically</a:t>
            </a:r>
            <a:br>
              <a:rPr lang="en-US" dirty="0">
                <a:sym typeface="Wingdings" pitchFamily="2" charset="2"/>
              </a:rPr>
            </a:br>
            <a:r>
              <a:rPr lang="en-US" dirty="0">
                <a:sym typeface="Wingdings" pitchFamily="2" charset="2"/>
              </a:rPr>
              <a:t>SELECT * FROM persons WHERE UNI=‘dff9’</a:t>
            </a:r>
          </a:p>
          <a:p>
            <a:pPr lvl="1"/>
            <a:r>
              <a:rPr lang="en-US" dirty="0"/>
              <a:t>/</a:t>
            </a:r>
            <a:r>
              <a:rPr lang="en-US" dirty="0" err="1"/>
              <a:t>api</a:t>
            </a:r>
            <a:r>
              <a:rPr lang="en-US" dirty="0"/>
              <a:t>/persons/ is logically “the table.”</a:t>
            </a:r>
          </a:p>
          <a:p>
            <a:pPr lvl="1"/>
            <a:r>
              <a:rPr lang="en-US" dirty="0"/>
              <a:t>GET </a:t>
            </a:r>
            <a:r>
              <a:rPr lang="en-US" dirty="0">
                <a:sym typeface="Wingdings" pitchFamily="2" charset="2"/>
              </a:rPr>
              <a:t>/</a:t>
            </a:r>
            <a:r>
              <a:rPr lang="en-US" dirty="0" err="1">
                <a:sym typeface="Wingdings" pitchFamily="2" charset="2"/>
              </a:rPr>
              <a:t>api</a:t>
            </a:r>
            <a:r>
              <a:rPr lang="en-US" dirty="0">
                <a:sym typeface="Wingdings" pitchFamily="2" charset="2"/>
              </a:rPr>
              <a:t>/persons is logically SELECT * FROM persons</a:t>
            </a:r>
            <a:endParaRPr lang="en-US" dirty="0"/>
          </a:p>
          <a:p>
            <a:pPr lvl="1"/>
            <a:r>
              <a:rPr lang="en-US" dirty="0">
                <a:sym typeface="Wingdings" pitchFamily="2" charset="2"/>
              </a:rPr>
              <a:t>GET /</a:t>
            </a:r>
            <a:r>
              <a:rPr lang="en-US" dirty="0" err="1">
                <a:sym typeface="Wingdings" pitchFamily="2" charset="2"/>
              </a:rPr>
              <a:t>api</a:t>
            </a:r>
            <a:r>
              <a:rPr lang="en-US" dirty="0">
                <a:sym typeface="Wingdings" pitchFamily="2" charset="2"/>
              </a:rPr>
              <a:t>/</a:t>
            </a:r>
            <a:r>
              <a:rPr lang="en-US" dirty="0" err="1">
                <a:sym typeface="Wingdings" pitchFamily="2" charset="2"/>
              </a:rPr>
              <a:t>persons?last_name</a:t>
            </a:r>
            <a:r>
              <a:rPr lang="en-US" dirty="0">
                <a:sym typeface="Wingdings" pitchFamily="2" charset="2"/>
              </a:rPr>
              <a:t>=</a:t>
            </a:r>
            <a:r>
              <a:rPr lang="en-US" dirty="0" err="1">
                <a:sym typeface="Wingdings" pitchFamily="2" charset="2"/>
              </a:rPr>
              <a:t>Ferguson&amp;first_name</a:t>
            </a:r>
            <a:r>
              <a:rPr lang="en-US" dirty="0">
                <a:sym typeface="Wingdings" pitchFamily="2" charset="2"/>
              </a:rPr>
              <a:t>=Donald is conceptually</a:t>
            </a:r>
            <a:br>
              <a:rPr lang="en-US" dirty="0">
                <a:sym typeface="Wingdings" pitchFamily="2" charset="2"/>
              </a:rPr>
            </a:br>
            <a:r>
              <a:rPr lang="en-US" dirty="0">
                <a:sym typeface="Wingdings" pitchFamily="2" charset="2"/>
              </a:rPr>
              <a:t>SELECT * FROM persons WHERE </a:t>
            </a:r>
            <a:r>
              <a:rPr lang="en-US" dirty="0" err="1">
                <a:sym typeface="Wingdings" pitchFamily="2" charset="2"/>
              </a:rPr>
              <a:t>last_name</a:t>
            </a:r>
            <a:r>
              <a:rPr lang="en-US" dirty="0">
                <a:sym typeface="Wingdings" pitchFamily="2" charset="2"/>
              </a:rPr>
              <a:t>=‘Ferguson’ AND </a:t>
            </a:r>
            <a:r>
              <a:rPr lang="en-US" dirty="0" err="1">
                <a:sym typeface="Wingdings" pitchFamily="2" charset="2"/>
              </a:rPr>
              <a:t>first_name</a:t>
            </a:r>
            <a:r>
              <a:rPr lang="en-US" dirty="0">
                <a:sym typeface="Wingdings" pitchFamily="2" charset="2"/>
              </a:rPr>
              <a:t>=“Donald”</a:t>
            </a:r>
          </a:p>
          <a:p>
            <a:pPr lvl="1"/>
            <a:r>
              <a:rPr lang="en-US" dirty="0">
                <a:sym typeface="Wingdings" pitchFamily="2" charset="2"/>
              </a:rPr>
              <a:t>POST is an INSERT INTO persons. The POST “generates” they key and returns the URL to the</a:t>
            </a:r>
            <a:br>
              <a:rPr lang="en-US" dirty="0">
                <a:sym typeface="Wingdings" pitchFamily="2" charset="2"/>
              </a:rPr>
            </a:br>
            <a:r>
              <a:rPr lang="en-US" dirty="0">
                <a:sym typeface="Wingdings" pitchFamily="2" charset="2"/>
              </a:rPr>
              <a:t>created resource in a </a:t>
            </a:r>
            <a:r>
              <a:rPr lang="en-US" i="1" dirty="0">
                <a:sym typeface="Wingdings" pitchFamily="2" charset="2"/>
              </a:rPr>
              <a:t>location header.</a:t>
            </a:r>
          </a:p>
          <a:p>
            <a:pPr lvl="1"/>
            <a:endParaRPr lang="en-US" dirty="0"/>
          </a:p>
        </p:txBody>
      </p:sp>
      <p:sp>
        <p:nvSpPr>
          <p:cNvPr id="3" name="Title 2">
            <a:extLst>
              <a:ext uri="{FF2B5EF4-FFF2-40B4-BE49-F238E27FC236}">
                <a16:creationId xmlns:a16="http://schemas.microsoft.com/office/drawing/2014/main" id="{BE3EE0FF-77D1-6EEF-7E69-3C327210901C}"/>
              </a:ext>
            </a:extLst>
          </p:cNvPr>
          <p:cNvSpPr>
            <a:spLocks noGrp="1"/>
          </p:cNvSpPr>
          <p:nvPr>
            <p:ph type="title"/>
          </p:nvPr>
        </p:nvSpPr>
        <p:spPr/>
        <p:txBody>
          <a:bodyPr/>
          <a:lstStyle/>
          <a:p>
            <a:r>
              <a:rPr lang="en-US" dirty="0"/>
              <a:t>Query and Path Parameters</a:t>
            </a:r>
          </a:p>
        </p:txBody>
      </p:sp>
    </p:spTree>
    <p:extLst>
      <p:ext uri="{BB962C8B-B14F-4D97-AF65-F5344CB8AC3E}">
        <p14:creationId xmlns:p14="http://schemas.microsoft.com/office/powerpoint/2010/main" val="2980222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A4625-88CB-B523-EBB7-8BD061F802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16E1D2-F045-3428-BCC2-6D529D4D1866}"/>
              </a:ext>
            </a:extLst>
          </p:cNvPr>
          <p:cNvSpPr>
            <a:spLocks noGrp="1"/>
          </p:cNvSpPr>
          <p:nvPr>
            <p:ph idx="1"/>
          </p:nvPr>
        </p:nvSpPr>
        <p:spPr>
          <a:xfrm>
            <a:off x="152400" y="590550"/>
            <a:ext cx="4419600" cy="4038600"/>
          </a:xfrm>
        </p:spPr>
        <p:txBody>
          <a:bodyPr/>
          <a:lstStyle/>
          <a:p>
            <a:pPr marL="0" indent="0">
              <a:buNone/>
            </a:pPr>
            <a:r>
              <a:rPr lang="en-US" sz="1400" dirty="0"/>
              <a:t>HATEOAS (Hypermedia as the Engine of Application State) is a constraint of the REST application architecture. HATEOAS keeps the REST style architecture unique from most other network application architectures.</a:t>
            </a:r>
          </a:p>
          <a:p>
            <a:pPr marL="0" indent="0">
              <a:buNone/>
            </a:pPr>
            <a:endParaRPr lang="en-US" sz="1400" dirty="0"/>
          </a:p>
          <a:p>
            <a:pPr marL="0" indent="0">
              <a:buNone/>
            </a:pPr>
            <a:r>
              <a:rPr lang="en-US" sz="1400" dirty="0"/>
              <a:t>The term “hypermedia” refers to any content that contains links to other forms of media such as images, movies, and text.</a:t>
            </a:r>
          </a:p>
          <a:p>
            <a:pPr marL="0" indent="0">
              <a:buNone/>
            </a:pPr>
            <a:endParaRPr lang="en-US" sz="1400" dirty="0"/>
          </a:p>
          <a:p>
            <a:pPr marL="0" indent="0">
              <a:buNone/>
            </a:pPr>
            <a:r>
              <a:rPr lang="en-US" sz="1400" dirty="0"/>
              <a:t>REST architectural style lets us use the hypermedia links in the API response contents. It allows the client to dynamically navigate to the appropriate resources by traversing the hypermedia links.</a:t>
            </a:r>
          </a:p>
          <a:p>
            <a:pPr marL="0" indent="0">
              <a:buNone/>
            </a:pPr>
            <a:endParaRPr lang="en-US" sz="1400" dirty="0"/>
          </a:p>
          <a:p>
            <a:pPr marL="0" indent="0">
              <a:buNone/>
            </a:pPr>
            <a:r>
              <a:rPr lang="en-US" sz="1400" dirty="0"/>
              <a:t>Navigating hypermedia links is conceptually the same as browsing through web pages by clicking the relevant hyperlinks to achieve a final goal.</a:t>
            </a:r>
          </a:p>
        </p:txBody>
      </p:sp>
      <p:sp>
        <p:nvSpPr>
          <p:cNvPr id="3" name="Title 2">
            <a:extLst>
              <a:ext uri="{FF2B5EF4-FFF2-40B4-BE49-F238E27FC236}">
                <a16:creationId xmlns:a16="http://schemas.microsoft.com/office/drawing/2014/main" id="{8053A4C7-1C71-C377-9616-77C372356A52}"/>
              </a:ext>
            </a:extLst>
          </p:cNvPr>
          <p:cNvSpPr>
            <a:spLocks noGrp="1"/>
          </p:cNvSpPr>
          <p:nvPr>
            <p:ph type="title"/>
          </p:nvPr>
        </p:nvSpPr>
        <p:spPr/>
        <p:txBody>
          <a:bodyPr/>
          <a:lstStyle/>
          <a:p>
            <a:r>
              <a:rPr lang="en-US" dirty="0"/>
              <a:t>HATEOAS</a:t>
            </a:r>
          </a:p>
        </p:txBody>
      </p:sp>
      <p:pic>
        <p:nvPicPr>
          <p:cNvPr id="2050" name="Picture 2">
            <a:extLst>
              <a:ext uri="{FF2B5EF4-FFF2-40B4-BE49-F238E27FC236}">
                <a16:creationId xmlns:a16="http://schemas.microsoft.com/office/drawing/2014/main" id="{31C5050F-A9FD-FEA5-AFA5-44103F951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2874" y="590550"/>
            <a:ext cx="4588212" cy="2667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5A6B7E4-21A6-A1EA-C913-C49781F14471}"/>
              </a:ext>
            </a:extLst>
          </p:cNvPr>
          <p:cNvSpPr txBox="1"/>
          <p:nvPr/>
        </p:nvSpPr>
        <p:spPr>
          <a:xfrm>
            <a:off x="4800600" y="432703"/>
            <a:ext cx="4616604" cy="246221"/>
          </a:xfrm>
          <a:prstGeom prst="rect">
            <a:avLst/>
          </a:prstGeom>
          <a:noFill/>
        </p:spPr>
        <p:txBody>
          <a:bodyPr wrap="square">
            <a:spAutoFit/>
          </a:bodyPr>
          <a:lstStyle/>
          <a:p>
            <a:r>
              <a:rPr lang="en-US" sz="1000" dirty="0"/>
              <a:t>https://</a:t>
            </a:r>
            <a:r>
              <a:rPr lang="en-US" sz="1000" dirty="0" err="1"/>
              <a:t>grapeup.com</a:t>
            </a:r>
            <a:r>
              <a:rPr lang="en-US" sz="1000" dirty="0"/>
              <a:t>/blog/how-to-build-hypermedia-</a:t>
            </a:r>
            <a:r>
              <a:rPr lang="en-US" sz="1000" dirty="0" err="1"/>
              <a:t>api</a:t>
            </a:r>
            <a:r>
              <a:rPr lang="en-US" sz="1000" dirty="0"/>
              <a:t>-with-spring-</a:t>
            </a:r>
            <a:r>
              <a:rPr lang="en-US" sz="1000" dirty="0" err="1"/>
              <a:t>hateoas</a:t>
            </a:r>
            <a:r>
              <a:rPr lang="en-US" sz="1000" dirty="0"/>
              <a:t>/</a:t>
            </a:r>
          </a:p>
        </p:txBody>
      </p:sp>
      <p:sp>
        <p:nvSpPr>
          <p:cNvPr id="7" name="TextBox 6">
            <a:extLst>
              <a:ext uri="{FF2B5EF4-FFF2-40B4-BE49-F238E27FC236}">
                <a16:creationId xmlns:a16="http://schemas.microsoft.com/office/drawing/2014/main" id="{97681402-E0AA-5EA5-0A44-4CC711397B2A}"/>
              </a:ext>
            </a:extLst>
          </p:cNvPr>
          <p:cNvSpPr txBox="1"/>
          <p:nvPr/>
        </p:nvSpPr>
        <p:spPr>
          <a:xfrm>
            <a:off x="2743200" y="4382464"/>
            <a:ext cx="2171562" cy="246221"/>
          </a:xfrm>
          <a:prstGeom prst="rect">
            <a:avLst/>
          </a:prstGeom>
          <a:noFill/>
        </p:spPr>
        <p:txBody>
          <a:bodyPr wrap="square">
            <a:spAutoFit/>
          </a:bodyPr>
          <a:lstStyle/>
          <a:p>
            <a:r>
              <a:rPr lang="en-US" sz="1000" dirty="0"/>
              <a:t>https://</a:t>
            </a:r>
            <a:r>
              <a:rPr lang="en-US" sz="1000" dirty="0" err="1"/>
              <a:t>restfulapi.net</a:t>
            </a:r>
            <a:r>
              <a:rPr lang="en-US" sz="1000" dirty="0"/>
              <a:t>/</a:t>
            </a:r>
            <a:r>
              <a:rPr lang="en-US" sz="1000" dirty="0" err="1"/>
              <a:t>hateoas</a:t>
            </a:r>
            <a:r>
              <a:rPr lang="en-US" sz="1000" dirty="0"/>
              <a:t>/</a:t>
            </a:r>
          </a:p>
        </p:txBody>
      </p:sp>
      <p:sp>
        <p:nvSpPr>
          <p:cNvPr id="8" name="Content Placeholder 1">
            <a:extLst>
              <a:ext uri="{FF2B5EF4-FFF2-40B4-BE49-F238E27FC236}">
                <a16:creationId xmlns:a16="http://schemas.microsoft.com/office/drawing/2014/main" id="{FA5DF617-3DFD-3F74-5352-808083AE64E8}"/>
              </a:ext>
            </a:extLst>
          </p:cNvPr>
          <p:cNvSpPr txBox="1">
            <a:spLocks/>
          </p:cNvSpPr>
          <p:nvPr/>
        </p:nvSpPr>
        <p:spPr>
          <a:xfrm>
            <a:off x="4953000" y="3369765"/>
            <a:ext cx="3917657" cy="1258920"/>
          </a:xfrm>
          <a:prstGeom prst="rect">
            <a:avLst/>
          </a:prstGeom>
        </p:spPr>
        <p:txBody>
          <a:bodyPr/>
          <a:lstStyle>
            <a:lvl1pPr marL="342900" indent="-342900" algn="l" defTabSz="457200" rtl="0" fontAlgn="base">
              <a:spcBef>
                <a:spcPct val="20000"/>
              </a:spcBef>
              <a:spcAft>
                <a:spcPct val="0"/>
              </a:spcAft>
              <a:buFont typeface="Arial" charset="0"/>
              <a:buChar char="•"/>
              <a:defRPr sz="18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16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1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12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12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charset="0"/>
              <a:buNone/>
            </a:pPr>
            <a:r>
              <a:rPr lang="en-US" dirty="0"/>
              <a:t>In a nutshell: </a:t>
            </a:r>
          </a:p>
          <a:p>
            <a:r>
              <a:rPr lang="en-US" sz="1400" dirty="0"/>
              <a:t>REST application is basically a graph databases.</a:t>
            </a:r>
          </a:p>
          <a:p>
            <a:r>
              <a:rPr lang="en-US" sz="1400" dirty="0"/>
              <a:t>And this explains the emergence of </a:t>
            </a:r>
            <a:r>
              <a:rPr lang="en-US" sz="1400" dirty="0" err="1"/>
              <a:t>GraphQL</a:t>
            </a:r>
            <a:r>
              <a:rPr lang="en-US" sz="1400" dirty="0"/>
              <a:t>.</a:t>
            </a:r>
          </a:p>
        </p:txBody>
      </p:sp>
    </p:spTree>
    <p:extLst>
      <p:ext uri="{BB962C8B-B14F-4D97-AF65-F5344CB8AC3E}">
        <p14:creationId xmlns:p14="http://schemas.microsoft.com/office/powerpoint/2010/main" val="649566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59E36C-D6F4-A0DD-A8B5-5847ADC480AA}"/>
              </a:ext>
            </a:extLst>
          </p:cNvPr>
          <p:cNvSpPr>
            <a:spLocks noGrp="1"/>
          </p:cNvSpPr>
          <p:nvPr>
            <p:ph idx="1"/>
          </p:nvPr>
        </p:nvSpPr>
        <p:spPr>
          <a:xfrm>
            <a:off x="152400" y="590550"/>
            <a:ext cx="8803888" cy="4038600"/>
          </a:xfrm>
        </p:spPr>
        <p:txBody>
          <a:bodyPr/>
          <a:lstStyle/>
          <a:p>
            <a:r>
              <a:rPr lang="en-US" sz="1600" dirty="0"/>
              <a:t>Bad things may happen when a GET returns a huge result set.</a:t>
            </a:r>
          </a:p>
          <a:p>
            <a:r>
              <a:rPr lang="en-US" sz="1600" dirty="0"/>
              <a:t>A </a:t>
            </a:r>
            <a:r>
              <a:rPr lang="en-US" sz="1600" i="1" dirty="0"/>
              <a:t>page</a:t>
            </a:r>
            <a:r>
              <a:rPr lang="en-US" sz="1600" dirty="0"/>
              <a:t> is a window on the large result set.</a:t>
            </a:r>
          </a:p>
          <a:p>
            <a:r>
              <a:rPr lang="en-US" sz="1600" i="1" dirty="0"/>
              <a:t>limit </a:t>
            </a:r>
            <a:r>
              <a:rPr lang="en-US" sz="1600" dirty="0"/>
              <a:t>is the no. of entries in the result set.</a:t>
            </a:r>
          </a:p>
          <a:p>
            <a:pPr lvl="1"/>
            <a:r>
              <a:rPr lang="en-US" sz="1400" dirty="0"/>
              <a:t>Client may specify a limit.</a:t>
            </a:r>
          </a:p>
          <a:p>
            <a:pPr lvl="1"/>
            <a:r>
              <a:rPr lang="en-US" sz="1400" dirty="0"/>
              <a:t>Server may have a default and/or</a:t>
            </a:r>
            <a:br>
              <a:rPr lang="en-US" sz="1400" dirty="0"/>
            </a:br>
            <a:r>
              <a:rPr lang="en-US" sz="1400" dirty="0"/>
              <a:t>maximum limit it allows.</a:t>
            </a:r>
          </a:p>
          <a:p>
            <a:r>
              <a:rPr lang="en-US" sz="1600" dirty="0"/>
              <a:t>There are many design patterns for</a:t>
            </a:r>
            <a:br>
              <a:rPr lang="en-US" sz="1600" dirty="0"/>
            </a:br>
            <a:r>
              <a:rPr lang="en-US" sz="1600" dirty="0"/>
              <a:t>implementing pagination.</a:t>
            </a:r>
          </a:p>
          <a:p>
            <a:r>
              <a:rPr lang="en-US" sz="1600" dirty="0"/>
              <a:t>Simplest is mirroring the SQL model:</a:t>
            </a:r>
          </a:p>
          <a:p>
            <a:pPr lvl="1"/>
            <a:r>
              <a:rPr lang="en-US" sz="1400" i="1" dirty="0"/>
              <a:t>limit=</a:t>
            </a:r>
            <a:r>
              <a:rPr lang="en-US" sz="1400" i="1" dirty="0" err="1"/>
              <a:t>xxx&amp;offset</a:t>
            </a:r>
            <a:r>
              <a:rPr lang="en-US" sz="1400" i="1" dirty="0"/>
              <a:t>=</a:t>
            </a:r>
            <a:r>
              <a:rPr lang="en-US" sz="1400" i="1" dirty="0" err="1"/>
              <a:t>yyy</a:t>
            </a:r>
            <a:endParaRPr lang="en-US" sz="1400" i="1" dirty="0"/>
          </a:p>
          <a:p>
            <a:pPr lvl="1"/>
            <a:r>
              <a:rPr lang="en-US" sz="1400" dirty="0"/>
              <a:t>The links section is the response should contain:</a:t>
            </a:r>
          </a:p>
          <a:p>
            <a:pPr lvl="2"/>
            <a:r>
              <a:rPr lang="en-US" sz="1200" dirty="0" err="1"/>
              <a:t>prev</a:t>
            </a:r>
            <a:endParaRPr lang="en-US" sz="1200" dirty="0"/>
          </a:p>
          <a:p>
            <a:pPr lvl="2"/>
            <a:r>
              <a:rPr lang="en-US" sz="1200" dirty="0"/>
              <a:t>next</a:t>
            </a:r>
          </a:p>
          <a:p>
            <a:pPr lvl="2"/>
            <a:r>
              <a:rPr lang="en-US" sz="1200" dirty="0"/>
              <a:t>current</a:t>
            </a:r>
          </a:p>
          <a:p>
            <a:pPr lvl="2"/>
            <a:r>
              <a:rPr lang="en-US" sz="1200" dirty="0"/>
              <a:t>May contain </a:t>
            </a:r>
            <a:r>
              <a:rPr lang="en-US" sz="1200" i="1" dirty="0"/>
              <a:t>first</a:t>
            </a:r>
            <a:r>
              <a:rPr lang="en-US" sz="1200" dirty="0"/>
              <a:t> and </a:t>
            </a:r>
            <a:r>
              <a:rPr lang="en-US" sz="1200" i="1" dirty="0"/>
              <a:t>last.</a:t>
            </a:r>
            <a:endParaRPr lang="en-US" sz="1200" dirty="0"/>
          </a:p>
          <a:p>
            <a:endParaRPr lang="en-US" sz="1600" dirty="0"/>
          </a:p>
          <a:p>
            <a:endParaRPr lang="en-US" sz="1600" dirty="0"/>
          </a:p>
        </p:txBody>
      </p:sp>
      <p:sp>
        <p:nvSpPr>
          <p:cNvPr id="3" name="Title 2">
            <a:extLst>
              <a:ext uri="{FF2B5EF4-FFF2-40B4-BE49-F238E27FC236}">
                <a16:creationId xmlns:a16="http://schemas.microsoft.com/office/drawing/2014/main" id="{E3662623-5F30-2D85-F3FC-DF08652AAF98}"/>
              </a:ext>
            </a:extLst>
          </p:cNvPr>
          <p:cNvSpPr>
            <a:spLocks noGrp="1"/>
          </p:cNvSpPr>
          <p:nvPr>
            <p:ph type="title"/>
          </p:nvPr>
        </p:nvSpPr>
        <p:spPr/>
        <p:txBody>
          <a:bodyPr/>
          <a:lstStyle/>
          <a:p>
            <a:r>
              <a:rPr lang="en-US" dirty="0"/>
              <a:t>Pagination, Hyper Linked</a:t>
            </a:r>
          </a:p>
        </p:txBody>
      </p:sp>
      <p:pic>
        <p:nvPicPr>
          <p:cNvPr id="5" name="Picture 4">
            <a:extLst>
              <a:ext uri="{FF2B5EF4-FFF2-40B4-BE49-F238E27FC236}">
                <a16:creationId xmlns:a16="http://schemas.microsoft.com/office/drawing/2014/main" id="{CF7107DD-1816-39D2-8505-8873DD4504D5}"/>
              </a:ext>
            </a:extLst>
          </p:cNvPr>
          <p:cNvPicPr>
            <a:picLocks noChangeAspect="1"/>
          </p:cNvPicPr>
          <p:nvPr/>
        </p:nvPicPr>
        <p:blipFill>
          <a:blip r:embed="rId2"/>
          <a:stretch>
            <a:fillRect/>
          </a:stretch>
        </p:blipFill>
        <p:spPr>
          <a:xfrm>
            <a:off x="4822804" y="969445"/>
            <a:ext cx="4204515" cy="3659705"/>
          </a:xfrm>
          <a:prstGeom prst="rect">
            <a:avLst/>
          </a:prstGeom>
        </p:spPr>
      </p:pic>
    </p:spTree>
    <p:extLst>
      <p:ext uri="{BB962C8B-B14F-4D97-AF65-F5344CB8AC3E}">
        <p14:creationId xmlns:p14="http://schemas.microsoft.com/office/powerpoint/2010/main" val="2904201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97C7A3-4AFE-3F1E-8063-F545042880CC}"/>
              </a:ext>
            </a:extLst>
          </p:cNvPr>
          <p:cNvSpPr>
            <a:spLocks noGrp="1"/>
          </p:cNvSpPr>
          <p:nvPr>
            <p:ph idx="1"/>
          </p:nvPr>
        </p:nvSpPr>
        <p:spPr>
          <a:xfrm>
            <a:off x="152400" y="2952750"/>
            <a:ext cx="8839200" cy="1676400"/>
          </a:xfrm>
        </p:spPr>
        <p:txBody>
          <a:bodyPr/>
          <a:lstStyle/>
          <a:p>
            <a:r>
              <a:rPr lang="en-US" dirty="0"/>
              <a:t>POST sends a body to “create a new resource.”</a:t>
            </a:r>
          </a:p>
          <a:p>
            <a:r>
              <a:rPr lang="en-US" dirty="0"/>
              <a:t>The identity/URL of the new resource is not always obvious.</a:t>
            </a:r>
          </a:p>
          <a:p>
            <a:r>
              <a:rPr lang="en-US" dirty="0"/>
              <a:t>POST returns 201 Created with a link header containing the URL to the newly created resource instance.</a:t>
            </a:r>
          </a:p>
        </p:txBody>
      </p:sp>
      <p:sp>
        <p:nvSpPr>
          <p:cNvPr id="3" name="Title 2">
            <a:extLst>
              <a:ext uri="{FF2B5EF4-FFF2-40B4-BE49-F238E27FC236}">
                <a16:creationId xmlns:a16="http://schemas.microsoft.com/office/drawing/2014/main" id="{C60F23C3-4A75-3F97-0F94-85D6CDB369E9}"/>
              </a:ext>
            </a:extLst>
          </p:cNvPr>
          <p:cNvSpPr>
            <a:spLocks noGrp="1"/>
          </p:cNvSpPr>
          <p:nvPr>
            <p:ph type="title"/>
          </p:nvPr>
        </p:nvSpPr>
        <p:spPr/>
        <p:txBody>
          <a:bodyPr/>
          <a:lstStyle/>
          <a:p>
            <a:r>
              <a:rPr lang="en-US" dirty="0"/>
              <a:t>POST -- Creating a Resource</a:t>
            </a:r>
          </a:p>
        </p:txBody>
      </p:sp>
      <p:pic>
        <p:nvPicPr>
          <p:cNvPr id="4" name="Picture 3">
            <a:extLst>
              <a:ext uri="{FF2B5EF4-FFF2-40B4-BE49-F238E27FC236}">
                <a16:creationId xmlns:a16="http://schemas.microsoft.com/office/drawing/2014/main" id="{CB9124A6-7E75-D76F-6134-F2EE1B1CF1F0}"/>
              </a:ext>
            </a:extLst>
          </p:cNvPr>
          <p:cNvPicPr>
            <a:picLocks noChangeAspect="1"/>
          </p:cNvPicPr>
          <p:nvPr/>
        </p:nvPicPr>
        <p:blipFill>
          <a:blip r:embed="rId2"/>
          <a:stretch>
            <a:fillRect/>
          </a:stretch>
        </p:blipFill>
        <p:spPr>
          <a:xfrm>
            <a:off x="533400" y="478278"/>
            <a:ext cx="7239000" cy="2369801"/>
          </a:xfrm>
          <a:prstGeom prst="rect">
            <a:avLst/>
          </a:prstGeom>
        </p:spPr>
      </p:pic>
    </p:spTree>
    <p:extLst>
      <p:ext uri="{BB962C8B-B14F-4D97-AF65-F5344CB8AC3E}">
        <p14:creationId xmlns:p14="http://schemas.microsoft.com/office/powerpoint/2010/main" val="1206884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115161-D27F-FBCB-4B48-B5E4BDEF6D69}"/>
              </a:ext>
            </a:extLst>
          </p:cNvPr>
          <p:cNvSpPr>
            <a:spLocks noGrp="1"/>
          </p:cNvSpPr>
          <p:nvPr>
            <p:ph type="title"/>
          </p:nvPr>
        </p:nvSpPr>
        <p:spPr/>
        <p:txBody>
          <a:bodyPr/>
          <a:lstStyle/>
          <a:p>
            <a:r>
              <a:rPr lang="en-US" dirty="0"/>
              <a:t>POST</a:t>
            </a:r>
          </a:p>
        </p:txBody>
      </p:sp>
      <p:pic>
        <p:nvPicPr>
          <p:cNvPr id="4" name="Picture 3">
            <a:extLst>
              <a:ext uri="{FF2B5EF4-FFF2-40B4-BE49-F238E27FC236}">
                <a16:creationId xmlns:a16="http://schemas.microsoft.com/office/drawing/2014/main" id="{E71E7025-EA4D-CE0C-110A-9B61AA0C4514}"/>
              </a:ext>
            </a:extLst>
          </p:cNvPr>
          <p:cNvPicPr>
            <a:picLocks noChangeAspect="1"/>
          </p:cNvPicPr>
          <p:nvPr/>
        </p:nvPicPr>
        <p:blipFill>
          <a:blip r:embed="rId2"/>
          <a:stretch>
            <a:fillRect/>
          </a:stretch>
        </p:blipFill>
        <p:spPr>
          <a:xfrm>
            <a:off x="381000" y="444318"/>
            <a:ext cx="5031931" cy="2819399"/>
          </a:xfrm>
          <a:prstGeom prst="rect">
            <a:avLst/>
          </a:prstGeom>
        </p:spPr>
      </p:pic>
      <p:pic>
        <p:nvPicPr>
          <p:cNvPr id="5" name="Picture 4">
            <a:extLst>
              <a:ext uri="{FF2B5EF4-FFF2-40B4-BE49-F238E27FC236}">
                <a16:creationId xmlns:a16="http://schemas.microsoft.com/office/drawing/2014/main" id="{5669DCD1-FFCE-4571-79C0-AB922E82C380}"/>
              </a:ext>
            </a:extLst>
          </p:cNvPr>
          <p:cNvPicPr>
            <a:picLocks noChangeAspect="1"/>
          </p:cNvPicPr>
          <p:nvPr/>
        </p:nvPicPr>
        <p:blipFill>
          <a:blip r:embed="rId3"/>
          <a:stretch>
            <a:fillRect/>
          </a:stretch>
        </p:blipFill>
        <p:spPr>
          <a:xfrm>
            <a:off x="3962396" y="1809750"/>
            <a:ext cx="5031935" cy="2819400"/>
          </a:xfrm>
          <a:prstGeom prst="rect">
            <a:avLst/>
          </a:prstGeom>
        </p:spPr>
      </p:pic>
    </p:spTree>
    <p:extLst>
      <p:ext uri="{BB962C8B-B14F-4D97-AF65-F5344CB8AC3E}">
        <p14:creationId xmlns:p14="http://schemas.microsoft.com/office/powerpoint/2010/main" val="3371420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658317-ADB9-6E3A-26D3-AD230A571078}"/>
              </a:ext>
            </a:extLst>
          </p:cNvPr>
          <p:cNvSpPr>
            <a:spLocks noGrp="1"/>
          </p:cNvSpPr>
          <p:nvPr>
            <p:ph idx="1"/>
          </p:nvPr>
        </p:nvSpPr>
        <p:spPr>
          <a:xfrm>
            <a:off x="152400" y="514350"/>
            <a:ext cx="8839200" cy="4038600"/>
          </a:xfrm>
        </p:spPr>
        <p:txBody>
          <a:bodyPr/>
          <a:lstStyle/>
          <a:p>
            <a:pPr>
              <a:spcBef>
                <a:spcPts val="0"/>
              </a:spcBef>
              <a:spcAft>
                <a:spcPts val="300"/>
              </a:spcAft>
            </a:pPr>
            <a:r>
              <a:rPr lang="en-US" sz="1600" dirty="0"/>
              <a:t>Scroll through HTTP responses and explain ones that the projects should use.</a:t>
            </a:r>
          </a:p>
          <a:p>
            <a:pPr>
              <a:spcBef>
                <a:spcPts val="0"/>
              </a:spcBef>
              <a:spcAft>
                <a:spcPts val="300"/>
              </a:spcAft>
            </a:pPr>
            <a:r>
              <a:rPr lang="en-US" sz="1600" dirty="0"/>
              <a:t>I expect you to return a reasonable set of responses for your methods.</a:t>
            </a:r>
            <a:br>
              <a:rPr lang="en-US" sz="1600" dirty="0"/>
            </a:br>
            <a:r>
              <a:rPr lang="en-US" sz="1600" dirty="0"/>
              <a:t>You can choose the exact set but be consistent across your resource implementations.</a:t>
            </a:r>
          </a:p>
          <a:p>
            <a:pPr>
              <a:spcBef>
                <a:spcPts val="0"/>
              </a:spcBef>
              <a:spcAft>
                <a:spcPts val="300"/>
              </a:spcAft>
            </a:pPr>
            <a:r>
              <a:rPr lang="en-US" sz="1600" dirty="0"/>
              <a:t>At a minimum, I recommend the following:</a:t>
            </a:r>
          </a:p>
          <a:p>
            <a:pPr lvl="1">
              <a:spcBef>
                <a:spcPts val="0"/>
              </a:spcBef>
              <a:spcAft>
                <a:spcPts val="300"/>
              </a:spcAft>
            </a:pPr>
            <a:r>
              <a:rPr lang="en-US" sz="1400" dirty="0"/>
              <a:t>200 OK</a:t>
            </a:r>
          </a:p>
          <a:p>
            <a:pPr lvl="1">
              <a:spcBef>
                <a:spcPts val="0"/>
              </a:spcBef>
              <a:spcAft>
                <a:spcPts val="300"/>
              </a:spcAft>
            </a:pPr>
            <a:r>
              <a:rPr lang="en-US" sz="1400" dirty="0"/>
              <a:t>201 Created</a:t>
            </a:r>
          </a:p>
          <a:p>
            <a:pPr lvl="1">
              <a:spcBef>
                <a:spcPts val="0"/>
              </a:spcBef>
              <a:spcAft>
                <a:spcPts val="300"/>
              </a:spcAft>
            </a:pPr>
            <a:r>
              <a:rPr lang="en-US" sz="1400" dirty="0"/>
              <a:t>202 Accepted (we will discuss this one in the next lecture)</a:t>
            </a:r>
          </a:p>
          <a:p>
            <a:pPr lvl="1">
              <a:spcBef>
                <a:spcPts val="0"/>
              </a:spcBef>
              <a:spcAft>
                <a:spcPts val="300"/>
              </a:spcAft>
            </a:pPr>
            <a:r>
              <a:rPr lang="en-US" sz="1400" dirty="0"/>
              <a:t>400 Bad request</a:t>
            </a:r>
          </a:p>
          <a:p>
            <a:pPr lvl="1">
              <a:spcBef>
                <a:spcPts val="0"/>
              </a:spcBef>
              <a:spcAft>
                <a:spcPts val="300"/>
              </a:spcAft>
            </a:pPr>
            <a:r>
              <a:rPr lang="en-US" sz="1400" dirty="0"/>
              <a:t>401 Unauthorized (next lecture)</a:t>
            </a:r>
          </a:p>
          <a:p>
            <a:pPr lvl="1">
              <a:spcBef>
                <a:spcPts val="0"/>
              </a:spcBef>
              <a:spcAft>
                <a:spcPts val="300"/>
              </a:spcAft>
            </a:pPr>
            <a:r>
              <a:rPr lang="en-US" sz="1400" dirty="0"/>
              <a:t>403 Forbidden (next lecture)</a:t>
            </a:r>
          </a:p>
          <a:p>
            <a:pPr lvl="1">
              <a:spcBef>
                <a:spcPts val="0"/>
              </a:spcBef>
              <a:spcAft>
                <a:spcPts val="300"/>
              </a:spcAft>
            </a:pPr>
            <a:r>
              <a:rPr lang="en-US" sz="1400" dirty="0"/>
              <a:t>404 Not found</a:t>
            </a:r>
          </a:p>
          <a:p>
            <a:pPr lvl="1">
              <a:spcBef>
                <a:spcPts val="0"/>
              </a:spcBef>
              <a:spcAft>
                <a:spcPts val="300"/>
              </a:spcAft>
            </a:pPr>
            <a:r>
              <a:rPr lang="en-US" sz="1400" dirty="0"/>
              <a:t>409 Conflict</a:t>
            </a:r>
          </a:p>
          <a:p>
            <a:pPr lvl="1">
              <a:spcBef>
                <a:spcPts val="0"/>
              </a:spcBef>
              <a:spcAft>
                <a:spcPts val="300"/>
              </a:spcAft>
            </a:pPr>
            <a:r>
              <a:rPr lang="en-US" sz="1400" dirty="0"/>
              <a:t>418 I’m a teapot</a:t>
            </a:r>
          </a:p>
          <a:p>
            <a:pPr lvl="1">
              <a:spcBef>
                <a:spcPts val="0"/>
              </a:spcBef>
              <a:spcAft>
                <a:spcPts val="300"/>
              </a:spcAft>
            </a:pPr>
            <a:r>
              <a:rPr lang="en-US" sz="1400" dirty="0"/>
              <a:t>420 Enhance your calm</a:t>
            </a:r>
          </a:p>
          <a:p>
            <a:pPr lvl="1">
              <a:spcBef>
                <a:spcPts val="0"/>
              </a:spcBef>
              <a:spcAft>
                <a:spcPts val="300"/>
              </a:spcAft>
            </a:pPr>
            <a:r>
              <a:rPr lang="en-US" sz="1400" dirty="0"/>
              <a:t>422 </a:t>
            </a:r>
            <a:r>
              <a:rPr lang="en-US" sz="1400" dirty="0" err="1"/>
              <a:t>Unprocessable</a:t>
            </a:r>
            <a:r>
              <a:rPr lang="en-US" sz="1400" dirty="0"/>
              <a:t> content</a:t>
            </a:r>
          </a:p>
          <a:p>
            <a:pPr lvl="1">
              <a:spcBef>
                <a:spcPts val="0"/>
              </a:spcBef>
              <a:spcAft>
                <a:spcPts val="300"/>
              </a:spcAft>
            </a:pPr>
            <a:r>
              <a:rPr lang="en-US" sz="1400" dirty="0"/>
              <a:t>501 Not implemented</a:t>
            </a:r>
          </a:p>
        </p:txBody>
      </p:sp>
      <p:sp>
        <p:nvSpPr>
          <p:cNvPr id="3" name="Title 2">
            <a:extLst>
              <a:ext uri="{FF2B5EF4-FFF2-40B4-BE49-F238E27FC236}">
                <a16:creationId xmlns:a16="http://schemas.microsoft.com/office/drawing/2014/main" id="{F328B127-FF82-905E-0BD9-5CFE97666012}"/>
              </a:ext>
            </a:extLst>
          </p:cNvPr>
          <p:cNvSpPr>
            <a:spLocks noGrp="1"/>
          </p:cNvSpPr>
          <p:nvPr>
            <p:ph type="title"/>
          </p:nvPr>
        </p:nvSpPr>
        <p:spPr/>
        <p:txBody>
          <a:bodyPr/>
          <a:lstStyle/>
          <a:p>
            <a:r>
              <a:rPr lang="en-US" dirty="0"/>
              <a:t>Response</a:t>
            </a:r>
          </a:p>
        </p:txBody>
      </p:sp>
    </p:spTree>
    <p:extLst>
      <p:ext uri="{BB962C8B-B14F-4D97-AF65-F5344CB8AC3E}">
        <p14:creationId xmlns:p14="http://schemas.microsoft.com/office/powerpoint/2010/main" val="4285215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DF12F-F162-870A-1DDF-23F26F5F4F57}"/>
            </a:ext>
          </a:extLst>
        </p:cNvPr>
        <p:cNvGrpSpPr/>
        <p:nvPr/>
      </p:nvGrpSpPr>
      <p:grpSpPr>
        <a:xfrm>
          <a:off x="0" y="0"/>
          <a:ext cx="0" cy="0"/>
          <a:chOff x="0" y="0"/>
          <a:chExt cx="0" cy="0"/>
        </a:xfrm>
      </p:grpSpPr>
      <p:sp>
        <p:nvSpPr>
          <p:cNvPr id="2" name="TextBox 8">
            <a:extLst>
              <a:ext uri="{FF2B5EF4-FFF2-40B4-BE49-F238E27FC236}">
                <a16:creationId xmlns:a16="http://schemas.microsoft.com/office/drawing/2014/main" id="{0EFFE8A8-DD09-032E-E898-DD604B084039}"/>
              </a:ext>
            </a:extLst>
          </p:cNvPr>
          <p:cNvSpPr txBox="1">
            <a:spLocks noChangeArrowheads="1"/>
          </p:cNvSpPr>
          <p:nvPr/>
        </p:nvSpPr>
        <p:spPr bwMode="auto">
          <a:xfrm>
            <a:off x="0" y="1372815"/>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Composition</a:t>
            </a:r>
          </a:p>
          <a:p>
            <a:pPr algn="ctr"/>
            <a:endParaRPr lang="en-US" altLang="en-US" sz="2800" i="1" dirty="0">
              <a:solidFill>
                <a:schemeClr val="bg1"/>
              </a:solidFill>
            </a:endParaRPr>
          </a:p>
        </p:txBody>
      </p:sp>
    </p:spTree>
    <p:extLst>
      <p:ext uri="{BB962C8B-B14F-4D97-AF65-F5344CB8AC3E}">
        <p14:creationId xmlns:p14="http://schemas.microsoft.com/office/powerpoint/2010/main" val="2233512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5D226-0F43-3350-9BBC-3F9DF72AF6EA}"/>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81578337-3B01-A148-9E7D-6CD30134F664}"/>
              </a:ext>
            </a:extLst>
          </p:cNvPr>
          <p:cNvSpPr>
            <a:spLocks noGrp="1"/>
          </p:cNvSpPr>
          <p:nvPr>
            <p:ph idx="1"/>
          </p:nvPr>
        </p:nvSpPr>
        <p:spPr>
          <a:xfrm>
            <a:off x="152400" y="3746828"/>
            <a:ext cx="8839200" cy="758048"/>
          </a:xfrm>
        </p:spPr>
        <p:txBody>
          <a:bodyPr/>
          <a:lstStyle/>
          <a:p>
            <a:pPr marL="0" indent="0">
              <a:buNone/>
            </a:pPr>
            <a:r>
              <a:rPr lang="en-US" dirty="0"/>
              <a:t>This creates some interesting challenges, e.g.</a:t>
            </a:r>
          </a:p>
          <a:p>
            <a:pPr lvl="1"/>
            <a:r>
              <a:rPr lang="en-US" dirty="0"/>
              <a:t>Joins</a:t>
            </a:r>
          </a:p>
          <a:p>
            <a:pPr lvl="1"/>
            <a:r>
              <a:rPr lang="en-US" dirty="0"/>
              <a:t>Foreign Keys</a:t>
            </a:r>
          </a:p>
        </p:txBody>
      </p:sp>
      <p:sp>
        <p:nvSpPr>
          <p:cNvPr id="3" name="Title 2">
            <a:extLst>
              <a:ext uri="{FF2B5EF4-FFF2-40B4-BE49-F238E27FC236}">
                <a16:creationId xmlns:a16="http://schemas.microsoft.com/office/drawing/2014/main" id="{B3FFAC3B-44E8-FA0B-566A-7DD90899B967}"/>
              </a:ext>
            </a:extLst>
          </p:cNvPr>
          <p:cNvSpPr>
            <a:spLocks noGrp="1"/>
          </p:cNvSpPr>
          <p:nvPr>
            <p:ph type="title"/>
          </p:nvPr>
        </p:nvSpPr>
        <p:spPr/>
        <p:txBody>
          <a:bodyPr/>
          <a:lstStyle/>
          <a:p>
            <a:r>
              <a:rPr lang="en-US" dirty="0"/>
              <a:t>Resource Oriented and Microservices – My Project</a:t>
            </a:r>
          </a:p>
        </p:txBody>
      </p:sp>
      <p:pic>
        <p:nvPicPr>
          <p:cNvPr id="4" name="Picture 3">
            <a:extLst>
              <a:ext uri="{FF2B5EF4-FFF2-40B4-BE49-F238E27FC236}">
                <a16:creationId xmlns:a16="http://schemas.microsoft.com/office/drawing/2014/main" id="{CDD8EF36-61FA-A57D-F9CD-26ACFE346AA1}"/>
              </a:ext>
            </a:extLst>
          </p:cNvPr>
          <p:cNvPicPr>
            <a:picLocks noChangeAspect="1"/>
          </p:cNvPicPr>
          <p:nvPr/>
        </p:nvPicPr>
        <p:blipFill>
          <a:blip r:embed="rId2"/>
          <a:stretch>
            <a:fillRect/>
          </a:stretch>
        </p:blipFill>
        <p:spPr>
          <a:xfrm>
            <a:off x="153586" y="528935"/>
            <a:ext cx="3819022" cy="3257550"/>
          </a:xfrm>
          <a:prstGeom prst="rect">
            <a:avLst/>
          </a:prstGeom>
        </p:spPr>
      </p:pic>
      <p:pic>
        <p:nvPicPr>
          <p:cNvPr id="5" name="Picture 4">
            <a:extLst>
              <a:ext uri="{FF2B5EF4-FFF2-40B4-BE49-F238E27FC236}">
                <a16:creationId xmlns:a16="http://schemas.microsoft.com/office/drawing/2014/main" id="{A51F622D-C2CA-1A27-FA08-DD35F3784F79}"/>
              </a:ext>
            </a:extLst>
          </p:cNvPr>
          <p:cNvPicPr>
            <a:picLocks noChangeAspect="1"/>
          </p:cNvPicPr>
          <p:nvPr/>
        </p:nvPicPr>
        <p:blipFill>
          <a:blip r:embed="rId3"/>
          <a:stretch>
            <a:fillRect/>
          </a:stretch>
        </p:blipFill>
        <p:spPr>
          <a:xfrm>
            <a:off x="4495800" y="554490"/>
            <a:ext cx="4310510" cy="3486150"/>
          </a:xfrm>
          <a:prstGeom prst="rect">
            <a:avLst/>
          </a:prstGeom>
        </p:spPr>
      </p:pic>
      <p:sp>
        <p:nvSpPr>
          <p:cNvPr id="6" name="TextBox 5">
            <a:extLst>
              <a:ext uri="{FF2B5EF4-FFF2-40B4-BE49-F238E27FC236}">
                <a16:creationId xmlns:a16="http://schemas.microsoft.com/office/drawing/2014/main" id="{CD33C497-3ABE-4C44-144E-5E655A25B084}"/>
              </a:ext>
            </a:extLst>
          </p:cNvPr>
          <p:cNvSpPr txBox="1"/>
          <p:nvPr/>
        </p:nvSpPr>
        <p:spPr>
          <a:xfrm>
            <a:off x="763186" y="1176635"/>
            <a:ext cx="2124043" cy="646331"/>
          </a:xfrm>
          <a:prstGeom prst="rect">
            <a:avLst/>
          </a:prstGeom>
          <a:noFill/>
        </p:spPr>
        <p:txBody>
          <a:bodyPr wrap="none" rtlCol="0">
            <a:spAutoFit/>
          </a:bodyPr>
          <a:lstStyle/>
          <a:p>
            <a:r>
              <a:rPr lang="en-US" dirty="0"/>
              <a:t>Conceptual Model --</a:t>
            </a:r>
            <a:br>
              <a:rPr lang="en-US" dirty="0"/>
            </a:br>
            <a:r>
              <a:rPr lang="en-US" dirty="0"/>
              <a:t>User, Project, Course</a:t>
            </a:r>
          </a:p>
        </p:txBody>
      </p:sp>
      <p:sp>
        <p:nvSpPr>
          <p:cNvPr id="7" name="TextBox 6">
            <a:extLst>
              <a:ext uri="{FF2B5EF4-FFF2-40B4-BE49-F238E27FC236}">
                <a16:creationId xmlns:a16="http://schemas.microsoft.com/office/drawing/2014/main" id="{BAF70E8A-B928-2F6B-8280-FE9946ED08FB}"/>
              </a:ext>
            </a:extLst>
          </p:cNvPr>
          <p:cNvSpPr txBox="1"/>
          <p:nvPr/>
        </p:nvSpPr>
        <p:spPr>
          <a:xfrm>
            <a:off x="4419600" y="528935"/>
            <a:ext cx="1478290" cy="646331"/>
          </a:xfrm>
          <a:prstGeom prst="rect">
            <a:avLst/>
          </a:prstGeom>
          <a:noFill/>
        </p:spPr>
        <p:txBody>
          <a:bodyPr wrap="none" rtlCol="0">
            <a:spAutoFit/>
          </a:bodyPr>
          <a:lstStyle/>
          <a:p>
            <a:r>
              <a:rPr lang="en-US" dirty="0"/>
              <a:t>Mapped to</a:t>
            </a:r>
            <a:br>
              <a:rPr lang="en-US" dirty="0"/>
            </a:br>
            <a:r>
              <a:rPr lang="en-US" dirty="0"/>
              <a:t>Microservices</a:t>
            </a:r>
          </a:p>
        </p:txBody>
      </p:sp>
      <p:sp>
        <p:nvSpPr>
          <p:cNvPr id="2" name="TextBox 1">
            <a:extLst>
              <a:ext uri="{FF2B5EF4-FFF2-40B4-BE49-F238E27FC236}">
                <a16:creationId xmlns:a16="http://schemas.microsoft.com/office/drawing/2014/main" id="{9968152D-0830-B83A-B3F6-DBA7E4733A1E}"/>
              </a:ext>
            </a:extLst>
          </p:cNvPr>
          <p:cNvSpPr txBox="1"/>
          <p:nvPr/>
        </p:nvSpPr>
        <p:spPr>
          <a:xfrm>
            <a:off x="4955698" y="4100771"/>
            <a:ext cx="4015458" cy="584775"/>
          </a:xfrm>
          <a:prstGeom prst="rect">
            <a:avLst/>
          </a:prstGeom>
          <a:noFill/>
        </p:spPr>
        <p:txBody>
          <a:bodyPr wrap="none" rtlCol="0">
            <a:spAutoFit/>
          </a:bodyPr>
          <a:lstStyle/>
          <a:p>
            <a:r>
              <a:rPr lang="en-US" sz="1600" dirty="0"/>
              <a:t>If the cluster of resources might be useful</a:t>
            </a:r>
            <a:br>
              <a:rPr lang="en-US" sz="1600" dirty="0"/>
            </a:br>
            <a:r>
              <a:rPr lang="en-US" sz="1600" dirty="0"/>
              <a:t>in other solutions </a:t>
            </a:r>
            <a:r>
              <a:rPr lang="en-US" sz="1600" dirty="0">
                <a:sym typeface="Wingdings" pitchFamily="2" charset="2"/>
              </a:rPr>
              <a:t> It may be a microservice.</a:t>
            </a:r>
            <a:endParaRPr lang="en-US" sz="1600" dirty="0"/>
          </a:p>
        </p:txBody>
      </p:sp>
    </p:spTree>
    <p:extLst>
      <p:ext uri="{BB962C8B-B14F-4D97-AF65-F5344CB8AC3E}">
        <p14:creationId xmlns:p14="http://schemas.microsoft.com/office/powerpoint/2010/main" val="2156309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77A0C-7333-3E50-7F8C-BAAA60F3C42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882EAF3-8384-A8AE-2EE0-262C9B64B129}"/>
              </a:ext>
            </a:extLst>
          </p:cNvPr>
          <p:cNvSpPr>
            <a:spLocks noGrp="1"/>
          </p:cNvSpPr>
          <p:nvPr>
            <p:ph idx="1"/>
          </p:nvPr>
        </p:nvSpPr>
        <p:spPr/>
        <p:txBody>
          <a:bodyPr/>
          <a:lstStyle/>
          <a:p>
            <a:r>
              <a:rPr lang="en-US" dirty="0"/>
              <a:t>My first sprint with have 5 microservices:</a:t>
            </a:r>
          </a:p>
          <a:p>
            <a:pPr lvl="1"/>
            <a:r>
              <a:rPr lang="en-US" dirty="0"/>
              <a:t>5 core/atomic microservices:</a:t>
            </a:r>
          </a:p>
          <a:p>
            <a:pPr lvl="2"/>
            <a:r>
              <a:rPr lang="en-US" dirty="0" err="1"/>
              <a:t>user_info</a:t>
            </a:r>
            <a:endParaRPr lang="en-US" dirty="0"/>
          </a:p>
          <a:p>
            <a:pPr lvl="2"/>
            <a:r>
              <a:rPr lang="en-US" dirty="0" err="1"/>
              <a:t>courseworks_adaptor</a:t>
            </a:r>
            <a:endParaRPr lang="en-US" dirty="0"/>
          </a:p>
          <a:p>
            <a:pPr lvl="2"/>
            <a:r>
              <a:rPr lang="en-US" dirty="0" err="1"/>
              <a:t>course_info</a:t>
            </a:r>
            <a:endParaRPr lang="en-US" dirty="0"/>
          </a:p>
          <a:p>
            <a:pPr lvl="2"/>
            <a:r>
              <a:rPr lang="en-US" dirty="0" err="1"/>
              <a:t>student_coupons</a:t>
            </a:r>
            <a:endParaRPr lang="en-US" dirty="0"/>
          </a:p>
          <a:p>
            <a:pPr lvl="2"/>
            <a:r>
              <a:rPr lang="en-US" dirty="0" err="1"/>
              <a:t>project_teams</a:t>
            </a:r>
            <a:endParaRPr lang="en-US" dirty="0"/>
          </a:p>
          <a:p>
            <a:pPr lvl="1"/>
            <a:r>
              <a:rPr lang="en-US" dirty="0"/>
              <a:t>1 composite/integration microservice: </a:t>
            </a:r>
            <a:r>
              <a:rPr lang="en-US" dirty="0" err="1"/>
              <a:t>core_course_management</a:t>
            </a:r>
            <a:endParaRPr lang="en-US" dirty="0"/>
          </a:p>
          <a:p>
            <a:r>
              <a:rPr lang="en-US" dirty="0"/>
              <a:t>The composite service:</a:t>
            </a:r>
          </a:p>
          <a:p>
            <a:pPr lvl="1"/>
            <a:r>
              <a:rPr lang="en-US" dirty="0"/>
              <a:t>Implements “consistency” in the data in the core services, e.g. “foreign keys.”</a:t>
            </a:r>
          </a:p>
          <a:p>
            <a:pPr lvl="1"/>
            <a:r>
              <a:rPr lang="en-US" dirty="0"/>
              <a:t>Eliminates the need for complex logic in the UI or client, which would be impacted by changes.</a:t>
            </a:r>
          </a:p>
          <a:p>
            <a:pPr lvl="1"/>
            <a:r>
              <a:rPr lang="en-US" dirty="0"/>
              <a:t>Exposes only information from the basic services that the client requires.</a:t>
            </a:r>
          </a:p>
          <a:p>
            <a:r>
              <a:rPr lang="en-US" dirty="0"/>
              <a:t>The composite service is conceptually similar to a database view.</a:t>
            </a:r>
          </a:p>
          <a:p>
            <a:pPr lvl="2"/>
            <a:endParaRPr lang="en-US" dirty="0"/>
          </a:p>
          <a:p>
            <a:pPr lvl="1"/>
            <a:endParaRPr lang="en-US" dirty="0"/>
          </a:p>
        </p:txBody>
      </p:sp>
      <p:sp>
        <p:nvSpPr>
          <p:cNvPr id="5" name="Title 4">
            <a:extLst>
              <a:ext uri="{FF2B5EF4-FFF2-40B4-BE49-F238E27FC236}">
                <a16:creationId xmlns:a16="http://schemas.microsoft.com/office/drawing/2014/main" id="{D42D4D9F-B610-0683-25B9-833632896F70}"/>
              </a:ext>
            </a:extLst>
          </p:cNvPr>
          <p:cNvSpPr>
            <a:spLocks noGrp="1"/>
          </p:cNvSpPr>
          <p:nvPr>
            <p:ph type="title"/>
          </p:nvPr>
        </p:nvSpPr>
        <p:spPr/>
        <p:txBody>
          <a:bodyPr/>
          <a:lstStyle/>
          <a:p>
            <a:r>
              <a:rPr lang="en-US" dirty="0"/>
              <a:t>First Group of Microservices</a:t>
            </a:r>
          </a:p>
        </p:txBody>
      </p:sp>
      <p:pic>
        <p:nvPicPr>
          <p:cNvPr id="7" name="Picture 6">
            <a:extLst>
              <a:ext uri="{FF2B5EF4-FFF2-40B4-BE49-F238E27FC236}">
                <a16:creationId xmlns:a16="http://schemas.microsoft.com/office/drawing/2014/main" id="{4B0A9579-3964-17E7-7982-C64896C31355}"/>
              </a:ext>
            </a:extLst>
          </p:cNvPr>
          <p:cNvPicPr>
            <a:picLocks noChangeAspect="1"/>
          </p:cNvPicPr>
          <p:nvPr/>
        </p:nvPicPr>
        <p:blipFill>
          <a:blip r:embed="rId2"/>
          <a:stretch>
            <a:fillRect/>
          </a:stretch>
        </p:blipFill>
        <p:spPr>
          <a:xfrm>
            <a:off x="4748560" y="590550"/>
            <a:ext cx="4114800" cy="1752349"/>
          </a:xfrm>
          <a:prstGeom prst="rect">
            <a:avLst/>
          </a:prstGeom>
        </p:spPr>
      </p:pic>
    </p:spTree>
    <p:extLst>
      <p:ext uri="{BB962C8B-B14F-4D97-AF65-F5344CB8AC3E}">
        <p14:creationId xmlns:p14="http://schemas.microsoft.com/office/powerpoint/2010/main" val="3906924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4B1E7-1E8D-2BEA-A8EB-D3289E94CC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C5E5B0-EFAB-D9B7-DE06-1C4800FE043F}"/>
              </a:ext>
            </a:extLst>
          </p:cNvPr>
          <p:cNvSpPr>
            <a:spLocks noGrp="1"/>
          </p:cNvSpPr>
          <p:nvPr>
            <p:ph idx="1"/>
          </p:nvPr>
        </p:nvSpPr>
        <p:spPr>
          <a:xfrm>
            <a:off x="152400" y="3222483"/>
            <a:ext cx="8839200" cy="1406667"/>
          </a:xfrm>
        </p:spPr>
        <p:txBody>
          <a:bodyPr/>
          <a:lstStyle/>
          <a:p>
            <a:r>
              <a:rPr lang="en-US" sz="1600" dirty="0"/>
              <a:t>The GET on the composite invokes GET on several atomic services. This can occur synchronously or asynchronously in parallel.</a:t>
            </a:r>
          </a:p>
          <a:p>
            <a:r>
              <a:rPr lang="en-US" sz="1600" dirty="0"/>
              <a:t>PUT, POST and DELETE are more complex. Your logic may have to undo some delegated updates that occur if others fail.</a:t>
            </a:r>
          </a:p>
          <a:p>
            <a:r>
              <a:rPr lang="en-US" sz="1600" dirty="0"/>
              <a:t>To get started, we will just use simple logic but explore more complex approaches.</a:t>
            </a:r>
          </a:p>
        </p:txBody>
      </p:sp>
      <p:sp>
        <p:nvSpPr>
          <p:cNvPr id="3" name="Title 2">
            <a:extLst>
              <a:ext uri="{FF2B5EF4-FFF2-40B4-BE49-F238E27FC236}">
                <a16:creationId xmlns:a16="http://schemas.microsoft.com/office/drawing/2014/main" id="{B4254392-5C24-F89A-4266-0CBAAA1AC2A3}"/>
              </a:ext>
            </a:extLst>
          </p:cNvPr>
          <p:cNvSpPr>
            <a:spLocks noGrp="1"/>
          </p:cNvSpPr>
          <p:nvPr>
            <p:ph type="title"/>
          </p:nvPr>
        </p:nvSpPr>
        <p:spPr/>
        <p:txBody>
          <a:bodyPr/>
          <a:lstStyle/>
          <a:p>
            <a:r>
              <a:rPr lang="en-US" dirty="0"/>
              <a:t>Composite Microservice Logic</a:t>
            </a:r>
          </a:p>
        </p:txBody>
      </p:sp>
      <p:pic>
        <p:nvPicPr>
          <p:cNvPr id="4" name="Picture 3">
            <a:extLst>
              <a:ext uri="{FF2B5EF4-FFF2-40B4-BE49-F238E27FC236}">
                <a16:creationId xmlns:a16="http://schemas.microsoft.com/office/drawing/2014/main" id="{05E7BE61-4474-A91F-36D1-FFE8DD28B47D}"/>
              </a:ext>
            </a:extLst>
          </p:cNvPr>
          <p:cNvPicPr>
            <a:picLocks noChangeAspect="1"/>
          </p:cNvPicPr>
          <p:nvPr/>
        </p:nvPicPr>
        <p:blipFill>
          <a:blip r:embed="rId2"/>
          <a:stretch>
            <a:fillRect/>
          </a:stretch>
        </p:blipFill>
        <p:spPr>
          <a:xfrm>
            <a:off x="381000" y="514350"/>
            <a:ext cx="7772400" cy="2708133"/>
          </a:xfrm>
          <a:prstGeom prst="rect">
            <a:avLst/>
          </a:prstGeom>
        </p:spPr>
      </p:pic>
    </p:spTree>
    <p:extLst>
      <p:ext uri="{BB962C8B-B14F-4D97-AF65-F5344CB8AC3E}">
        <p14:creationId xmlns:p14="http://schemas.microsoft.com/office/powerpoint/2010/main" val="3505288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268C8-3B3F-BC3E-1A69-2C6E866C2D7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29C9A8-8CD1-F209-F144-DF97107AD34B}"/>
              </a:ext>
            </a:extLst>
          </p:cNvPr>
          <p:cNvSpPr>
            <a:spLocks noGrp="1"/>
          </p:cNvSpPr>
          <p:nvPr>
            <p:ph idx="1"/>
          </p:nvPr>
        </p:nvSpPr>
        <p:spPr>
          <a:xfrm>
            <a:off x="152400" y="3257550"/>
            <a:ext cx="8839200" cy="1371600"/>
          </a:xfrm>
        </p:spPr>
        <p:txBody>
          <a:bodyPr/>
          <a:lstStyle/>
          <a:p>
            <a:pPr>
              <a:spcBef>
                <a:spcPts val="0"/>
              </a:spcBef>
              <a:spcAft>
                <a:spcPts val="200"/>
              </a:spcAft>
            </a:pPr>
            <a:r>
              <a:rPr lang="en-US" sz="1600" dirty="0"/>
              <a:t>There are two base patterns: choreography and orchestration.</a:t>
            </a:r>
          </a:p>
          <a:p>
            <a:pPr>
              <a:spcBef>
                <a:spcPts val="0"/>
              </a:spcBef>
              <a:spcAft>
                <a:spcPts val="200"/>
              </a:spcAft>
            </a:pPr>
            <a:r>
              <a:rPr lang="en-US" sz="1600" dirty="0"/>
              <a:t>There also several different implementation technologies and choices.</a:t>
            </a:r>
          </a:p>
          <a:p>
            <a:pPr>
              <a:spcBef>
                <a:spcPts val="0"/>
              </a:spcBef>
              <a:spcAft>
                <a:spcPts val="200"/>
              </a:spcAft>
            </a:pPr>
            <a:r>
              <a:rPr lang="en-US" sz="1600" dirty="0"/>
              <a:t>And many related concepts, e.g. Sagas, Event Driven Architectures, Pub/Sub, … …</a:t>
            </a:r>
          </a:p>
          <a:p>
            <a:pPr>
              <a:spcBef>
                <a:spcPts val="0"/>
              </a:spcBef>
              <a:spcAft>
                <a:spcPts val="200"/>
              </a:spcAft>
            </a:pPr>
            <a:r>
              <a:rPr lang="en-US" sz="1600" dirty="0"/>
              <a:t>We will cover and explore incrementally, but for now we will keep it simple and do</a:t>
            </a:r>
            <a:br>
              <a:rPr lang="en-US" sz="1600" dirty="0"/>
            </a:br>
            <a:r>
              <a:rPr lang="en-US" sz="1600" dirty="0"/>
              <a:t>traditional “if … then …” code.</a:t>
            </a:r>
          </a:p>
        </p:txBody>
      </p:sp>
      <p:sp>
        <p:nvSpPr>
          <p:cNvPr id="3" name="Title 2">
            <a:extLst>
              <a:ext uri="{FF2B5EF4-FFF2-40B4-BE49-F238E27FC236}">
                <a16:creationId xmlns:a16="http://schemas.microsoft.com/office/drawing/2014/main" id="{9DC21F46-0E9A-A41C-4F96-B2418852ABE5}"/>
              </a:ext>
            </a:extLst>
          </p:cNvPr>
          <p:cNvSpPr>
            <a:spLocks noGrp="1"/>
          </p:cNvSpPr>
          <p:nvPr>
            <p:ph type="title"/>
          </p:nvPr>
        </p:nvSpPr>
        <p:spPr/>
        <p:txBody>
          <a:bodyPr/>
          <a:lstStyle/>
          <a:p>
            <a:r>
              <a:rPr lang="en-US" dirty="0"/>
              <a:t>Behavioral Composition</a:t>
            </a:r>
          </a:p>
        </p:txBody>
      </p:sp>
      <p:pic>
        <p:nvPicPr>
          <p:cNvPr id="1026" name="Picture 2">
            <a:extLst>
              <a:ext uri="{FF2B5EF4-FFF2-40B4-BE49-F238E27FC236}">
                <a16:creationId xmlns:a16="http://schemas.microsoft.com/office/drawing/2014/main" id="{E67B608B-A6A1-00F2-0DB0-FB6D2CCA6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984" y="698435"/>
            <a:ext cx="6019800" cy="2426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846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57E6F-41CB-E5B7-CB2B-B110C3C2026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AA1A28B-CCCB-08E2-DD32-F4E6CDE2B015}"/>
              </a:ext>
            </a:extLst>
          </p:cNvPr>
          <p:cNvSpPr>
            <a:spLocks noGrp="1"/>
          </p:cNvSpPr>
          <p:nvPr>
            <p:ph idx="1"/>
          </p:nvPr>
        </p:nvSpPr>
        <p:spPr>
          <a:xfrm>
            <a:off x="152400" y="4095750"/>
            <a:ext cx="8839200" cy="533400"/>
          </a:xfrm>
        </p:spPr>
        <p:txBody>
          <a:bodyPr/>
          <a:lstStyle/>
          <a:p>
            <a:pPr marL="0" indent="0">
              <a:buNone/>
            </a:pPr>
            <a:r>
              <a:rPr lang="en-US" dirty="0"/>
              <a:t>These are not formally, rigorously defined terms.</a:t>
            </a:r>
          </a:p>
        </p:txBody>
      </p:sp>
      <p:sp>
        <p:nvSpPr>
          <p:cNvPr id="3" name="Title 2">
            <a:extLst>
              <a:ext uri="{FF2B5EF4-FFF2-40B4-BE49-F238E27FC236}">
                <a16:creationId xmlns:a16="http://schemas.microsoft.com/office/drawing/2014/main" id="{7EE182C0-FF0A-9C36-3FA3-9FBD9F09ED38}"/>
              </a:ext>
            </a:extLst>
          </p:cNvPr>
          <p:cNvSpPr>
            <a:spLocks noGrp="1"/>
          </p:cNvSpPr>
          <p:nvPr>
            <p:ph type="title"/>
          </p:nvPr>
        </p:nvSpPr>
        <p:spPr/>
        <p:txBody>
          <a:bodyPr/>
          <a:lstStyle/>
          <a:p>
            <a:r>
              <a:rPr lang="en-US" dirty="0"/>
              <a:t>Concepts</a:t>
            </a:r>
          </a:p>
        </p:txBody>
      </p:sp>
      <p:pic>
        <p:nvPicPr>
          <p:cNvPr id="4" name="Picture 3">
            <a:extLst>
              <a:ext uri="{FF2B5EF4-FFF2-40B4-BE49-F238E27FC236}">
                <a16:creationId xmlns:a16="http://schemas.microsoft.com/office/drawing/2014/main" id="{D17F1064-5BE7-EDBA-5417-1EE33ABF435C}"/>
              </a:ext>
            </a:extLst>
          </p:cNvPr>
          <p:cNvPicPr>
            <a:picLocks noChangeAspect="1"/>
          </p:cNvPicPr>
          <p:nvPr/>
        </p:nvPicPr>
        <p:blipFill>
          <a:blip r:embed="rId2"/>
          <a:stretch>
            <a:fillRect/>
          </a:stretch>
        </p:blipFill>
        <p:spPr>
          <a:xfrm>
            <a:off x="76200" y="666750"/>
            <a:ext cx="4555024" cy="3137014"/>
          </a:xfrm>
          <a:prstGeom prst="rect">
            <a:avLst/>
          </a:prstGeom>
        </p:spPr>
      </p:pic>
      <p:pic>
        <p:nvPicPr>
          <p:cNvPr id="5" name="Picture 4">
            <a:extLst>
              <a:ext uri="{FF2B5EF4-FFF2-40B4-BE49-F238E27FC236}">
                <a16:creationId xmlns:a16="http://schemas.microsoft.com/office/drawing/2014/main" id="{07C76385-BD53-CB5E-84D1-3D040827EFA9}"/>
              </a:ext>
            </a:extLst>
          </p:cNvPr>
          <p:cNvPicPr>
            <a:picLocks noChangeAspect="1"/>
          </p:cNvPicPr>
          <p:nvPr/>
        </p:nvPicPr>
        <p:blipFill>
          <a:blip r:embed="rId3"/>
          <a:stretch>
            <a:fillRect/>
          </a:stretch>
        </p:blipFill>
        <p:spPr>
          <a:xfrm>
            <a:off x="4419600" y="666750"/>
            <a:ext cx="4555024" cy="3333750"/>
          </a:xfrm>
          <a:prstGeom prst="rect">
            <a:avLst/>
          </a:prstGeom>
        </p:spPr>
      </p:pic>
    </p:spTree>
    <p:extLst>
      <p:ext uri="{BB962C8B-B14F-4D97-AF65-F5344CB8AC3E}">
        <p14:creationId xmlns:p14="http://schemas.microsoft.com/office/powerpoint/2010/main" val="32298757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EEA23-7B0A-DFD1-06E3-3C6A23643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C3472-9F76-FAAD-5E38-F7B3B9E2AF6C}"/>
              </a:ext>
            </a:extLst>
          </p:cNvPr>
          <p:cNvSpPr>
            <a:spLocks noGrp="1"/>
          </p:cNvSpPr>
          <p:nvPr>
            <p:ph type="title"/>
          </p:nvPr>
        </p:nvSpPr>
        <p:spPr/>
        <p:txBody>
          <a:bodyPr/>
          <a:lstStyle/>
          <a:p>
            <a:r>
              <a:rPr lang="en-US" sz="2000" dirty="0"/>
              <a:t>In Code: Composition and Asynchronous Method Invocation</a:t>
            </a:r>
          </a:p>
        </p:txBody>
      </p:sp>
      <p:pic>
        <p:nvPicPr>
          <p:cNvPr id="3" name="Picture 2">
            <a:extLst>
              <a:ext uri="{FF2B5EF4-FFF2-40B4-BE49-F238E27FC236}">
                <a16:creationId xmlns:a16="http://schemas.microsoft.com/office/drawing/2014/main" id="{F8397C54-2482-683D-60F3-15A407C4B3F9}"/>
              </a:ext>
            </a:extLst>
          </p:cNvPr>
          <p:cNvPicPr>
            <a:picLocks noChangeAspect="1"/>
          </p:cNvPicPr>
          <p:nvPr/>
        </p:nvPicPr>
        <p:blipFill>
          <a:blip r:embed="rId2"/>
          <a:stretch>
            <a:fillRect/>
          </a:stretch>
        </p:blipFill>
        <p:spPr>
          <a:xfrm>
            <a:off x="4184939" y="749722"/>
            <a:ext cx="4622656" cy="3152888"/>
          </a:xfrm>
          <a:prstGeom prst="rect">
            <a:avLst/>
          </a:prstGeom>
        </p:spPr>
      </p:pic>
      <p:cxnSp>
        <p:nvCxnSpPr>
          <p:cNvPr id="6" name="Straight Arrow Connector 5">
            <a:extLst>
              <a:ext uri="{FF2B5EF4-FFF2-40B4-BE49-F238E27FC236}">
                <a16:creationId xmlns:a16="http://schemas.microsoft.com/office/drawing/2014/main" id="{1DD812A3-DA91-FF3B-17B0-86381395D5C2}"/>
              </a:ext>
            </a:extLst>
          </p:cNvPr>
          <p:cNvCxnSpPr/>
          <p:nvPr/>
        </p:nvCxnSpPr>
        <p:spPr>
          <a:xfrm>
            <a:off x="2975519" y="1769664"/>
            <a:ext cx="1203940"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8BEE98C-576E-E54F-F1A9-2A96E2BA9C2C}"/>
              </a:ext>
            </a:extLst>
          </p:cNvPr>
          <p:cNvSpPr txBox="1"/>
          <p:nvPr/>
        </p:nvSpPr>
        <p:spPr>
          <a:xfrm>
            <a:off x="3366881" y="1498777"/>
            <a:ext cx="631904" cy="253916"/>
          </a:xfrm>
          <a:prstGeom prst="rect">
            <a:avLst/>
          </a:prstGeom>
          <a:noFill/>
        </p:spPr>
        <p:txBody>
          <a:bodyPr wrap="none" rtlCol="0">
            <a:spAutoFit/>
          </a:bodyPr>
          <a:lstStyle/>
          <a:p>
            <a:r>
              <a:rPr lang="en-US" sz="1050" dirty="0"/>
              <a:t>Request</a:t>
            </a:r>
          </a:p>
        </p:txBody>
      </p:sp>
      <p:cxnSp>
        <p:nvCxnSpPr>
          <p:cNvPr id="10" name="Straight Arrow Connector 9">
            <a:extLst>
              <a:ext uri="{FF2B5EF4-FFF2-40B4-BE49-F238E27FC236}">
                <a16:creationId xmlns:a16="http://schemas.microsoft.com/office/drawing/2014/main" id="{1A4FD8FC-773E-BA75-70E4-F0E1570553CD}"/>
              </a:ext>
            </a:extLst>
          </p:cNvPr>
          <p:cNvCxnSpPr>
            <a:cxnSpLocks/>
          </p:cNvCxnSpPr>
          <p:nvPr/>
        </p:nvCxnSpPr>
        <p:spPr>
          <a:xfrm flipH="1">
            <a:off x="2975519" y="1995460"/>
            <a:ext cx="1203940"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34D9D5C-43DC-957D-571E-FF4A2A9D21A6}"/>
              </a:ext>
            </a:extLst>
          </p:cNvPr>
          <p:cNvSpPr txBox="1"/>
          <p:nvPr/>
        </p:nvSpPr>
        <p:spPr>
          <a:xfrm>
            <a:off x="3221953" y="2011210"/>
            <a:ext cx="994183" cy="415498"/>
          </a:xfrm>
          <a:prstGeom prst="rect">
            <a:avLst/>
          </a:prstGeom>
          <a:noFill/>
        </p:spPr>
        <p:txBody>
          <a:bodyPr wrap="none" rtlCol="0">
            <a:spAutoFit/>
          </a:bodyPr>
          <a:lstStyle/>
          <a:p>
            <a:r>
              <a:rPr lang="en-US" sz="1050" dirty="0"/>
              <a:t>202 ACCEPTED</a:t>
            </a:r>
            <a:br>
              <a:rPr lang="en-US" sz="1050" dirty="0"/>
            </a:br>
            <a:r>
              <a:rPr lang="en-US" sz="1050" dirty="0"/>
              <a:t>Location</a:t>
            </a:r>
          </a:p>
        </p:txBody>
      </p:sp>
      <p:cxnSp>
        <p:nvCxnSpPr>
          <p:cNvPr id="14" name="Straight Arrow Connector 13">
            <a:extLst>
              <a:ext uri="{FF2B5EF4-FFF2-40B4-BE49-F238E27FC236}">
                <a16:creationId xmlns:a16="http://schemas.microsoft.com/office/drawing/2014/main" id="{C7890FD7-CD65-B2DB-BD96-D3EB89AF4B30}"/>
              </a:ext>
            </a:extLst>
          </p:cNvPr>
          <p:cNvCxnSpPr/>
          <p:nvPr/>
        </p:nvCxnSpPr>
        <p:spPr>
          <a:xfrm>
            <a:off x="2964041" y="2841913"/>
            <a:ext cx="1203940"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9B236C0-8CD5-B98A-04C8-B31BC4F36829}"/>
              </a:ext>
            </a:extLst>
          </p:cNvPr>
          <p:cNvSpPr txBox="1"/>
          <p:nvPr/>
        </p:nvSpPr>
        <p:spPr>
          <a:xfrm>
            <a:off x="3285131" y="2824929"/>
            <a:ext cx="712054" cy="253916"/>
          </a:xfrm>
          <a:prstGeom prst="rect">
            <a:avLst/>
          </a:prstGeom>
          <a:noFill/>
        </p:spPr>
        <p:txBody>
          <a:bodyPr wrap="none" rtlCol="0">
            <a:spAutoFit/>
          </a:bodyPr>
          <a:lstStyle/>
          <a:p>
            <a:r>
              <a:rPr lang="en-US" sz="1050" dirty="0"/>
              <a:t>GET (Poll)</a:t>
            </a:r>
          </a:p>
        </p:txBody>
      </p:sp>
      <p:cxnSp>
        <p:nvCxnSpPr>
          <p:cNvPr id="16" name="Straight Arrow Connector 15">
            <a:extLst>
              <a:ext uri="{FF2B5EF4-FFF2-40B4-BE49-F238E27FC236}">
                <a16:creationId xmlns:a16="http://schemas.microsoft.com/office/drawing/2014/main" id="{D263EDFD-B1DE-CEBF-77CC-A861149AC8D5}"/>
              </a:ext>
            </a:extLst>
          </p:cNvPr>
          <p:cNvCxnSpPr>
            <a:cxnSpLocks/>
          </p:cNvCxnSpPr>
          <p:nvPr/>
        </p:nvCxnSpPr>
        <p:spPr>
          <a:xfrm flipH="1">
            <a:off x="2982503" y="3055762"/>
            <a:ext cx="1203939" cy="425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B9C3F81-D465-26E6-24C5-CF875ED3EA8B}"/>
              </a:ext>
            </a:extLst>
          </p:cNvPr>
          <p:cNvSpPr txBox="1"/>
          <p:nvPr/>
        </p:nvSpPr>
        <p:spPr>
          <a:xfrm>
            <a:off x="3221141" y="3088284"/>
            <a:ext cx="391454" cy="253916"/>
          </a:xfrm>
          <a:prstGeom prst="rect">
            <a:avLst/>
          </a:prstGeom>
          <a:noFill/>
        </p:spPr>
        <p:txBody>
          <a:bodyPr wrap="none" rtlCol="0">
            <a:spAutoFit/>
          </a:bodyPr>
          <a:lstStyle/>
          <a:p>
            <a:r>
              <a:rPr lang="en-US" sz="1050" dirty="0"/>
              <a:t>200</a:t>
            </a:r>
          </a:p>
        </p:txBody>
      </p:sp>
      <p:sp>
        <p:nvSpPr>
          <p:cNvPr id="8" name="Content Placeholder 3">
            <a:extLst>
              <a:ext uri="{FF2B5EF4-FFF2-40B4-BE49-F238E27FC236}">
                <a16:creationId xmlns:a16="http://schemas.microsoft.com/office/drawing/2014/main" id="{1DFB9749-4B10-1050-DB24-3320F1FD1332}"/>
              </a:ext>
            </a:extLst>
          </p:cNvPr>
          <p:cNvSpPr>
            <a:spLocks noGrp="1"/>
          </p:cNvSpPr>
          <p:nvPr>
            <p:ph sz="half" idx="1"/>
          </p:nvPr>
        </p:nvSpPr>
        <p:spPr>
          <a:xfrm>
            <a:off x="120185" y="590550"/>
            <a:ext cx="5155799" cy="4069773"/>
          </a:xfrm>
        </p:spPr>
        <p:txBody>
          <a:bodyPr>
            <a:normAutofit/>
          </a:bodyPr>
          <a:lstStyle/>
          <a:p>
            <a:pPr>
              <a:lnSpc>
                <a:spcPct val="120000"/>
              </a:lnSpc>
              <a:spcBef>
                <a:spcPts val="0"/>
              </a:spcBef>
              <a:spcAft>
                <a:spcPts val="225"/>
              </a:spcAft>
            </a:pPr>
            <a:r>
              <a:rPr lang="en-US" sz="1350" dirty="0"/>
              <a:t>Composite operations can “take a while.”</a:t>
            </a:r>
          </a:p>
          <a:p>
            <a:pPr>
              <a:lnSpc>
                <a:spcPct val="120000"/>
              </a:lnSpc>
              <a:spcBef>
                <a:spcPts val="0"/>
              </a:spcBef>
              <a:spcAft>
                <a:spcPts val="225"/>
              </a:spcAft>
            </a:pPr>
            <a:endParaRPr lang="en-US" sz="1350" dirty="0"/>
          </a:p>
          <a:p>
            <a:pPr>
              <a:lnSpc>
                <a:spcPct val="120000"/>
              </a:lnSpc>
              <a:spcBef>
                <a:spcPts val="0"/>
              </a:spcBef>
              <a:spcAft>
                <a:spcPts val="225"/>
              </a:spcAft>
            </a:pPr>
            <a:r>
              <a:rPr lang="en-US" sz="1350" dirty="0"/>
              <a:t>“Holding open connections and waiting can be bad.”</a:t>
            </a:r>
          </a:p>
          <a:p>
            <a:pPr lvl="1">
              <a:lnSpc>
                <a:spcPct val="120000"/>
              </a:lnSpc>
              <a:spcBef>
                <a:spcPts val="0"/>
              </a:spcBef>
              <a:spcAft>
                <a:spcPts val="225"/>
              </a:spcAft>
            </a:pPr>
            <a:r>
              <a:rPr lang="en-US" sz="1150" dirty="0"/>
              <a:t>Consumes resources.</a:t>
            </a:r>
          </a:p>
          <a:p>
            <a:pPr lvl="1">
              <a:lnSpc>
                <a:spcPct val="120000"/>
              </a:lnSpc>
              <a:spcBef>
                <a:spcPts val="0"/>
              </a:spcBef>
              <a:spcAft>
                <a:spcPts val="225"/>
              </a:spcAft>
            </a:pPr>
            <a:r>
              <a:rPr lang="en-US" sz="1150" dirty="0"/>
              <a:t>Connections can break.</a:t>
            </a:r>
          </a:p>
          <a:p>
            <a:pPr lvl="1">
              <a:lnSpc>
                <a:spcPct val="120000"/>
              </a:lnSpc>
              <a:spcBef>
                <a:spcPts val="0"/>
              </a:spcBef>
              <a:spcAft>
                <a:spcPts val="225"/>
              </a:spcAft>
            </a:pPr>
            <a:r>
              <a:rPr lang="en-US" sz="1150" dirty="0"/>
              <a:t>... ...</a:t>
            </a:r>
          </a:p>
          <a:p>
            <a:pPr lvl="1">
              <a:lnSpc>
                <a:spcPct val="120000"/>
              </a:lnSpc>
              <a:spcBef>
                <a:spcPts val="0"/>
              </a:spcBef>
              <a:spcAft>
                <a:spcPts val="225"/>
              </a:spcAft>
            </a:pPr>
            <a:endParaRPr lang="en-US" sz="1150" dirty="0"/>
          </a:p>
          <a:p>
            <a:pPr>
              <a:lnSpc>
                <a:spcPct val="120000"/>
              </a:lnSpc>
              <a:spcBef>
                <a:spcPts val="0"/>
              </a:spcBef>
              <a:spcAft>
                <a:spcPts val="225"/>
              </a:spcAft>
            </a:pPr>
            <a:r>
              <a:rPr lang="en-US" sz="1350" dirty="0"/>
              <a:t>There are two options:</a:t>
            </a:r>
          </a:p>
          <a:p>
            <a:pPr lvl="1">
              <a:lnSpc>
                <a:spcPct val="120000"/>
              </a:lnSpc>
              <a:spcBef>
                <a:spcPts val="0"/>
              </a:spcBef>
              <a:spcAft>
                <a:spcPts val="225"/>
              </a:spcAft>
            </a:pPr>
            <a:r>
              <a:rPr lang="en-US" sz="1150" dirty="0"/>
              <a:t>Polling</a:t>
            </a:r>
          </a:p>
          <a:p>
            <a:pPr lvl="1">
              <a:lnSpc>
                <a:spcPct val="120000"/>
              </a:lnSpc>
              <a:spcBef>
                <a:spcPts val="0"/>
              </a:spcBef>
              <a:spcAft>
                <a:spcPts val="225"/>
              </a:spcAft>
            </a:pPr>
            <a:r>
              <a:rPr lang="en-US" sz="1150" dirty="0"/>
              <a:t>Callbacks</a:t>
            </a:r>
          </a:p>
          <a:p>
            <a:pPr lvl="1">
              <a:lnSpc>
                <a:spcPct val="120000"/>
              </a:lnSpc>
              <a:spcBef>
                <a:spcPts val="0"/>
              </a:spcBef>
              <a:spcAft>
                <a:spcPts val="225"/>
              </a:spcAft>
            </a:pPr>
            <a:endParaRPr lang="en-US" sz="1150" dirty="0"/>
          </a:p>
          <a:p>
            <a:pPr>
              <a:lnSpc>
                <a:spcPct val="120000"/>
              </a:lnSpc>
              <a:spcBef>
                <a:spcPts val="0"/>
              </a:spcBef>
              <a:spcAft>
                <a:spcPts val="225"/>
              </a:spcAft>
            </a:pPr>
            <a:r>
              <a:rPr lang="en-US" sz="1350" dirty="0"/>
              <a:t>Our next pattern is composition and “polling.”</a:t>
            </a:r>
            <a:br>
              <a:rPr lang="en-US" sz="1350" dirty="0"/>
            </a:br>
            <a:r>
              <a:rPr lang="en-US" sz="1350" dirty="0"/>
              <a:t>Create a new user requires:</a:t>
            </a:r>
          </a:p>
          <a:p>
            <a:pPr lvl="1">
              <a:lnSpc>
                <a:spcPct val="120000"/>
              </a:lnSpc>
              <a:spcBef>
                <a:spcPts val="0"/>
              </a:spcBef>
              <a:spcAft>
                <a:spcPts val="225"/>
              </a:spcAft>
            </a:pPr>
            <a:r>
              <a:rPr lang="en-US" sz="1150" dirty="0"/>
              <a:t>Updating the user database.</a:t>
            </a:r>
          </a:p>
          <a:p>
            <a:pPr lvl="1">
              <a:lnSpc>
                <a:spcPct val="120000"/>
              </a:lnSpc>
              <a:spcBef>
                <a:spcPts val="0"/>
              </a:spcBef>
              <a:spcAft>
                <a:spcPts val="225"/>
              </a:spcAft>
            </a:pPr>
            <a:r>
              <a:rPr lang="en-US" sz="1150" dirty="0"/>
              <a:t>Verifying a submitted address.</a:t>
            </a:r>
          </a:p>
          <a:p>
            <a:pPr lvl="1">
              <a:lnSpc>
                <a:spcPct val="120000"/>
              </a:lnSpc>
              <a:spcBef>
                <a:spcPts val="0"/>
              </a:spcBef>
              <a:spcAft>
                <a:spcPts val="225"/>
              </a:spcAft>
            </a:pPr>
            <a:r>
              <a:rPr lang="en-US" sz="1150" dirty="0"/>
              <a:t>Creating an account in the catalog service.</a:t>
            </a:r>
          </a:p>
          <a:p>
            <a:pPr lvl="1">
              <a:lnSpc>
                <a:spcPct val="120000"/>
              </a:lnSpc>
              <a:spcBef>
                <a:spcPts val="0"/>
              </a:spcBef>
              <a:spcAft>
                <a:spcPts val="225"/>
              </a:spcAft>
            </a:pPr>
            <a:endParaRPr lang="en-US" sz="1150" dirty="0"/>
          </a:p>
        </p:txBody>
      </p:sp>
    </p:spTree>
    <p:extLst>
      <p:ext uri="{BB962C8B-B14F-4D97-AF65-F5344CB8AC3E}">
        <p14:creationId xmlns:p14="http://schemas.microsoft.com/office/powerpoint/2010/main" val="573573409"/>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F27F-A300-0C67-272E-59FEC172C4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55F83B-2E67-15E0-9F4B-335C73A62C2F}"/>
              </a:ext>
            </a:extLst>
          </p:cNvPr>
          <p:cNvSpPr>
            <a:spLocks noGrp="1"/>
          </p:cNvSpPr>
          <p:nvPr>
            <p:ph idx="1"/>
          </p:nvPr>
        </p:nvSpPr>
        <p:spPr>
          <a:xfrm>
            <a:off x="5029200" y="590550"/>
            <a:ext cx="3962400" cy="4038600"/>
          </a:xfrm>
        </p:spPr>
        <p:txBody>
          <a:bodyPr/>
          <a:lstStyle/>
          <a:p>
            <a:r>
              <a:rPr lang="en-US" dirty="0"/>
              <a:t>One call to a composite service</a:t>
            </a:r>
          </a:p>
          <a:p>
            <a:pPr lvl="1"/>
            <a:r>
              <a:rPr lang="en-US" dirty="0"/>
              <a:t>May drive calls to multiple other services.</a:t>
            </a:r>
          </a:p>
          <a:p>
            <a:pPr lvl="1"/>
            <a:r>
              <a:rPr lang="en-US" dirty="0"/>
              <a:t>Which in turn, may drive multiple calls to other services.</a:t>
            </a:r>
          </a:p>
          <a:p>
            <a:r>
              <a:rPr lang="en-US" dirty="0"/>
              <a:t>Synchronous (Wait) and calling one at a time, in order is</a:t>
            </a:r>
          </a:p>
          <a:p>
            <a:pPr lvl="1"/>
            <a:r>
              <a:rPr lang="en-US" dirty="0"/>
              <a:t>Inefficient</a:t>
            </a:r>
          </a:p>
          <a:p>
            <a:pPr lvl="1"/>
            <a:r>
              <a:rPr lang="en-US" dirty="0"/>
              <a:t>Fragile</a:t>
            </a:r>
          </a:p>
          <a:p>
            <a:pPr lvl="1"/>
            <a:r>
              <a:rPr lang="en-US" dirty="0"/>
              <a:t>... ...</a:t>
            </a:r>
          </a:p>
          <a:p>
            <a:r>
              <a:rPr lang="en-US" dirty="0"/>
              <a:t>Asynchronous has benefits but can result in complex code.</a:t>
            </a:r>
          </a:p>
        </p:txBody>
      </p:sp>
      <p:sp>
        <p:nvSpPr>
          <p:cNvPr id="3" name="Title 2">
            <a:extLst>
              <a:ext uri="{FF2B5EF4-FFF2-40B4-BE49-F238E27FC236}">
                <a16:creationId xmlns:a16="http://schemas.microsoft.com/office/drawing/2014/main" id="{FE1CB08E-9545-29E5-61E4-8C1E1C3274F0}"/>
              </a:ext>
            </a:extLst>
          </p:cNvPr>
          <p:cNvSpPr>
            <a:spLocks noGrp="1"/>
          </p:cNvSpPr>
          <p:nvPr>
            <p:ph type="title"/>
          </p:nvPr>
        </p:nvSpPr>
        <p:spPr/>
        <p:txBody>
          <a:bodyPr/>
          <a:lstStyle/>
          <a:p>
            <a:r>
              <a:rPr lang="en-US" dirty="0"/>
              <a:t>In Code: Service Orchestration/Composition</a:t>
            </a:r>
          </a:p>
        </p:txBody>
      </p:sp>
      <p:pic>
        <p:nvPicPr>
          <p:cNvPr id="4" name="Picture 3">
            <a:extLst>
              <a:ext uri="{FF2B5EF4-FFF2-40B4-BE49-F238E27FC236}">
                <a16:creationId xmlns:a16="http://schemas.microsoft.com/office/drawing/2014/main" id="{3F4B1836-6C6A-70D6-E191-06345684044F}"/>
              </a:ext>
            </a:extLst>
          </p:cNvPr>
          <p:cNvPicPr>
            <a:picLocks noChangeAspect="1"/>
          </p:cNvPicPr>
          <p:nvPr/>
        </p:nvPicPr>
        <p:blipFill>
          <a:blip r:embed="rId2"/>
          <a:stretch>
            <a:fillRect/>
          </a:stretch>
        </p:blipFill>
        <p:spPr>
          <a:xfrm>
            <a:off x="76200" y="949325"/>
            <a:ext cx="5037401" cy="3244850"/>
          </a:xfrm>
          <a:prstGeom prst="rect">
            <a:avLst/>
          </a:prstGeom>
        </p:spPr>
      </p:pic>
    </p:spTree>
    <p:extLst>
      <p:ext uri="{BB962C8B-B14F-4D97-AF65-F5344CB8AC3E}">
        <p14:creationId xmlns:p14="http://schemas.microsoft.com/office/powerpoint/2010/main" val="2352082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81AC-AC72-32ED-71F5-BCC929AB5A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D2F175-04BE-FE6B-2626-BD8713A74088}"/>
              </a:ext>
            </a:extLst>
          </p:cNvPr>
          <p:cNvSpPr>
            <a:spLocks noGrp="1"/>
          </p:cNvSpPr>
          <p:nvPr>
            <p:ph idx="1"/>
          </p:nvPr>
        </p:nvSpPr>
        <p:spPr/>
        <p:txBody>
          <a:bodyPr/>
          <a:lstStyle/>
          <a:p>
            <a:r>
              <a:rPr lang="en-US" sz="1600" dirty="0"/>
              <a:t>Implementing a complex orchestration in code can become complex.</a:t>
            </a:r>
          </a:p>
          <a:p>
            <a:r>
              <a:rPr lang="en-US" sz="1600" dirty="0"/>
              <a:t>High layer abstractions and tools have emerged, e.g. BPMN.</a:t>
            </a:r>
          </a:p>
          <a:p>
            <a:pPr lvl="1"/>
            <a:r>
              <a:rPr lang="en-US" sz="1400" dirty="0"/>
              <a:t>“Business Process Model and Notation (BPMN) is a graphical representation for specifying business processes in a business process model.”</a:t>
            </a:r>
          </a:p>
          <a:p>
            <a:pPr lvl="1"/>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pPr lvl="1"/>
            <a:endParaRPr lang="en-US" sz="1400" dirty="0"/>
          </a:p>
          <a:p>
            <a:pPr lvl="1"/>
            <a:r>
              <a:rPr lang="en-US" sz="1400" dirty="0"/>
              <a:t>There are products for defining BPMN processes, generating code, executing, … …, e.g.</a:t>
            </a:r>
            <a:br>
              <a:rPr lang="en-US" sz="1400" dirty="0"/>
            </a:br>
            <a:r>
              <a:rPr lang="en-US" sz="1400" dirty="0"/>
              <a:t>Camunda: </a:t>
            </a:r>
            <a:r>
              <a:rPr lang="en-US" sz="1400" dirty="0">
                <a:hlinkClick r:id="rId2"/>
              </a:rPr>
              <a:t>https://camunda.com/bpmn/</a:t>
            </a:r>
            <a:endParaRPr lang="en-US" sz="1400" dirty="0"/>
          </a:p>
          <a:p>
            <a:r>
              <a:rPr lang="en-US" sz="1600" dirty="0"/>
              <a:t>There are other languages, tools, execution engines, … …</a:t>
            </a:r>
          </a:p>
          <a:p>
            <a:pPr lvl="1"/>
            <a:endParaRPr lang="en-US" sz="1400" dirty="0"/>
          </a:p>
          <a:p>
            <a:pPr lvl="1"/>
            <a:endParaRPr lang="en-US" sz="1400" dirty="0"/>
          </a:p>
        </p:txBody>
      </p:sp>
      <p:sp>
        <p:nvSpPr>
          <p:cNvPr id="3" name="Title 2">
            <a:extLst>
              <a:ext uri="{FF2B5EF4-FFF2-40B4-BE49-F238E27FC236}">
                <a16:creationId xmlns:a16="http://schemas.microsoft.com/office/drawing/2014/main" id="{2EA18150-EDF4-5361-3B32-BC8D60BEC4ED}"/>
              </a:ext>
            </a:extLst>
          </p:cNvPr>
          <p:cNvSpPr>
            <a:spLocks noGrp="1"/>
          </p:cNvSpPr>
          <p:nvPr>
            <p:ph type="title"/>
          </p:nvPr>
        </p:nvSpPr>
        <p:spPr/>
        <p:txBody>
          <a:bodyPr/>
          <a:lstStyle/>
          <a:p>
            <a:r>
              <a:rPr lang="en-US" dirty="0"/>
              <a:t>Service Orchestration</a:t>
            </a:r>
          </a:p>
        </p:txBody>
      </p:sp>
      <p:pic>
        <p:nvPicPr>
          <p:cNvPr id="2052" name="Picture 4" descr="BPMN pizza example">
            <a:extLst>
              <a:ext uri="{FF2B5EF4-FFF2-40B4-BE49-F238E27FC236}">
                <a16:creationId xmlns:a16="http://schemas.microsoft.com/office/drawing/2014/main" id="{CDC7C583-AF2E-487D-F7D3-6F336AE64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04950"/>
            <a:ext cx="3276600" cy="2004189"/>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A158F050-379F-1203-C835-800D8F73854B}"/>
              </a:ext>
            </a:extLst>
          </p:cNvPr>
          <p:cNvSpPr/>
          <p:nvPr/>
        </p:nvSpPr>
        <p:spPr>
          <a:xfrm>
            <a:off x="5791200" y="1809750"/>
            <a:ext cx="1219200" cy="10668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A21EF3C-CA77-19EF-37E2-4CBBD16F7044}"/>
              </a:ext>
            </a:extLst>
          </p:cNvPr>
          <p:cNvCxnSpPr/>
          <p:nvPr/>
        </p:nvCxnSpPr>
        <p:spPr>
          <a:xfrm>
            <a:off x="4724400" y="1962150"/>
            <a:ext cx="914400" cy="15240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 name="Cross 6">
            <a:extLst>
              <a:ext uri="{FF2B5EF4-FFF2-40B4-BE49-F238E27FC236}">
                <a16:creationId xmlns:a16="http://schemas.microsoft.com/office/drawing/2014/main" id="{86B4E4FA-E933-DFE7-5AC8-2ED74C771C4D}"/>
              </a:ext>
            </a:extLst>
          </p:cNvPr>
          <p:cNvSpPr/>
          <p:nvPr/>
        </p:nvSpPr>
        <p:spPr>
          <a:xfrm>
            <a:off x="8001000" y="2419350"/>
            <a:ext cx="990600" cy="838200"/>
          </a:xfrm>
          <a:prstGeom prst="pl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A846B78-8DAF-D583-8DFF-EF03B3C3BB9A}"/>
              </a:ext>
            </a:extLst>
          </p:cNvPr>
          <p:cNvCxnSpPr/>
          <p:nvPr/>
        </p:nvCxnSpPr>
        <p:spPr>
          <a:xfrm>
            <a:off x="7086600" y="2495550"/>
            <a:ext cx="762000" cy="381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40463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DCE80-60FB-6701-7243-62535189FE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9FB476-C392-58E2-AE83-4F4666BFBFBF}"/>
              </a:ext>
            </a:extLst>
          </p:cNvPr>
          <p:cNvSpPr>
            <a:spLocks noGrp="1"/>
          </p:cNvSpPr>
          <p:nvPr>
            <p:ph idx="1"/>
          </p:nvPr>
        </p:nvSpPr>
        <p:spPr>
          <a:xfrm>
            <a:off x="152400" y="590550"/>
            <a:ext cx="8839200" cy="1022350"/>
          </a:xfrm>
        </p:spPr>
        <p:txBody>
          <a:bodyPr/>
          <a:lstStyle/>
          <a:p>
            <a:r>
              <a:rPr lang="en-US" sz="1800" dirty="0"/>
              <a:t>We saw the basic diagram, but …</a:t>
            </a:r>
            <a:br>
              <a:rPr lang="en-US" sz="1800" dirty="0"/>
            </a:br>
            <a:r>
              <a:rPr lang="en-US" sz="1800" dirty="0"/>
              <a:t>this is an anti-pattern and does not scale.</a:t>
            </a:r>
          </a:p>
          <a:p>
            <a:endParaRPr lang="en-US" sz="1800" dirty="0"/>
          </a:p>
          <a:p>
            <a:endParaRPr lang="en-US" sz="1800" dirty="0"/>
          </a:p>
          <a:p>
            <a:endParaRPr lang="en-US" sz="1800" dirty="0"/>
          </a:p>
          <a:p>
            <a:endParaRPr lang="en-US" sz="1800" dirty="0"/>
          </a:p>
          <a:p>
            <a:endParaRPr lang="en-US" sz="1800" dirty="0"/>
          </a:p>
          <a:p>
            <a:endParaRPr lang="en-US" sz="1800" dirty="0"/>
          </a:p>
          <a:p>
            <a:pPr marL="0" indent="0">
              <a:buNone/>
            </a:pPr>
            <a:endParaRPr lang="en-US" sz="1800" dirty="0"/>
          </a:p>
          <a:p>
            <a:r>
              <a:rPr lang="en-US" sz="1800" dirty="0"/>
              <a:t>But, how do you write the event driven microservices?</a:t>
            </a:r>
          </a:p>
          <a:p>
            <a:pPr lvl="1"/>
            <a:r>
              <a:rPr lang="en-US" sz="1600" dirty="0"/>
              <a:t>Well, you can just write code … …</a:t>
            </a:r>
          </a:p>
          <a:p>
            <a:pPr lvl="1"/>
            <a:r>
              <a:rPr lang="en-US" sz="1600" dirty="0"/>
              <a:t>Or use a state machines abstraction.</a:t>
            </a:r>
          </a:p>
          <a:p>
            <a:endParaRPr lang="en-US" sz="1800" dirty="0"/>
          </a:p>
          <a:p>
            <a:endParaRPr lang="en-US" sz="1800" dirty="0"/>
          </a:p>
          <a:p>
            <a:endParaRPr lang="en-US" sz="1800" dirty="0"/>
          </a:p>
        </p:txBody>
      </p:sp>
      <p:sp>
        <p:nvSpPr>
          <p:cNvPr id="3" name="Title 2">
            <a:extLst>
              <a:ext uri="{FF2B5EF4-FFF2-40B4-BE49-F238E27FC236}">
                <a16:creationId xmlns:a16="http://schemas.microsoft.com/office/drawing/2014/main" id="{0881F146-D614-8812-FBD4-4E0FDD5A0D89}"/>
              </a:ext>
            </a:extLst>
          </p:cNvPr>
          <p:cNvSpPr>
            <a:spLocks noGrp="1"/>
          </p:cNvSpPr>
          <p:nvPr>
            <p:ph type="title"/>
          </p:nvPr>
        </p:nvSpPr>
        <p:spPr/>
        <p:txBody>
          <a:bodyPr/>
          <a:lstStyle/>
          <a:p>
            <a:r>
              <a:rPr lang="en-US" dirty="0"/>
              <a:t>Choreography</a:t>
            </a:r>
          </a:p>
        </p:txBody>
      </p:sp>
      <p:pic>
        <p:nvPicPr>
          <p:cNvPr id="4" name="Picture 3">
            <a:extLst>
              <a:ext uri="{FF2B5EF4-FFF2-40B4-BE49-F238E27FC236}">
                <a16:creationId xmlns:a16="http://schemas.microsoft.com/office/drawing/2014/main" id="{AA64DCEF-BFDB-A12D-7984-0E3C38869133}"/>
              </a:ext>
            </a:extLst>
          </p:cNvPr>
          <p:cNvPicPr>
            <a:picLocks noChangeAspect="1"/>
          </p:cNvPicPr>
          <p:nvPr/>
        </p:nvPicPr>
        <p:blipFill>
          <a:blip r:embed="rId2"/>
          <a:stretch>
            <a:fillRect/>
          </a:stretch>
        </p:blipFill>
        <p:spPr>
          <a:xfrm>
            <a:off x="5105400" y="26435"/>
            <a:ext cx="1911305" cy="1479550"/>
          </a:xfrm>
          <a:prstGeom prst="rect">
            <a:avLst/>
          </a:prstGeom>
        </p:spPr>
      </p:pic>
      <p:pic>
        <p:nvPicPr>
          <p:cNvPr id="3074" name="Picture 2">
            <a:extLst>
              <a:ext uri="{FF2B5EF4-FFF2-40B4-BE49-F238E27FC236}">
                <a16:creationId xmlns:a16="http://schemas.microsoft.com/office/drawing/2014/main" id="{8317A5BF-89D0-8766-FD48-E82EF55BC0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453831"/>
            <a:ext cx="2875430" cy="207677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3295BD29-E765-A91A-83C9-471632B0CE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7819" y="1493456"/>
            <a:ext cx="2722465" cy="2050869"/>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96B13F01-C1B4-2AB7-0DCC-F3CB1CF698A1}"/>
              </a:ext>
            </a:extLst>
          </p:cNvPr>
          <p:cNvSpPr/>
          <p:nvPr/>
        </p:nvSpPr>
        <p:spPr>
          <a:xfrm>
            <a:off x="3147663" y="2331838"/>
            <a:ext cx="1676400" cy="533400"/>
          </a:xfrm>
          <a:prstGeom prst="right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956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ACBF7-B375-884D-7805-683D9F5192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19CED9-25EF-35EB-0343-769E081BFA8C}"/>
              </a:ext>
            </a:extLst>
          </p:cNvPr>
          <p:cNvSpPr>
            <a:spLocks noGrp="1"/>
          </p:cNvSpPr>
          <p:nvPr>
            <p:ph idx="1"/>
          </p:nvPr>
        </p:nvSpPr>
        <p:spPr>
          <a:xfrm>
            <a:off x="137160" y="2494247"/>
            <a:ext cx="8839200" cy="2090289"/>
          </a:xfrm>
        </p:spPr>
        <p:txBody>
          <a:bodyPr/>
          <a:lstStyle/>
          <a:p>
            <a:r>
              <a:rPr lang="en-US" dirty="0"/>
              <a:t>A state machine is an abstraction.</a:t>
            </a:r>
          </a:p>
          <a:p>
            <a:r>
              <a:rPr lang="en-US" dirty="0"/>
              <a:t>There are many models for defining state machines.</a:t>
            </a:r>
          </a:p>
          <a:p>
            <a:r>
              <a:rPr lang="en-US" dirty="0"/>
              <a:t>There are also development tools, runtimes, … …</a:t>
            </a:r>
          </a:p>
          <a:p>
            <a:r>
              <a:rPr lang="en-US" dirty="0"/>
              <a:t>We will look at a specific example: AWS Step Functions</a:t>
            </a:r>
          </a:p>
        </p:txBody>
      </p:sp>
      <p:sp>
        <p:nvSpPr>
          <p:cNvPr id="3" name="Title 2">
            <a:extLst>
              <a:ext uri="{FF2B5EF4-FFF2-40B4-BE49-F238E27FC236}">
                <a16:creationId xmlns:a16="http://schemas.microsoft.com/office/drawing/2014/main" id="{4F2404D8-674A-F593-662D-C8A1D6931761}"/>
              </a:ext>
            </a:extLst>
          </p:cNvPr>
          <p:cNvSpPr>
            <a:spLocks noGrp="1"/>
          </p:cNvSpPr>
          <p:nvPr>
            <p:ph type="title"/>
          </p:nvPr>
        </p:nvSpPr>
        <p:spPr/>
        <p:txBody>
          <a:bodyPr/>
          <a:lstStyle/>
          <a:p>
            <a:r>
              <a:rPr lang="en-US" dirty="0"/>
              <a:t>State Machine</a:t>
            </a:r>
          </a:p>
        </p:txBody>
      </p:sp>
      <p:pic>
        <p:nvPicPr>
          <p:cNvPr id="4098" name="Picture 2">
            <a:extLst>
              <a:ext uri="{FF2B5EF4-FFF2-40B4-BE49-F238E27FC236}">
                <a16:creationId xmlns:a16="http://schemas.microsoft.com/office/drawing/2014/main" id="{08CAD0BF-8AA1-60C7-315E-6B9CAF3942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34" y="449189"/>
            <a:ext cx="2700248" cy="197016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8BA7E9B-9464-B974-8189-86545AF75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584" y="580178"/>
            <a:ext cx="3026627" cy="16704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undefined">
            <a:extLst>
              <a:ext uri="{FF2B5EF4-FFF2-40B4-BE49-F238E27FC236}">
                <a16:creationId xmlns:a16="http://schemas.microsoft.com/office/drawing/2014/main" id="{C4931312-B783-523F-3445-CAD0C87BC5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3016" y="787861"/>
            <a:ext cx="3148584" cy="1255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312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51BB19-0777-74AD-03D6-556438487446}"/>
              </a:ext>
            </a:extLst>
          </p:cNvPr>
          <p:cNvSpPr>
            <a:spLocks noGrp="1"/>
          </p:cNvSpPr>
          <p:nvPr>
            <p:ph idx="1"/>
          </p:nvPr>
        </p:nvSpPr>
        <p:spPr/>
        <p:txBody>
          <a:bodyPr/>
          <a:lstStyle/>
          <a:p>
            <a:r>
              <a:rPr lang="en-US" sz="1600" dirty="0"/>
              <a:t>Show example of calling URL synchronously and asynchronously</a:t>
            </a:r>
          </a:p>
          <a:p>
            <a:pPr lvl="1"/>
            <a:r>
              <a:rPr lang="en-US" sz="1400" dirty="0"/>
              <a:t>/Users/</a:t>
            </a:r>
            <a:r>
              <a:rPr lang="en-US" sz="1400" dirty="0" err="1"/>
              <a:t>donald.ferguson</a:t>
            </a:r>
            <a:r>
              <a:rPr lang="en-US" sz="1400" dirty="0"/>
              <a:t>/Dropbox/000/000-A-2025-Repos/</a:t>
            </a:r>
            <a:r>
              <a:rPr lang="en-US" sz="1400" dirty="0" err="1"/>
              <a:t>sync_async</a:t>
            </a:r>
            <a:r>
              <a:rPr lang="en-US" sz="1400" dirty="0"/>
              <a:t>/async1.py</a:t>
            </a:r>
          </a:p>
          <a:p>
            <a:pPr lvl="1"/>
            <a:r>
              <a:rPr lang="en-US" sz="1400" dirty="0"/>
              <a:t>/Users/</a:t>
            </a:r>
            <a:r>
              <a:rPr lang="en-US" sz="1400" dirty="0" err="1"/>
              <a:t>donald.ferguson</a:t>
            </a:r>
            <a:r>
              <a:rPr lang="en-US" sz="1400" dirty="0"/>
              <a:t>/Dropbox/000/000-A-2025-Repos/</a:t>
            </a:r>
            <a:r>
              <a:rPr lang="en-US" sz="1400" dirty="0" err="1"/>
              <a:t>sync_async</a:t>
            </a:r>
            <a:r>
              <a:rPr lang="en-US" sz="1400" dirty="0"/>
              <a:t>/sync1.py</a:t>
            </a:r>
          </a:p>
          <a:p>
            <a:pPr lvl="1"/>
            <a:endParaRPr lang="en-US" sz="1400" dirty="0"/>
          </a:p>
          <a:p>
            <a:r>
              <a:rPr lang="en-US" sz="1600" dirty="0"/>
              <a:t>One of the steps in your next sprint is:</a:t>
            </a:r>
          </a:p>
          <a:p>
            <a:pPr lvl="1"/>
            <a:r>
              <a:rPr lang="en-US" sz="1400" dirty="0"/>
              <a:t>Build a composite microservice that aggregates your basic microservices.</a:t>
            </a:r>
          </a:p>
          <a:p>
            <a:pPr lvl="1"/>
            <a:r>
              <a:rPr lang="en-US" sz="1400" dirty="0"/>
              <a:t>Demonstrating  one method on the composite aggregating the base services synchronously.</a:t>
            </a:r>
          </a:p>
          <a:p>
            <a:pPr lvl="1"/>
            <a:r>
              <a:rPr lang="en-US" sz="1400" dirty="0"/>
              <a:t>Demonstrating  one method on the composite aggregating the base services asynchronously.</a:t>
            </a:r>
          </a:p>
          <a:p>
            <a:pPr lvl="1"/>
            <a:endParaRPr lang="en-US" sz="1400" dirty="0"/>
          </a:p>
          <a:p>
            <a:r>
              <a:rPr lang="en-US" sz="1600" dirty="0"/>
              <a:t>You are probably confused as heck right now.</a:t>
            </a:r>
          </a:p>
          <a:p>
            <a:pPr lvl="1"/>
            <a:r>
              <a:rPr lang="en-US" sz="1400" dirty="0"/>
              <a:t>Think of your initial microservices as base tables.</a:t>
            </a:r>
          </a:p>
          <a:p>
            <a:pPr lvl="1"/>
            <a:r>
              <a:rPr lang="en-US" sz="1400" dirty="0"/>
              <a:t>Think of the composite as a VIEW representing a JOIN of the base tables.</a:t>
            </a:r>
          </a:p>
          <a:p>
            <a:pPr lvl="1"/>
            <a:r>
              <a:rPr lang="en-US" sz="1400" dirty="0"/>
              <a:t>Your composite microservice’s code implements the basic operations, and perhaps some additional logic, in the JOIN to “compose” that basic services.</a:t>
            </a:r>
          </a:p>
        </p:txBody>
      </p:sp>
      <p:sp>
        <p:nvSpPr>
          <p:cNvPr id="3" name="Title 2">
            <a:extLst>
              <a:ext uri="{FF2B5EF4-FFF2-40B4-BE49-F238E27FC236}">
                <a16:creationId xmlns:a16="http://schemas.microsoft.com/office/drawing/2014/main" id="{FEF9DDDA-70DF-6F7D-9E45-613135B980AD}"/>
              </a:ext>
            </a:extLst>
          </p:cNvPr>
          <p:cNvSpPr>
            <a:spLocks noGrp="1"/>
          </p:cNvSpPr>
          <p:nvPr>
            <p:ph type="title"/>
          </p:nvPr>
        </p:nvSpPr>
        <p:spPr/>
        <p:txBody>
          <a:bodyPr/>
          <a:lstStyle/>
          <a:p>
            <a:r>
              <a:rPr lang="en-US" dirty="0"/>
              <a:t>Show Code</a:t>
            </a:r>
          </a:p>
        </p:txBody>
      </p:sp>
    </p:spTree>
    <p:extLst>
      <p:ext uri="{BB962C8B-B14F-4D97-AF65-F5344CB8AC3E}">
        <p14:creationId xmlns:p14="http://schemas.microsoft.com/office/powerpoint/2010/main" val="3636138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9AE93-FE4D-10BC-7BAC-D17969D7C37B}"/>
            </a:ext>
          </a:extLst>
        </p:cNvPr>
        <p:cNvGrpSpPr/>
        <p:nvPr/>
      </p:nvGrpSpPr>
      <p:grpSpPr>
        <a:xfrm>
          <a:off x="0" y="0"/>
          <a:ext cx="0" cy="0"/>
          <a:chOff x="0" y="0"/>
          <a:chExt cx="0" cy="0"/>
        </a:xfrm>
      </p:grpSpPr>
      <p:sp>
        <p:nvSpPr>
          <p:cNvPr id="2" name="TextBox 8">
            <a:extLst>
              <a:ext uri="{FF2B5EF4-FFF2-40B4-BE49-F238E27FC236}">
                <a16:creationId xmlns:a16="http://schemas.microsoft.com/office/drawing/2014/main" id="{93347EA8-21FD-8406-5E68-A4DC4AC0C662}"/>
              </a:ext>
            </a:extLst>
          </p:cNvPr>
          <p:cNvSpPr txBox="1">
            <a:spLocks noChangeArrowheads="1"/>
          </p:cNvSpPr>
          <p:nvPr/>
        </p:nvSpPr>
        <p:spPr bwMode="auto">
          <a:xfrm>
            <a:off x="0" y="1372815"/>
            <a:ext cx="91440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Web Content</a:t>
            </a:r>
            <a:br>
              <a:rPr lang="en-US" altLang="en-US" sz="4400" i="1" dirty="0">
                <a:solidFill>
                  <a:schemeClr val="bg1"/>
                </a:solidFill>
              </a:rPr>
            </a:br>
            <a:r>
              <a:rPr lang="en-US" altLang="en-US" sz="4400" i="1" dirty="0">
                <a:solidFill>
                  <a:schemeClr val="bg1"/>
                </a:solidFill>
              </a:rPr>
              <a:t>(BLOB Storage)</a:t>
            </a:r>
          </a:p>
          <a:p>
            <a:pPr algn="ctr"/>
            <a:endParaRPr lang="en-US" altLang="en-US" sz="2800" i="1" dirty="0">
              <a:solidFill>
                <a:schemeClr val="bg1"/>
              </a:solidFill>
            </a:endParaRPr>
          </a:p>
        </p:txBody>
      </p:sp>
    </p:spTree>
    <p:extLst>
      <p:ext uri="{BB962C8B-B14F-4D97-AF65-F5344CB8AC3E}">
        <p14:creationId xmlns:p14="http://schemas.microsoft.com/office/powerpoint/2010/main" val="22461938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4CCE2-F0AA-2ED8-5543-F547149B6CD9}"/>
              </a:ext>
            </a:extLst>
          </p:cNvPr>
          <p:cNvSpPr>
            <a:spLocks noGrp="1"/>
          </p:cNvSpPr>
          <p:nvPr>
            <p:ph idx="1"/>
          </p:nvPr>
        </p:nvSpPr>
        <p:spPr>
          <a:xfrm>
            <a:off x="123497" y="2552700"/>
            <a:ext cx="8839200" cy="2120816"/>
          </a:xfrm>
        </p:spPr>
        <p:txBody>
          <a:bodyPr/>
          <a:lstStyle/>
          <a:p>
            <a:r>
              <a:rPr lang="en-US" sz="1400" dirty="0"/>
              <a:t>We have seen how to use Flask (or </a:t>
            </a:r>
            <a:r>
              <a:rPr lang="en-US" sz="1400" dirty="0" err="1"/>
              <a:t>FastAPI</a:t>
            </a:r>
            <a:r>
              <a:rPr lang="en-US" sz="1400" dirty="0"/>
              <a:t>) to implement an endpoint (a set of paths):</a:t>
            </a:r>
          </a:p>
          <a:p>
            <a:pPr lvl="1"/>
            <a:r>
              <a:rPr lang="en-US" sz="1200" dirty="0"/>
              <a:t>Some of the paths can run application logic and return the result data.</a:t>
            </a:r>
          </a:p>
          <a:p>
            <a:pPr lvl="1"/>
            <a:r>
              <a:rPr lang="en-US" sz="1200" dirty="0"/>
              <a:t>Some can return pages that a browser can render. Basically, these paths are returning the “client application” to the browser to execute, and may have API calls in JavaScript/Typescript.</a:t>
            </a:r>
          </a:p>
          <a:p>
            <a:pPr lvl="1"/>
            <a:r>
              <a:rPr lang="en-US" sz="1200" dirty="0"/>
              <a:t>Do not worry about this now.</a:t>
            </a:r>
          </a:p>
          <a:p>
            <a:r>
              <a:rPr lang="en-US" sz="1400" dirty="0"/>
              <a:t>But, running application logic and simply delivering files are two different “concerns.”</a:t>
            </a:r>
          </a:p>
          <a:p>
            <a:pPr lvl="1"/>
            <a:r>
              <a:rPr lang="en-US" sz="1200" dirty="0"/>
              <a:t>Having one runtime implement both would violate the SOLID principle.</a:t>
            </a:r>
          </a:p>
          <a:p>
            <a:pPr lvl="1"/>
            <a:r>
              <a:rPr lang="en-US" sz="1200" dirty="0"/>
              <a:t>The design points are different: “You can be a floor wax or a mouth wash, but not both.”</a:t>
            </a:r>
          </a:p>
          <a:p>
            <a:r>
              <a:rPr lang="en-US" sz="1400" dirty="0"/>
              <a:t>So, we need a separate “web server.”</a:t>
            </a:r>
          </a:p>
        </p:txBody>
      </p:sp>
      <p:sp>
        <p:nvSpPr>
          <p:cNvPr id="3" name="Title 2">
            <a:extLst>
              <a:ext uri="{FF2B5EF4-FFF2-40B4-BE49-F238E27FC236}">
                <a16:creationId xmlns:a16="http://schemas.microsoft.com/office/drawing/2014/main" id="{E349CADB-8B83-3549-2430-309EBE25B8E1}"/>
              </a:ext>
            </a:extLst>
          </p:cNvPr>
          <p:cNvSpPr>
            <a:spLocks noGrp="1"/>
          </p:cNvSpPr>
          <p:nvPr>
            <p:ph type="title"/>
          </p:nvPr>
        </p:nvSpPr>
        <p:spPr/>
        <p:txBody>
          <a:bodyPr/>
          <a:lstStyle/>
          <a:p>
            <a:r>
              <a:rPr lang="en-US" dirty="0"/>
              <a:t>Full Stack Web Application – Reminder</a:t>
            </a:r>
          </a:p>
        </p:txBody>
      </p:sp>
      <p:pic>
        <p:nvPicPr>
          <p:cNvPr id="1026" name="Picture 2">
            <a:extLst>
              <a:ext uri="{FF2B5EF4-FFF2-40B4-BE49-F238E27FC236}">
                <a16:creationId xmlns:a16="http://schemas.microsoft.com/office/drawing/2014/main" id="{12A4F984-BC58-C6EA-0665-96F03B54C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570" y="723900"/>
            <a:ext cx="4904829" cy="1828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6B9E272-56EC-8353-0001-8096F670A0E8}"/>
              </a:ext>
            </a:extLst>
          </p:cNvPr>
          <p:cNvSpPr txBox="1"/>
          <p:nvPr/>
        </p:nvSpPr>
        <p:spPr>
          <a:xfrm>
            <a:off x="152400" y="469984"/>
            <a:ext cx="7696199" cy="253916"/>
          </a:xfrm>
          <a:prstGeom prst="rect">
            <a:avLst/>
          </a:prstGeom>
          <a:noFill/>
        </p:spPr>
        <p:txBody>
          <a:bodyPr wrap="square">
            <a:spAutoFit/>
          </a:bodyPr>
          <a:lstStyle/>
          <a:p>
            <a:r>
              <a:rPr lang="en-US" sz="1050" dirty="0"/>
              <a:t>https://</a:t>
            </a:r>
            <a:r>
              <a:rPr lang="en-US" sz="1050" dirty="0" err="1"/>
              <a:t>levelup.gitconnected.com</a:t>
            </a:r>
            <a:r>
              <a:rPr lang="en-US" sz="1050" dirty="0"/>
              <a:t>/a-complete-guide-build-a-scalable-3-tier-architecture-with-mern-stack-es6-ca129d7df805</a:t>
            </a:r>
          </a:p>
        </p:txBody>
      </p:sp>
    </p:spTree>
    <p:extLst>
      <p:ext uri="{BB962C8B-B14F-4D97-AF65-F5344CB8AC3E}">
        <p14:creationId xmlns:p14="http://schemas.microsoft.com/office/powerpoint/2010/main" val="37171985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BBF6E4-1386-D454-B431-47F83AD35690}"/>
              </a:ext>
            </a:extLst>
          </p:cNvPr>
          <p:cNvPicPr>
            <a:picLocks noChangeAspect="1"/>
          </p:cNvPicPr>
          <p:nvPr/>
        </p:nvPicPr>
        <p:blipFill>
          <a:blip r:embed="rId2"/>
          <a:stretch>
            <a:fillRect/>
          </a:stretch>
        </p:blipFill>
        <p:spPr>
          <a:xfrm>
            <a:off x="381000" y="57150"/>
            <a:ext cx="8458200" cy="4493623"/>
          </a:xfrm>
          <a:prstGeom prst="rect">
            <a:avLst/>
          </a:prstGeom>
        </p:spPr>
      </p:pic>
    </p:spTree>
    <p:extLst>
      <p:ext uri="{BB962C8B-B14F-4D97-AF65-F5344CB8AC3E}">
        <p14:creationId xmlns:p14="http://schemas.microsoft.com/office/powerpoint/2010/main" val="2073344519"/>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DE70E9-FB1E-EC9B-692A-1664C2A7DE34}"/>
              </a:ext>
            </a:extLst>
          </p:cNvPr>
          <p:cNvSpPr>
            <a:spLocks noGrp="1"/>
          </p:cNvSpPr>
          <p:nvPr>
            <p:ph idx="1"/>
          </p:nvPr>
        </p:nvSpPr>
        <p:spPr>
          <a:xfrm>
            <a:off x="152400" y="590550"/>
            <a:ext cx="8839200" cy="4038600"/>
          </a:xfrm>
        </p:spPr>
        <p:txBody>
          <a:bodyPr/>
          <a:lstStyle/>
          <a:p>
            <a:pPr>
              <a:spcBef>
                <a:spcPts val="0"/>
              </a:spcBef>
              <a:spcAft>
                <a:spcPts val="200"/>
              </a:spcAft>
            </a:pPr>
            <a:r>
              <a:rPr lang="en-US" sz="1800" dirty="0"/>
              <a:t>Definitions:</a:t>
            </a:r>
          </a:p>
          <a:p>
            <a:pPr lvl="1">
              <a:spcBef>
                <a:spcPts val="0"/>
              </a:spcBef>
              <a:spcAft>
                <a:spcPts val="200"/>
              </a:spcAft>
            </a:pPr>
            <a:r>
              <a:rPr lang="en-US" sz="1600" dirty="0"/>
              <a:t>“A binary large object (BLOB or blob) is a collection of binary data stored as a single entity. Blobs are typically images, audio or other multimedia objects, though sometimes binary executable code is stored as a blob. They can exist as persistent values inside some databases or version control system, or exist at runtime as program variables in some programming languages.”</a:t>
            </a:r>
            <a:br>
              <a:rPr lang="en-US" sz="1600" dirty="0"/>
            </a:br>
            <a:r>
              <a:rPr lang="en-US" sz="1600" dirty="0"/>
              <a:t>(</a:t>
            </a:r>
            <a:r>
              <a:rPr lang="en-US" sz="1600" dirty="0">
                <a:hlinkClick r:id="rId2"/>
              </a:rPr>
              <a:t>https://en.wikipedia.org/wiki/Binary_large_object</a:t>
            </a:r>
            <a:r>
              <a:rPr lang="en-US" sz="1600" dirty="0"/>
              <a:t>)</a:t>
            </a:r>
          </a:p>
          <a:p>
            <a:pPr lvl="1">
              <a:spcBef>
                <a:spcPts val="0"/>
              </a:spcBef>
              <a:spcAft>
                <a:spcPts val="200"/>
              </a:spcAft>
            </a:pPr>
            <a:r>
              <a:rPr lang="en-US" sz="1600" dirty="0"/>
              <a:t>“Blob is the data type in MySQL that helps us store the object in the binary format. It is most typically used to store the files, images, </a:t>
            </a:r>
            <a:r>
              <a:rPr lang="en-US" sz="1600" dirty="0" err="1"/>
              <a:t>etc</a:t>
            </a:r>
            <a:r>
              <a:rPr lang="en-US" sz="1600" dirty="0"/>
              <a:t> media files for security reasons or some other purpose in MySQL.” (</a:t>
            </a:r>
            <a:r>
              <a:rPr lang="en-US" sz="1600" dirty="0">
                <a:hlinkClick r:id="rId3"/>
              </a:rPr>
              <a:t>https://www.educba.com/mysql-blob/</a:t>
            </a:r>
            <a:r>
              <a:rPr lang="en-US" sz="1600" dirty="0"/>
              <a:t>)</a:t>
            </a:r>
          </a:p>
          <a:p>
            <a:pPr>
              <a:spcBef>
                <a:spcPts val="0"/>
              </a:spcBef>
              <a:spcAft>
                <a:spcPts val="200"/>
              </a:spcAft>
            </a:pPr>
            <a:r>
              <a:rPr lang="en-US" sz="1800" dirty="0"/>
              <a:t>Intent:</a:t>
            </a:r>
          </a:p>
          <a:p>
            <a:pPr lvl="1">
              <a:spcBef>
                <a:spcPts val="0"/>
              </a:spcBef>
              <a:spcAft>
                <a:spcPts val="200"/>
              </a:spcAft>
            </a:pPr>
            <a:r>
              <a:rPr lang="en-US" sz="1600" dirty="0"/>
              <a:t>File systems are not good for many application scenarios, which is why database management systems emerged.</a:t>
            </a:r>
          </a:p>
          <a:p>
            <a:pPr lvl="1">
              <a:spcBef>
                <a:spcPts val="0"/>
              </a:spcBef>
              <a:spcAft>
                <a:spcPts val="200"/>
              </a:spcAft>
            </a:pPr>
            <a:r>
              <a:rPr lang="en-US" sz="1600" dirty="0"/>
              <a:t>Database management systems implement structured (or semi-structured) data, e.g. tables.</a:t>
            </a:r>
          </a:p>
          <a:p>
            <a:pPr lvl="1">
              <a:spcBef>
                <a:spcPts val="0"/>
              </a:spcBef>
              <a:spcAft>
                <a:spcPts val="200"/>
              </a:spcAft>
            </a:pPr>
            <a:r>
              <a:rPr lang="en-US" sz="1600" dirty="0"/>
              <a:t>Database BLOBs were a way to have some “big things” as table or document properties.</a:t>
            </a:r>
          </a:p>
        </p:txBody>
      </p:sp>
      <p:sp>
        <p:nvSpPr>
          <p:cNvPr id="3" name="Title 2">
            <a:extLst>
              <a:ext uri="{FF2B5EF4-FFF2-40B4-BE49-F238E27FC236}">
                <a16:creationId xmlns:a16="http://schemas.microsoft.com/office/drawing/2014/main" id="{D8BB6190-1230-24DE-3E7D-D4FB49B1DE08}"/>
              </a:ext>
            </a:extLst>
          </p:cNvPr>
          <p:cNvSpPr>
            <a:spLocks noGrp="1"/>
          </p:cNvSpPr>
          <p:nvPr>
            <p:ph type="title"/>
          </p:nvPr>
        </p:nvSpPr>
        <p:spPr/>
        <p:txBody>
          <a:bodyPr/>
          <a:lstStyle/>
          <a:p>
            <a:r>
              <a:rPr lang="en-US" dirty="0"/>
              <a:t>BLOB: Binary Large Object</a:t>
            </a:r>
          </a:p>
        </p:txBody>
      </p:sp>
    </p:spTree>
    <p:extLst>
      <p:ext uri="{BB962C8B-B14F-4D97-AF65-F5344CB8AC3E}">
        <p14:creationId xmlns:p14="http://schemas.microsoft.com/office/powerpoint/2010/main" val="1862711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5C7222-897A-C38C-911A-8C5BEEDEFCCA}"/>
              </a:ext>
            </a:extLst>
          </p:cNvPr>
          <p:cNvSpPr>
            <a:spLocks noGrp="1"/>
          </p:cNvSpPr>
          <p:nvPr>
            <p:ph type="title"/>
          </p:nvPr>
        </p:nvSpPr>
        <p:spPr/>
        <p:txBody>
          <a:bodyPr/>
          <a:lstStyle/>
          <a:p>
            <a:r>
              <a:rPr lang="en-US" dirty="0"/>
              <a:t>Amazon S3</a:t>
            </a:r>
          </a:p>
        </p:txBody>
      </p:sp>
      <p:pic>
        <p:nvPicPr>
          <p:cNvPr id="1026" name="Picture 2" descr="Diagram that shows how to move, store, and analyze data with Amazon S3. Described at the link 'Enlarge and read image description.'">
            <a:extLst>
              <a:ext uri="{FF2B5EF4-FFF2-40B4-BE49-F238E27FC236}">
                <a16:creationId xmlns:a16="http://schemas.microsoft.com/office/drawing/2014/main" id="{5E0C34F9-CF1C-83E3-FD2B-A0F9E5E4FC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149" y="590550"/>
            <a:ext cx="8411470" cy="31718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3BE0D0F-EA91-19E5-1D29-8EB76A65E7F6}"/>
              </a:ext>
            </a:extLst>
          </p:cNvPr>
          <p:cNvSpPr txBox="1"/>
          <p:nvPr/>
        </p:nvSpPr>
        <p:spPr>
          <a:xfrm>
            <a:off x="609600" y="3943350"/>
            <a:ext cx="8203079" cy="646331"/>
          </a:xfrm>
          <a:prstGeom prst="rect">
            <a:avLst/>
          </a:prstGeom>
          <a:noFill/>
        </p:spPr>
        <p:txBody>
          <a:bodyPr wrap="none" rtlCol="0">
            <a:spAutoFit/>
          </a:bodyPr>
          <a:lstStyle/>
          <a:p>
            <a:r>
              <a:rPr lang="en-US" dirty="0"/>
              <a:t>We used the equivalent capability on Azure for uploading CAD files, storing processed</a:t>
            </a:r>
            <a:br>
              <a:rPr lang="en-US" dirty="0"/>
            </a:br>
            <a:r>
              <a:rPr lang="en-US" dirty="0"/>
              <a:t>files and results, etc.</a:t>
            </a:r>
          </a:p>
        </p:txBody>
      </p:sp>
    </p:spTree>
    <p:extLst>
      <p:ext uri="{BB962C8B-B14F-4D97-AF65-F5344CB8AC3E}">
        <p14:creationId xmlns:p14="http://schemas.microsoft.com/office/powerpoint/2010/main" val="16366747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1DD270-140E-D5E2-52BD-FB0A1D141299}"/>
              </a:ext>
            </a:extLst>
          </p:cNvPr>
          <p:cNvSpPr>
            <a:spLocks noGrp="1"/>
          </p:cNvSpPr>
          <p:nvPr>
            <p:ph type="title"/>
          </p:nvPr>
        </p:nvSpPr>
        <p:spPr/>
        <p:txBody>
          <a:bodyPr/>
          <a:lstStyle/>
          <a:p>
            <a:r>
              <a:rPr lang="en-US" dirty="0"/>
              <a:t>AWS S3</a:t>
            </a:r>
          </a:p>
        </p:txBody>
      </p:sp>
      <p:pic>
        <p:nvPicPr>
          <p:cNvPr id="4" name="Picture 3">
            <a:extLst>
              <a:ext uri="{FF2B5EF4-FFF2-40B4-BE49-F238E27FC236}">
                <a16:creationId xmlns:a16="http://schemas.microsoft.com/office/drawing/2014/main" id="{235580F5-AF48-4E12-4849-748DE2B027E2}"/>
              </a:ext>
            </a:extLst>
          </p:cNvPr>
          <p:cNvPicPr>
            <a:picLocks noChangeAspect="1"/>
          </p:cNvPicPr>
          <p:nvPr/>
        </p:nvPicPr>
        <p:blipFill>
          <a:blip r:embed="rId2"/>
          <a:stretch>
            <a:fillRect/>
          </a:stretch>
        </p:blipFill>
        <p:spPr>
          <a:xfrm>
            <a:off x="762000" y="486509"/>
            <a:ext cx="3406738" cy="2340043"/>
          </a:xfrm>
          <a:prstGeom prst="rect">
            <a:avLst/>
          </a:prstGeom>
        </p:spPr>
      </p:pic>
      <p:sp>
        <p:nvSpPr>
          <p:cNvPr id="6" name="TextBox 5">
            <a:extLst>
              <a:ext uri="{FF2B5EF4-FFF2-40B4-BE49-F238E27FC236}">
                <a16:creationId xmlns:a16="http://schemas.microsoft.com/office/drawing/2014/main" id="{9AD802F2-2C89-6CD1-F4FF-7786139B16D8}"/>
              </a:ext>
            </a:extLst>
          </p:cNvPr>
          <p:cNvSpPr txBox="1"/>
          <p:nvPr/>
        </p:nvSpPr>
        <p:spPr>
          <a:xfrm>
            <a:off x="5738091" y="573870"/>
            <a:ext cx="3101107" cy="3139321"/>
          </a:xfrm>
          <a:prstGeom prst="rect">
            <a:avLst/>
          </a:prstGeom>
          <a:noFill/>
        </p:spPr>
        <p:txBody>
          <a:bodyPr wrap="square" rtlCol="0">
            <a:spAutoFit/>
          </a:bodyPr>
          <a:lstStyle/>
          <a:p>
            <a:r>
              <a:rPr lang="en-US" dirty="0"/>
              <a:t>Can support a logical hierarchy with a convention on keys.</a:t>
            </a:r>
          </a:p>
          <a:p>
            <a:pPr marL="285750" indent="-285750">
              <a:buFont typeface="Arial" panose="020B0604020202020204" pitchFamily="34" charset="0"/>
              <a:buChar char="•"/>
            </a:pPr>
            <a:r>
              <a:rPr lang="en-US" dirty="0"/>
              <a:t>x/y</a:t>
            </a:r>
          </a:p>
          <a:p>
            <a:pPr marL="285750" indent="-285750">
              <a:buFont typeface="Arial" panose="020B0604020202020204" pitchFamily="34" charset="0"/>
              <a:buChar char="•"/>
            </a:pPr>
            <a:r>
              <a:rPr lang="en-US" dirty="0"/>
              <a:t>x/z</a:t>
            </a:r>
          </a:p>
          <a:p>
            <a:pPr marL="285750" indent="-285750">
              <a:buFont typeface="Arial" panose="020B0604020202020204" pitchFamily="34" charset="0"/>
              <a:buChar char="•"/>
            </a:pPr>
            <a:r>
              <a:rPr lang="en-US" dirty="0"/>
              <a:t>x/y/z</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endParaRPr lang="en-US" dirty="0"/>
          </a:p>
          <a:p>
            <a:r>
              <a:rPr lang="en-US" dirty="0"/>
              <a:t>Acts kind of file system like, but</a:t>
            </a:r>
            <a:br>
              <a:rPr lang="en-US" dirty="0"/>
            </a:br>
            <a:r>
              <a:rPr lang="en-US" dirty="0"/>
              <a:t>is really just key strings.</a:t>
            </a:r>
          </a:p>
          <a:p>
            <a:endParaRPr lang="en-US" dirty="0"/>
          </a:p>
          <a:p>
            <a:r>
              <a:rPr lang="en-US" dirty="0"/>
              <a:t>GCP has a very similar model.</a:t>
            </a:r>
          </a:p>
        </p:txBody>
      </p:sp>
      <p:pic>
        <p:nvPicPr>
          <p:cNvPr id="1026" name="Picture 2">
            <a:extLst>
              <a:ext uri="{FF2B5EF4-FFF2-40B4-BE49-F238E27FC236}">
                <a16:creationId xmlns:a16="http://schemas.microsoft.com/office/drawing/2014/main" id="{9E56C461-8170-BEAA-B74F-257C2AF273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881518"/>
            <a:ext cx="4648200" cy="1795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8758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CACDCE6-C8E1-C1F9-5FB4-26AA3EFFECBE}"/>
              </a:ext>
            </a:extLst>
          </p:cNvPr>
          <p:cNvSpPr>
            <a:spLocks noGrp="1"/>
          </p:cNvSpPr>
          <p:nvPr>
            <p:ph idx="1"/>
          </p:nvPr>
        </p:nvSpPr>
        <p:spPr/>
        <p:txBody>
          <a:bodyPr/>
          <a:lstStyle/>
          <a:p>
            <a:r>
              <a:rPr lang="en-US" dirty="0">
                <a:hlinkClick r:id="rId2"/>
              </a:rPr>
              <a:t>https://e6156f20site.s3.us-east-2.amazonaws.com/index.html</a:t>
            </a:r>
            <a:endParaRPr lang="en-US" dirty="0"/>
          </a:p>
          <a:p>
            <a:pPr marL="0" indent="0">
              <a:buNone/>
            </a:pPr>
            <a:endParaRPr lang="en-US" dirty="0"/>
          </a:p>
        </p:txBody>
      </p:sp>
      <p:sp>
        <p:nvSpPr>
          <p:cNvPr id="5" name="Title 4">
            <a:extLst>
              <a:ext uri="{FF2B5EF4-FFF2-40B4-BE49-F238E27FC236}">
                <a16:creationId xmlns:a16="http://schemas.microsoft.com/office/drawing/2014/main" id="{08F93810-986E-D010-8241-3732044A10F3}"/>
              </a:ext>
            </a:extLst>
          </p:cNvPr>
          <p:cNvSpPr>
            <a:spLocks noGrp="1"/>
          </p:cNvSpPr>
          <p:nvPr>
            <p:ph type="title"/>
          </p:nvPr>
        </p:nvSpPr>
        <p:spPr/>
        <p:txBody>
          <a:bodyPr/>
          <a:lstStyle/>
          <a:p>
            <a:r>
              <a:rPr lang="en-US" dirty="0"/>
              <a:t>Simple Example</a:t>
            </a:r>
          </a:p>
        </p:txBody>
      </p:sp>
      <p:pic>
        <p:nvPicPr>
          <p:cNvPr id="2" name="Picture 1">
            <a:extLst>
              <a:ext uri="{FF2B5EF4-FFF2-40B4-BE49-F238E27FC236}">
                <a16:creationId xmlns:a16="http://schemas.microsoft.com/office/drawing/2014/main" id="{3A83397C-4164-8EFA-F4A2-E8A4C3E3F855}"/>
              </a:ext>
            </a:extLst>
          </p:cNvPr>
          <p:cNvPicPr>
            <a:picLocks noChangeAspect="1"/>
          </p:cNvPicPr>
          <p:nvPr/>
        </p:nvPicPr>
        <p:blipFill>
          <a:blip r:embed="rId3"/>
          <a:stretch>
            <a:fillRect/>
          </a:stretch>
        </p:blipFill>
        <p:spPr>
          <a:xfrm>
            <a:off x="194341" y="1047750"/>
            <a:ext cx="6462638" cy="3429000"/>
          </a:xfrm>
          <a:prstGeom prst="rect">
            <a:avLst/>
          </a:prstGeom>
        </p:spPr>
      </p:pic>
      <p:sp>
        <p:nvSpPr>
          <p:cNvPr id="3" name="TextBox 2">
            <a:extLst>
              <a:ext uri="{FF2B5EF4-FFF2-40B4-BE49-F238E27FC236}">
                <a16:creationId xmlns:a16="http://schemas.microsoft.com/office/drawing/2014/main" id="{2DBE78D1-269E-F062-2BEC-613A20D6E7FC}"/>
              </a:ext>
            </a:extLst>
          </p:cNvPr>
          <p:cNvSpPr txBox="1"/>
          <p:nvPr/>
        </p:nvSpPr>
        <p:spPr>
          <a:xfrm>
            <a:off x="6473671" y="2343150"/>
            <a:ext cx="2510624" cy="923330"/>
          </a:xfrm>
          <a:prstGeom prst="rect">
            <a:avLst/>
          </a:prstGeom>
          <a:noFill/>
        </p:spPr>
        <p:txBody>
          <a:bodyPr wrap="none" rtlCol="0">
            <a:spAutoFit/>
          </a:bodyPr>
          <a:lstStyle/>
          <a:p>
            <a:r>
              <a:rPr lang="en-US" dirty="0"/>
              <a:t>Could be hierarchical.</a:t>
            </a:r>
          </a:p>
          <a:p>
            <a:endParaRPr lang="en-US" dirty="0"/>
          </a:p>
          <a:p>
            <a:r>
              <a:rPr lang="en-US" dirty="0"/>
              <a:t>I need to migrate to GCP.</a:t>
            </a:r>
          </a:p>
        </p:txBody>
      </p:sp>
    </p:spTree>
    <p:extLst>
      <p:ext uri="{BB962C8B-B14F-4D97-AF65-F5344CB8AC3E}">
        <p14:creationId xmlns:p14="http://schemas.microsoft.com/office/powerpoint/2010/main" val="2470540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182688-9AF0-753A-B9A4-792EEECD379C}"/>
              </a:ext>
            </a:extLst>
          </p:cNvPr>
          <p:cNvSpPr>
            <a:spLocks noGrp="1"/>
          </p:cNvSpPr>
          <p:nvPr>
            <p:ph idx="1"/>
          </p:nvPr>
        </p:nvSpPr>
        <p:spPr/>
        <p:txBody>
          <a:bodyPr/>
          <a:lstStyle/>
          <a:p>
            <a:r>
              <a:rPr lang="en-US" sz="1600" dirty="0"/>
              <a:t>You have several options for hosting your static web content on GCP</a:t>
            </a:r>
          </a:p>
          <a:p>
            <a:pPr lvl="1"/>
            <a:r>
              <a:rPr lang="en-US" sz="1400" dirty="0"/>
              <a:t>Firebase Hosting – Easiest option, HTTPS + CDN, built-in SPA rewrites, great for static SPAs</a:t>
            </a:r>
          </a:p>
          <a:p>
            <a:pPr lvl="1"/>
            <a:r>
              <a:rPr lang="en-US" sz="1400" dirty="0"/>
              <a:t>Cloud Storage + CDN + HTTPS LB – Enterprise-scale, Google-managed SSL, integrates with load balancer infra</a:t>
            </a:r>
          </a:p>
          <a:p>
            <a:pPr lvl="1"/>
            <a:r>
              <a:rPr lang="en-US" sz="1400" dirty="0"/>
              <a:t>Cloud Run + NGINX – Flexible, supports custom rewrites and caching headers, serverless scaling</a:t>
            </a:r>
          </a:p>
          <a:p>
            <a:r>
              <a:rPr lang="en-US" sz="1600" dirty="0"/>
              <a:t>There are clearly pros and cons to each approach.</a:t>
            </a:r>
          </a:p>
          <a:p>
            <a:r>
              <a:rPr lang="en-US" sz="1600" dirty="0"/>
              <a:t>For simplicity, I suggest that you use Firebase.</a:t>
            </a:r>
          </a:p>
          <a:p>
            <a:r>
              <a:rPr lang="en-US" sz="1600" dirty="0"/>
              <a:t>Note:</a:t>
            </a:r>
          </a:p>
          <a:p>
            <a:pPr lvl="1"/>
            <a:r>
              <a:rPr lang="en-US" sz="1400" dirty="0"/>
              <a:t>I followed ChatGPT’s instructions for an hour and nearly had a stroke.</a:t>
            </a:r>
          </a:p>
          <a:p>
            <a:pPr lvl="1"/>
            <a:r>
              <a:rPr lang="en-US" sz="1400" dirty="0"/>
              <a:t>I felt like the Sorcerer’s Apprentice.</a:t>
            </a:r>
          </a:p>
          <a:p>
            <a:pPr lvl="1"/>
            <a:r>
              <a:rPr lang="en-US" sz="1400" dirty="0"/>
              <a:t>I am going to try again over the weekend or switch to Google Cloud Store</a:t>
            </a:r>
          </a:p>
          <a:p>
            <a:r>
              <a:rPr lang="en-US" sz="1600" dirty="0"/>
              <a:t>Note 2:</a:t>
            </a:r>
          </a:p>
          <a:p>
            <a:pPr lvl="1"/>
            <a:r>
              <a:rPr lang="en-US" sz="1400" dirty="0"/>
              <a:t>I started following the instructions for Google Cloud Storage</a:t>
            </a:r>
          </a:p>
          <a:p>
            <a:pPr lvl="1"/>
            <a:r>
              <a:rPr lang="en-US" sz="1400" dirty="0"/>
              <a:t>I nearly has another stroke.</a:t>
            </a:r>
          </a:p>
          <a:p>
            <a:pPr lvl="1"/>
            <a:r>
              <a:rPr lang="en-US" sz="1400" dirty="0"/>
              <a:t>I will figure this out over the weekend</a:t>
            </a:r>
          </a:p>
          <a:p>
            <a:pPr lvl="1"/>
            <a:endParaRPr lang="en-US" sz="1400" dirty="0"/>
          </a:p>
          <a:p>
            <a:endParaRPr lang="en-US" sz="1600" dirty="0"/>
          </a:p>
        </p:txBody>
      </p:sp>
      <p:sp>
        <p:nvSpPr>
          <p:cNvPr id="3" name="Title 2">
            <a:extLst>
              <a:ext uri="{FF2B5EF4-FFF2-40B4-BE49-F238E27FC236}">
                <a16:creationId xmlns:a16="http://schemas.microsoft.com/office/drawing/2014/main" id="{695F5B6F-4995-396F-626B-B3078EFF9092}"/>
              </a:ext>
            </a:extLst>
          </p:cNvPr>
          <p:cNvSpPr>
            <a:spLocks noGrp="1"/>
          </p:cNvSpPr>
          <p:nvPr>
            <p:ph type="title"/>
          </p:nvPr>
        </p:nvSpPr>
        <p:spPr/>
        <p:txBody>
          <a:bodyPr/>
          <a:lstStyle/>
          <a:p>
            <a:r>
              <a:rPr lang="en-US" dirty="0"/>
              <a:t>Static Content</a:t>
            </a:r>
          </a:p>
        </p:txBody>
      </p:sp>
      <p:pic>
        <p:nvPicPr>
          <p:cNvPr id="4" name="Picture 3">
            <a:extLst>
              <a:ext uri="{FF2B5EF4-FFF2-40B4-BE49-F238E27FC236}">
                <a16:creationId xmlns:a16="http://schemas.microsoft.com/office/drawing/2014/main" id="{ABE1A7E2-F65E-0EC6-F6B7-1E6A27D7F66A}"/>
              </a:ext>
            </a:extLst>
          </p:cNvPr>
          <p:cNvPicPr>
            <a:picLocks noChangeAspect="1"/>
          </p:cNvPicPr>
          <p:nvPr/>
        </p:nvPicPr>
        <p:blipFill>
          <a:blip r:embed="rId2"/>
          <a:stretch>
            <a:fillRect/>
          </a:stretch>
        </p:blipFill>
        <p:spPr>
          <a:xfrm>
            <a:off x="6546460" y="1809750"/>
            <a:ext cx="2264164" cy="1504950"/>
          </a:xfrm>
          <a:prstGeom prst="rect">
            <a:avLst/>
          </a:prstGeom>
        </p:spPr>
      </p:pic>
    </p:spTree>
    <p:extLst>
      <p:ext uri="{BB962C8B-B14F-4D97-AF65-F5344CB8AC3E}">
        <p14:creationId xmlns:p14="http://schemas.microsoft.com/office/powerpoint/2010/main" val="10571938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9E74D-CA31-FF96-ED33-7B0E2A064438}"/>
            </a:ext>
          </a:extLst>
        </p:cNvPr>
        <p:cNvGrpSpPr/>
        <p:nvPr/>
      </p:nvGrpSpPr>
      <p:grpSpPr>
        <a:xfrm>
          <a:off x="0" y="0"/>
          <a:ext cx="0" cy="0"/>
          <a:chOff x="0" y="0"/>
          <a:chExt cx="0" cy="0"/>
        </a:xfrm>
      </p:grpSpPr>
      <p:sp>
        <p:nvSpPr>
          <p:cNvPr id="2" name="TextBox 8">
            <a:extLst>
              <a:ext uri="{FF2B5EF4-FFF2-40B4-BE49-F238E27FC236}">
                <a16:creationId xmlns:a16="http://schemas.microsoft.com/office/drawing/2014/main" id="{A57009AF-4507-5E0B-F0E7-DA6C01043750}"/>
              </a:ext>
            </a:extLst>
          </p:cNvPr>
          <p:cNvSpPr txBox="1">
            <a:spLocks noChangeArrowheads="1"/>
          </p:cNvSpPr>
          <p:nvPr/>
        </p:nvSpPr>
        <p:spPr bwMode="auto">
          <a:xfrm>
            <a:off x="0" y="1372815"/>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DBaaS</a:t>
            </a:r>
          </a:p>
          <a:p>
            <a:pPr algn="ctr"/>
            <a:endParaRPr lang="en-US" altLang="en-US" sz="2800" i="1" dirty="0">
              <a:solidFill>
                <a:schemeClr val="bg1"/>
              </a:solidFill>
            </a:endParaRPr>
          </a:p>
        </p:txBody>
      </p:sp>
    </p:spTree>
    <p:extLst>
      <p:ext uri="{BB962C8B-B14F-4D97-AF65-F5344CB8AC3E}">
        <p14:creationId xmlns:p14="http://schemas.microsoft.com/office/powerpoint/2010/main" val="3793559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FF8734-2CB1-490A-4615-3248EE32BD8C}"/>
              </a:ext>
            </a:extLst>
          </p:cNvPr>
          <p:cNvSpPr>
            <a:spLocks noGrp="1"/>
          </p:cNvSpPr>
          <p:nvPr>
            <p:ph type="title"/>
          </p:nvPr>
        </p:nvSpPr>
        <p:spPr/>
        <p:txBody>
          <a:bodyPr/>
          <a:lstStyle/>
          <a:p>
            <a:r>
              <a:rPr lang="en-US" dirty="0"/>
              <a:t>Cloud Concepts – One Perspective</a:t>
            </a:r>
          </a:p>
        </p:txBody>
      </p:sp>
      <p:pic>
        <p:nvPicPr>
          <p:cNvPr id="4" name="Picture 3">
            <a:extLst>
              <a:ext uri="{FF2B5EF4-FFF2-40B4-BE49-F238E27FC236}">
                <a16:creationId xmlns:a16="http://schemas.microsoft.com/office/drawing/2014/main" id="{623AD378-16F7-D395-7035-138B244F9337}"/>
              </a:ext>
            </a:extLst>
          </p:cNvPr>
          <p:cNvPicPr>
            <a:picLocks noChangeAspect="1"/>
          </p:cNvPicPr>
          <p:nvPr/>
        </p:nvPicPr>
        <p:blipFill>
          <a:blip r:embed="rId2"/>
          <a:stretch>
            <a:fillRect/>
          </a:stretch>
        </p:blipFill>
        <p:spPr>
          <a:xfrm>
            <a:off x="838200" y="590550"/>
            <a:ext cx="6966052" cy="4095750"/>
          </a:xfrm>
          <a:prstGeom prst="rect">
            <a:avLst/>
          </a:prstGeom>
        </p:spPr>
      </p:pic>
      <p:sp>
        <p:nvSpPr>
          <p:cNvPr id="5" name="TextBox 4">
            <a:extLst>
              <a:ext uri="{FF2B5EF4-FFF2-40B4-BE49-F238E27FC236}">
                <a16:creationId xmlns:a16="http://schemas.microsoft.com/office/drawing/2014/main" id="{80D6BE0E-A285-4EDD-440C-F4868B1D79D7}"/>
              </a:ext>
            </a:extLst>
          </p:cNvPr>
          <p:cNvSpPr txBox="1"/>
          <p:nvPr/>
        </p:nvSpPr>
        <p:spPr>
          <a:xfrm>
            <a:off x="571500" y="971550"/>
            <a:ext cx="7499451" cy="276999"/>
          </a:xfrm>
          <a:prstGeom prst="rect">
            <a:avLst/>
          </a:prstGeom>
          <a:noFill/>
        </p:spPr>
        <p:txBody>
          <a:bodyPr wrap="square">
            <a:spAutoFit/>
          </a:bodyPr>
          <a:lstStyle/>
          <a:p>
            <a:r>
              <a:rPr lang="en-US" sz="1200" dirty="0"/>
              <a:t>http://</a:t>
            </a:r>
            <a:r>
              <a:rPr lang="en-US" sz="1200" dirty="0" err="1"/>
              <a:t>www.theenterprisearchitect.eu</a:t>
            </a:r>
            <a:r>
              <a:rPr lang="en-US" sz="1200" dirty="0"/>
              <a:t>/blog/2013/10/12/the-cloud-landscape-described-categorized-and-compared/</a:t>
            </a:r>
          </a:p>
        </p:txBody>
      </p:sp>
    </p:spTree>
    <p:extLst>
      <p:ext uri="{BB962C8B-B14F-4D97-AF65-F5344CB8AC3E}">
        <p14:creationId xmlns:p14="http://schemas.microsoft.com/office/powerpoint/2010/main" val="40692681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32ADC1-6117-4E91-D190-8BA87CF8AC6B}"/>
              </a:ext>
            </a:extLst>
          </p:cNvPr>
          <p:cNvPicPr>
            <a:picLocks noChangeAspect="1"/>
          </p:cNvPicPr>
          <p:nvPr/>
        </p:nvPicPr>
        <p:blipFill>
          <a:blip r:embed="rId2"/>
          <a:stretch>
            <a:fillRect/>
          </a:stretch>
        </p:blipFill>
        <p:spPr>
          <a:xfrm>
            <a:off x="685800" y="1885950"/>
            <a:ext cx="7315200" cy="2222959"/>
          </a:xfrm>
          <a:prstGeom prst="rect">
            <a:avLst/>
          </a:prstGeom>
        </p:spPr>
      </p:pic>
      <p:sp>
        <p:nvSpPr>
          <p:cNvPr id="2" name="Content Placeholder 1">
            <a:extLst>
              <a:ext uri="{FF2B5EF4-FFF2-40B4-BE49-F238E27FC236}">
                <a16:creationId xmlns:a16="http://schemas.microsoft.com/office/drawing/2014/main" id="{521A9BEB-25CB-E8B1-DDE9-7C25C3046DE5}"/>
              </a:ext>
            </a:extLst>
          </p:cNvPr>
          <p:cNvSpPr>
            <a:spLocks noGrp="1"/>
          </p:cNvSpPr>
          <p:nvPr>
            <p:ph idx="1"/>
          </p:nvPr>
        </p:nvSpPr>
        <p:spPr>
          <a:xfrm>
            <a:off x="152400" y="590550"/>
            <a:ext cx="8839200" cy="1371600"/>
          </a:xfrm>
        </p:spPr>
        <p:txBody>
          <a:bodyPr/>
          <a:lstStyle/>
          <a:p>
            <a:pPr marL="0" indent="0">
              <a:buNone/>
            </a:pPr>
            <a:r>
              <a:rPr lang="en-US" sz="1400" dirty="0"/>
              <a:t>“A cloud database is a database that typically runs on a cloud computing platform and access to the database is provided as-a-service. There are two common deployment models: users can run databases on the cloud independently, using a virtual machine image, or they can purchase access to a database service, maintained by a cloud database provider. Of the databases available on the cloud, some are SQL-based and some use a NoSQL data model.</a:t>
            </a:r>
          </a:p>
          <a:p>
            <a:pPr marL="0" indent="0">
              <a:buNone/>
            </a:pPr>
            <a:r>
              <a:rPr lang="en-US" sz="1400" dirty="0"/>
              <a:t>Database services take care of scalability and high availability of the database. Database services make the underlying software-stack transparent to the user.” (Wikipedia)</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US" sz="1400" dirty="0"/>
              <a:t>Let’s take a look at 3: Relational Data Service, </a:t>
            </a:r>
            <a:r>
              <a:rPr lang="en-US" sz="1400" strike="sngStrike" dirty="0"/>
              <a:t>Dynamo DB, MongoDB (Compass)</a:t>
            </a:r>
          </a:p>
          <a:p>
            <a:pPr marL="0" indent="0">
              <a:buNone/>
            </a:pPr>
            <a:endParaRPr lang="en-US" sz="1800" dirty="0"/>
          </a:p>
        </p:txBody>
      </p:sp>
      <p:sp>
        <p:nvSpPr>
          <p:cNvPr id="3" name="Title 2">
            <a:extLst>
              <a:ext uri="{FF2B5EF4-FFF2-40B4-BE49-F238E27FC236}">
                <a16:creationId xmlns:a16="http://schemas.microsoft.com/office/drawing/2014/main" id="{99A99FB0-D7EF-701E-F203-D4876C943E6E}"/>
              </a:ext>
            </a:extLst>
          </p:cNvPr>
          <p:cNvSpPr>
            <a:spLocks noGrp="1"/>
          </p:cNvSpPr>
          <p:nvPr>
            <p:ph type="title"/>
          </p:nvPr>
        </p:nvSpPr>
        <p:spPr/>
        <p:txBody>
          <a:bodyPr/>
          <a:lstStyle/>
          <a:p>
            <a:r>
              <a:rPr lang="en-US" dirty="0"/>
              <a:t>Database-as-a-Service</a:t>
            </a:r>
          </a:p>
        </p:txBody>
      </p:sp>
    </p:spTree>
    <p:extLst>
      <p:ext uri="{BB962C8B-B14F-4D97-AF65-F5344CB8AC3E}">
        <p14:creationId xmlns:p14="http://schemas.microsoft.com/office/powerpoint/2010/main" val="32265550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A567B-094C-8D2D-3688-669FA5C9A50D}"/>
            </a:ext>
          </a:extLst>
        </p:cNvPr>
        <p:cNvGrpSpPr/>
        <p:nvPr/>
      </p:nvGrpSpPr>
      <p:grpSpPr>
        <a:xfrm>
          <a:off x="0" y="0"/>
          <a:ext cx="0" cy="0"/>
          <a:chOff x="0" y="0"/>
          <a:chExt cx="0" cy="0"/>
        </a:xfrm>
      </p:grpSpPr>
      <p:sp>
        <p:nvSpPr>
          <p:cNvPr id="2" name="TextBox 8">
            <a:extLst>
              <a:ext uri="{FF2B5EF4-FFF2-40B4-BE49-F238E27FC236}">
                <a16:creationId xmlns:a16="http://schemas.microsoft.com/office/drawing/2014/main" id="{3DA95461-D70B-9C6F-3751-871D310EEF47}"/>
              </a:ext>
            </a:extLst>
          </p:cNvPr>
          <p:cNvSpPr txBox="1">
            <a:spLocks noChangeArrowheads="1"/>
          </p:cNvSpPr>
          <p:nvPr/>
        </p:nvSpPr>
        <p:spPr bwMode="auto">
          <a:xfrm>
            <a:off x="0" y="1372815"/>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4400" i="1" dirty="0">
                <a:solidFill>
                  <a:schemeClr val="bg1"/>
                </a:solidFill>
              </a:rPr>
              <a:t>12 Factor Applications</a:t>
            </a:r>
          </a:p>
          <a:p>
            <a:pPr algn="ctr"/>
            <a:endParaRPr lang="en-US" altLang="en-US" sz="2800" i="1" dirty="0">
              <a:solidFill>
                <a:schemeClr val="bg1"/>
              </a:solidFill>
            </a:endParaRPr>
          </a:p>
        </p:txBody>
      </p:sp>
    </p:spTree>
    <p:extLst>
      <p:ext uri="{BB962C8B-B14F-4D97-AF65-F5344CB8AC3E}">
        <p14:creationId xmlns:p14="http://schemas.microsoft.com/office/powerpoint/2010/main" val="27833418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55CAEF-BE02-5D4F-8E13-E75CE4CDFEC6}"/>
              </a:ext>
            </a:extLst>
          </p:cNvPr>
          <p:cNvSpPr>
            <a:spLocks noGrp="1"/>
          </p:cNvSpPr>
          <p:nvPr>
            <p:ph type="title"/>
          </p:nvPr>
        </p:nvSpPr>
        <p:spPr/>
        <p:txBody>
          <a:bodyPr/>
          <a:lstStyle/>
          <a:p>
            <a:r>
              <a:rPr lang="en-US" dirty="0"/>
              <a:t>12 Factor Applications</a:t>
            </a:r>
          </a:p>
        </p:txBody>
      </p:sp>
      <p:pic>
        <p:nvPicPr>
          <p:cNvPr id="4" name="Picture 3">
            <a:extLst>
              <a:ext uri="{FF2B5EF4-FFF2-40B4-BE49-F238E27FC236}">
                <a16:creationId xmlns:a16="http://schemas.microsoft.com/office/drawing/2014/main" id="{E934B32E-E251-2449-AF67-306D9A7CA9C4}"/>
              </a:ext>
            </a:extLst>
          </p:cNvPr>
          <p:cNvPicPr>
            <a:picLocks noChangeAspect="1"/>
          </p:cNvPicPr>
          <p:nvPr/>
        </p:nvPicPr>
        <p:blipFill>
          <a:blip r:embed="rId2"/>
          <a:stretch>
            <a:fillRect/>
          </a:stretch>
        </p:blipFill>
        <p:spPr>
          <a:xfrm>
            <a:off x="685800" y="742950"/>
            <a:ext cx="7086600" cy="3898822"/>
          </a:xfrm>
          <a:prstGeom prst="rect">
            <a:avLst/>
          </a:prstGeom>
        </p:spPr>
      </p:pic>
      <p:sp>
        <p:nvSpPr>
          <p:cNvPr id="5" name="Rectangle 4">
            <a:extLst>
              <a:ext uri="{FF2B5EF4-FFF2-40B4-BE49-F238E27FC236}">
                <a16:creationId xmlns:a16="http://schemas.microsoft.com/office/drawing/2014/main" id="{9A88D20B-436C-0F4D-9D36-E12820AF6E8A}"/>
              </a:ext>
            </a:extLst>
          </p:cNvPr>
          <p:cNvSpPr/>
          <p:nvPr/>
        </p:nvSpPr>
        <p:spPr>
          <a:xfrm>
            <a:off x="-20169" y="444319"/>
            <a:ext cx="8991599" cy="369332"/>
          </a:xfrm>
          <a:prstGeom prst="rect">
            <a:avLst/>
          </a:prstGeom>
        </p:spPr>
        <p:txBody>
          <a:bodyPr wrap="square">
            <a:spAutoFit/>
          </a:bodyPr>
          <a:lstStyle/>
          <a:p>
            <a:r>
              <a:rPr lang="en-US" dirty="0"/>
              <a:t>https://</a:t>
            </a:r>
            <a:r>
              <a:rPr lang="en-US" dirty="0" err="1"/>
              <a:t>dzone.com</a:t>
            </a:r>
            <a:r>
              <a:rPr lang="en-US" dirty="0"/>
              <a:t>/articles/12-factor-app-principles-and-cloud-native-microser</a:t>
            </a:r>
          </a:p>
        </p:txBody>
      </p:sp>
    </p:spTree>
    <p:extLst>
      <p:ext uri="{BB962C8B-B14F-4D97-AF65-F5344CB8AC3E}">
        <p14:creationId xmlns:p14="http://schemas.microsoft.com/office/powerpoint/2010/main" val="42853634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23BD26-A856-0A47-9C56-F3152D5BCD86}"/>
              </a:ext>
            </a:extLst>
          </p:cNvPr>
          <p:cNvSpPr>
            <a:spLocks noGrp="1"/>
          </p:cNvSpPr>
          <p:nvPr>
            <p:ph idx="1"/>
          </p:nvPr>
        </p:nvSpPr>
        <p:spPr>
          <a:xfrm>
            <a:off x="5486400" y="552450"/>
            <a:ext cx="3505200" cy="4038600"/>
          </a:xfrm>
        </p:spPr>
        <p:txBody>
          <a:bodyPr/>
          <a:lstStyle/>
          <a:p>
            <a:r>
              <a:rPr lang="en-US" sz="1600" dirty="0"/>
              <a:t>Most application frameworks have a dependency declaration concept.</a:t>
            </a:r>
          </a:p>
          <a:p>
            <a:r>
              <a:rPr lang="en-US" sz="1600" dirty="0"/>
              <a:t>I have been showing examples with:</a:t>
            </a:r>
          </a:p>
          <a:p>
            <a:pPr lvl="1"/>
            <a:r>
              <a:rPr lang="en-US" sz="1400" dirty="0"/>
              <a:t>Python import</a:t>
            </a:r>
          </a:p>
          <a:p>
            <a:pPr lvl="1"/>
            <a:r>
              <a:rPr lang="en-US" sz="1400" dirty="0" err="1"/>
              <a:t>requirements.txt</a:t>
            </a:r>
            <a:endParaRPr lang="en-US" sz="1400" dirty="0"/>
          </a:p>
          <a:p>
            <a:pPr lvl="1"/>
            <a:r>
              <a:rPr lang="en-US" sz="1400" dirty="0"/>
              <a:t>etc.</a:t>
            </a:r>
          </a:p>
          <a:p>
            <a:r>
              <a:rPr lang="en-US" sz="1600" dirty="0"/>
              <a:t>My examples also show encapsulating libraries and APIs with Python classes.</a:t>
            </a:r>
          </a:p>
          <a:p>
            <a:r>
              <a:rPr lang="en-US" sz="1600" dirty="0"/>
              <a:t>II. Dependencies handles “the code,” but we still need to handle the instance. There is a difference between, e.g. </a:t>
            </a:r>
          </a:p>
          <a:p>
            <a:pPr lvl="1"/>
            <a:r>
              <a:rPr lang="en-US" sz="1400" dirty="0" err="1"/>
              <a:t>pymysql</a:t>
            </a:r>
            <a:endParaRPr lang="en-US" sz="1400" dirty="0"/>
          </a:p>
          <a:p>
            <a:pPr lvl="1"/>
            <a:r>
              <a:rPr lang="en-US" sz="1400" dirty="0"/>
              <a:t>A specific connection.</a:t>
            </a:r>
          </a:p>
        </p:txBody>
      </p:sp>
      <p:sp>
        <p:nvSpPr>
          <p:cNvPr id="3" name="Title 2">
            <a:extLst>
              <a:ext uri="{FF2B5EF4-FFF2-40B4-BE49-F238E27FC236}">
                <a16:creationId xmlns:a16="http://schemas.microsoft.com/office/drawing/2014/main" id="{46293210-CBDA-4E78-60BA-780121B7A749}"/>
              </a:ext>
            </a:extLst>
          </p:cNvPr>
          <p:cNvSpPr>
            <a:spLocks noGrp="1"/>
          </p:cNvSpPr>
          <p:nvPr>
            <p:ph type="title"/>
          </p:nvPr>
        </p:nvSpPr>
        <p:spPr/>
        <p:txBody>
          <a:bodyPr/>
          <a:lstStyle/>
          <a:p>
            <a:r>
              <a:rPr lang="en-US" dirty="0"/>
              <a:t>Dependencies</a:t>
            </a:r>
          </a:p>
        </p:txBody>
      </p:sp>
      <p:pic>
        <p:nvPicPr>
          <p:cNvPr id="4" name="Picture 3">
            <a:extLst>
              <a:ext uri="{FF2B5EF4-FFF2-40B4-BE49-F238E27FC236}">
                <a16:creationId xmlns:a16="http://schemas.microsoft.com/office/drawing/2014/main" id="{82830A5C-40A0-B355-CFF1-485902842253}"/>
              </a:ext>
            </a:extLst>
          </p:cNvPr>
          <p:cNvPicPr>
            <a:picLocks noChangeAspect="1"/>
          </p:cNvPicPr>
          <p:nvPr/>
        </p:nvPicPr>
        <p:blipFill>
          <a:blip r:embed="rId2"/>
          <a:stretch>
            <a:fillRect/>
          </a:stretch>
        </p:blipFill>
        <p:spPr>
          <a:xfrm>
            <a:off x="152400" y="590550"/>
            <a:ext cx="5181600" cy="3966446"/>
          </a:xfrm>
          <a:prstGeom prst="rect">
            <a:avLst/>
          </a:prstGeom>
        </p:spPr>
      </p:pic>
    </p:spTree>
    <p:extLst>
      <p:ext uri="{BB962C8B-B14F-4D97-AF65-F5344CB8AC3E}">
        <p14:creationId xmlns:p14="http://schemas.microsoft.com/office/powerpoint/2010/main" val="1474613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E8A45C-C9A1-2C15-CD25-72166D095C70}"/>
              </a:ext>
            </a:extLst>
          </p:cNvPr>
          <p:cNvSpPr>
            <a:spLocks noGrp="1"/>
          </p:cNvSpPr>
          <p:nvPr>
            <p:ph idx="1"/>
          </p:nvPr>
        </p:nvSpPr>
        <p:spPr>
          <a:xfrm>
            <a:off x="4419600" y="590550"/>
            <a:ext cx="4572000" cy="4038600"/>
          </a:xfrm>
        </p:spPr>
        <p:txBody>
          <a:bodyPr/>
          <a:lstStyle/>
          <a:p>
            <a:r>
              <a:rPr lang="en-US" sz="1600" dirty="0"/>
              <a:t>Each of the deployment environments we will use has a method for configuring environment variables.</a:t>
            </a:r>
          </a:p>
          <a:p>
            <a:r>
              <a:rPr lang="en-US" sz="1600" dirty="0"/>
              <a:t>CI/CD, GitHub actions, etc. can integrate environment variables with the development process.</a:t>
            </a:r>
          </a:p>
          <a:p>
            <a:r>
              <a:rPr lang="en-US" sz="1600" dirty="0"/>
              <a:t>Vaults and secrets managers are a better approach for passwords.</a:t>
            </a:r>
          </a:p>
        </p:txBody>
      </p:sp>
      <p:sp>
        <p:nvSpPr>
          <p:cNvPr id="3" name="Title 2">
            <a:extLst>
              <a:ext uri="{FF2B5EF4-FFF2-40B4-BE49-F238E27FC236}">
                <a16:creationId xmlns:a16="http://schemas.microsoft.com/office/drawing/2014/main" id="{BC0EA793-9153-0B68-32EC-BF843A5F39D2}"/>
              </a:ext>
            </a:extLst>
          </p:cNvPr>
          <p:cNvSpPr>
            <a:spLocks noGrp="1"/>
          </p:cNvSpPr>
          <p:nvPr>
            <p:ph type="title"/>
          </p:nvPr>
        </p:nvSpPr>
        <p:spPr/>
        <p:txBody>
          <a:bodyPr/>
          <a:lstStyle/>
          <a:p>
            <a:r>
              <a:rPr lang="en-US" dirty="0"/>
              <a:t>III. Configurations</a:t>
            </a:r>
          </a:p>
        </p:txBody>
      </p:sp>
      <p:pic>
        <p:nvPicPr>
          <p:cNvPr id="4" name="Picture 3">
            <a:extLst>
              <a:ext uri="{FF2B5EF4-FFF2-40B4-BE49-F238E27FC236}">
                <a16:creationId xmlns:a16="http://schemas.microsoft.com/office/drawing/2014/main" id="{95E52C05-9F7E-DC24-1E22-3DEDACCFF0FC}"/>
              </a:ext>
            </a:extLst>
          </p:cNvPr>
          <p:cNvPicPr>
            <a:picLocks noChangeAspect="1"/>
          </p:cNvPicPr>
          <p:nvPr/>
        </p:nvPicPr>
        <p:blipFill>
          <a:blip r:embed="rId2"/>
          <a:stretch>
            <a:fillRect/>
          </a:stretch>
        </p:blipFill>
        <p:spPr>
          <a:xfrm>
            <a:off x="128016" y="485775"/>
            <a:ext cx="4227724" cy="4171950"/>
          </a:xfrm>
          <a:prstGeom prst="rect">
            <a:avLst/>
          </a:prstGeom>
        </p:spPr>
      </p:pic>
    </p:spTree>
    <p:extLst>
      <p:ext uri="{BB962C8B-B14F-4D97-AF65-F5344CB8AC3E}">
        <p14:creationId xmlns:p14="http://schemas.microsoft.com/office/powerpoint/2010/main" val="8334148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BDB0DF-3BF4-E397-1E5B-CEA0AB2F7617}"/>
              </a:ext>
            </a:extLst>
          </p:cNvPr>
          <p:cNvSpPr>
            <a:spLocks noGrp="1"/>
          </p:cNvSpPr>
          <p:nvPr>
            <p:ph idx="1"/>
          </p:nvPr>
        </p:nvSpPr>
        <p:spPr>
          <a:xfrm>
            <a:off x="4038600" y="590550"/>
            <a:ext cx="4953000" cy="4038600"/>
          </a:xfrm>
        </p:spPr>
        <p:txBody>
          <a:bodyPr/>
          <a:lstStyle/>
          <a:p>
            <a:r>
              <a:rPr lang="en-US" sz="1800" dirty="0"/>
              <a:t>My code has shown encapsulating backing services with a shallow adaptor.</a:t>
            </a:r>
          </a:p>
          <a:p>
            <a:r>
              <a:rPr lang="en-US" sz="1800" dirty="0"/>
              <a:t>This is an example of the </a:t>
            </a:r>
            <a:r>
              <a:rPr lang="en-US" sz="1800" i="1" dirty="0"/>
              <a:t>adaptor pattern.</a:t>
            </a:r>
          </a:p>
          <a:p>
            <a:endParaRPr lang="en-US" sz="1800" i="1" dirty="0"/>
          </a:p>
          <a:p>
            <a:endParaRPr lang="en-US" sz="1800" i="1" dirty="0"/>
          </a:p>
          <a:p>
            <a:endParaRPr lang="en-US" sz="1800" i="1" dirty="0"/>
          </a:p>
          <a:p>
            <a:endParaRPr lang="en-US" sz="1800" i="1" dirty="0"/>
          </a:p>
          <a:p>
            <a:r>
              <a:rPr lang="en-US" sz="1800" dirty="0"/>
              <a:t>You seen examples of things like </a:t>
            </a:r>
            <a:r>
              <a:rPr lang="en-US" sz="1800" dirty="0" err="1"/>
              <a:t>AbstractBaseDataService</a:t>
            </a:r>
            <a:r>
              <a:rPr lang="en-US" sz="1800" dirty="0"/>
              <a:t>, … …</a:t>
            </a:r>
          </a:p>
          <a:p>
            <a:r>
              <a:rPr lang="en-US" sz="1800" dirty="0"/>
              <a:t>The approach is also an application of several aspects of SOLID.</a:t>
            </a:r>
            <a:br>
              <a:rPr lang="en-US" sz="1800" dirty="0"/>
            </a:br>
            <a:r>
              <a:rPr lang="en-US" sz="1800" dirty="0"/>
              <a:t>(https://</a:t>
            </a:r>
            <a:r>
              <a:rPr lang="en-US" sz="1800" dirty="0" err="1"/>
              <a:t>en.wikipedia.org</a:t>
            </a:r>
            <a:r>
              <a:rPr lang="en-US" sz="1800" dirty="0"/>
              <a:t>/wiki/SOLID)</a:t>
            </a:r>
          </a:p>
        </p:txBody>
      </p:sp>
      <p:sp>
        <p:nvSpPr>
          <p:cNvPr id="3" name="Title 2">
            <a:extLst>
              <a:ext uri="{FF2B5EF4-FFF2-40B4-BE49-F238E27FC236}">
                <a16:creationId xmlns:a16="http://schemas.microsoft.com/office/drawing/2014/main" id="{2CD9073A-E388-38EC-0ECB-18F18EE0897B}"/>
              </a:ext>
            </a:extLst>
          </p:cNvPr>
          <p:cNvSpPr>
            <a:spLocks noGrp="1"/>
          </p:cNvSpPr>
          <p:nvPr>
            <p:ph type="title"/>
          </p:nvPr>
        </p:nvSpPr>
        <p:spPr/>
        <p:txBody>
          <a:bodyPr/>
          <a:lstStyle/>
          <a:p>
            <a:r>
              <a:rPr lang="en-US" dirty="0"/>
              <a:t>IV. Backing Services</a:t>
            </a:r>
          </a:p>
        </p:txBody>
      </p:sp>
      <p:pic>
        <p:nvPicPr>
          <p:cNvPr id="4" name="Picture 3">
            <a:extLst>
              <a:ext uri="{FF2B5EF4-FFF2-40B4-BE49-F238E27FC236}">
                <a16:creationId xmlns:a16="http://schemas.microsoft.com/office/drawing/2014/main" id="{369CA9AF-B053-5E3B-9EDA-978D72BBC139}"/>
              </a:ext>
            </a:extLst>
          </p:cNvPr>
          <p:cNvPicPr>
            <a:picLocks noChangeAspect="1"/>
          </p:cNvPicPr>
          <p:nvPr/>
        </p:nvPicPr>
        <p:blipFill>
          <a:blip r:embed="rId2"/>
          <a:stretch>
            <a:fillRect/>
          </a:stretch>
        </p:blipFill>
        <p:spPr>
          <a:xfrm>
            <a:off x="304800" y="577704"/>
            <a:ext cx="3505661" cy="3988091"/>
          </a:xfrm>
          <a:prstGeom prst="rect">
            <a:avLst/>
          </a:prstGeom>
        </p:spPr>
      </p:pic>
      <p:pic>
        <p:nvPicPr>
          <p:cNvPr id="1026" name="Picture 2" descr="Adapter Pattern - GeeksforGeeks">
            <a:extLst>
              <a:ext uri="{FF2B5EF4-FFF2-40B4-BE49-F238E27FC236}">
                <a16:creationId xmlns:a16="http://schemas.microsoft.com/office/drawing/2014/main" id="{A214048A-C684-AA4B-929F-EDDA64069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581150"/>
            <a:ext cx="2209799" cy="1224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357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7B6F2769-7194-4217-93D3-3AF3A4742282}">
  <ds:schemaRefs>
    <ds:schemaRef ds:uri="http://www.w3.org/XML/1998/namespace"/>
    <ds:schemaRef ds:uri="http://purl.org/dc/elements/1.1/"/>
    <ds:schemaRef ds:uri="http://schemas.microsoft.com/office/2006/metadata/properties"/>
    <ds:schemaRef ds:uri="http://purl.org/dc/dcmitype/"/>
    <ds:schemaRef ds:uri="http://purl.org/dc/term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FNEMasterTemplateForThemePreview.pptx</Template>
  <TotalTime>124578</TotalTime>
  <Words>3861</Words>
  <Application>Microsoft Macintosh PowerPoint</Application>
  <PresentationFormat>On-screen Show (16:9)</PresentationFormat>
  <Paragraphs>376</Paragraphs>
  <Slides>55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Calibri</vt:lpstr>
      <vt:lpstr>Century Schoolbook</vt:lpstr>
      <vt:lpstr>Museo For Dell</vt:lpstr>
      <vt:lpstr>Museo Sans For Dell</vt:lpstr>
      <vt:lpstr>Wingdings</vt:lpstr>
      <vt:lpstr>Office Theme</vt:lpstr>
      <vt:lpstr>PowerPoint Presentation</vt:lpstr>
      <vt:lpstr>PowerPoint Presentation</vt:lpstr>
      <vt:lpstr>Contents</vt:lpstr>
      <vt:lpstr>PowerPoint Presentation</vt:lpstr>
      <vt:lpstr>Course Updates</vt:lpstr>
      <vt:lpstr>PowerPoint Presentation</vt:lpstr>
      <vt:lpstr>Cloud Layers</vt:lpstr>
      <vt:lpstr>Cloud Layers</vt:lpstr>
      <vt:lpstr>Fundamental, Recurring Problem</vt:lpstr>
      <vt:lpstr>Containers and VMs</vt:lpstr>
      <vt:lpstr>Concept (from Wikipedia)</vt:lpstr>
      <vt:lpstr>Containers vs VMs</vt:lpstr>
      <vt:lpstr>Some Container/Docker Implementation Concepts</vt:lpstr>
      <vt:lpstr>Containers and Some Docker Overview </vt:lpstr>
      <vt:lpstr>How to Run Containers on GCP</vt:lpstr>
      <vt:lpstr>PowerPoint Presentation</vt:lpstr>
      <vt:lpstr>PowerPoint Presentation</vt:lpstr>
      <vt:lpstr>REST (https://restfulapi.net/)</vt:lpstr>
      <vt:lpstr>Resource Oriented</vt:lpstr>
      <vt:lpstr>URLs and Parameters</vt:lpstr>
      <vt:lpstr>Query Parameters</vt:lpstr>
      <vt:lpstr>Query and Path Parameters</vt:lpstr>
      <vt:lpstr>HATEOAS</vt:lpstr>
      <vt:lpstr>Pagination, Hyper Linked</vt:lpstr>
      <vt:lpstr>POST -- Creating a Resource</vt:lpstr>
      <vt:lpstr>POST</vt:lpstr>
      <vt:lpstr>Response</vt:lpstr>
      <vt:lpstr>PowerPoint Presentation</vt:lpstr>
      <vt:lpstr>Resource Oriented and Microservices – My Project</vt:lpstr>
      <vt:lpstr>First Group of Microservices</vt:lpstr>
      <vt:lpstr>Composite Microservice Logic</vt:lpstr>
      <vt:lpstr>Behavioral Composition</vt:lpstr>
      <vt:lpstr>Concepts</vt:lpstr>
      <vt:lpstr>In Code: Composition and Asynchronous Method Invocation</vt:lpstr>
      <vt:lpstr>In Code: Service Orchestration/Composition</vt:lpstr>
      <vt:lpstr>Service Orchestration</vt:lpstr>
      <vt:lpstr>Choreography</vt:lpstr>
      <vt:lpstr>State Machine</vt:lpstr>
      <vt:lpstr>Show Code</vt:lpstr>
      <vt:lpstr>PowerPoint Presentation</vt:lpstr>
      <vt:lpstr>Full Stack Web Application – Reminder</vt:lpstr>
      <vt:lpstr>PowerPoint Presentation</vt:lpstr>
      <vt:lpstr>BLOB: Binary Large Object</vt:lpstr>
      <vt:lpstr>Amazon S3</vt:lpstr>
      <vt:lpstr>AWS S3</vt:lpstr>
      <vt:lpstr>Simple Example</vt:lpstr>
      <vt:lpstr>Static Content</vt:lpstr>
      <vt:lpstr>PowerPoint Presentation</vt:lpstr>
      <vt:lpstr>Cloud Concepts – One Perspective</vt:lpstr>
      <vt:lpstr>Database-as-a-Service</vt:lpstr>
      <vt:lpstr>PowerPoint Presentation</vt:lpstr>
      <vt:lpstr>12 Factor Applications</vt:lpstr>
      <vt:lpstr>Dependencies</vt:lpstr>
      <vt:lpstr>III. Configurations</vt:lpstr>
      <vt:lpstr>IV. Backing Services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Donald Ferguson</cp:lastModifiedBy>
  <cp:revision>624</cp:revision>
  <cp:lastPrinted>2018-11-15T21:01:50Z</cp:lastPrinted>
  <dcterms:created xsi:type="dcterms:W3CDTF">2010-04-12T23:12:02Z</dcterms:created>
  <dcterms:modified xsi:type="dcterms:W3CDTF">2025-10-10T10:26:14Z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